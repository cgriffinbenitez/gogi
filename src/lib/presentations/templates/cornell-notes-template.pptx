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5143500" cx="9144000"/>
  <p:notesSz cx="5143500" cy="9144000"/>
  <p:embeddedFontLst>
    <p:embeddedFont>
      <p:font typeface="Arial Black"/>
      <p:regular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i0gQJDWlDTVe1Y6O37fFF0C8PT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font" Target="fonts/ArialBlack-regular.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39a621f81ee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 name="Google Shape;29;g39a621f81ee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g39a621f81ee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9a621f81ee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g39a621f81ee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g39a621f81ee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www.youtube.com/watch?v=nX-xshA_0m8"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365760" y="365760"/>
            <a:ext cx="109728" cy="109728"/>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66928" y="365760"/>
            <a:ext cx="109728" cy="109728"/>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768096" y="365760"/>
            <a:ext cx="109728" cy="109728"/>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640080" y="96012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800"/>
              <a:buFont typeface="Arial Black"/>
              <a:buNone/>
            </a:pPr>
            <a:r>
              <a:rPr b="1" i="0" lang="en-US" sz="1800" u="none" cap="none" strike="noStrike">
                <a:solidFill>
                  <a:srgbClr val="F2C14E"/>
                </a:solidFill>
                <a:latin typeface="Arial Black"/>
                <a:ea typeface="Arial Black"/>
                <a:cs typeface="Arial Black"/>
                <a:sym typeface="Arial Black"/>
              </a:rPr>
              <a:t>ELA.9.R.1.1</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640080" y="1417320"/>
            <a:ext cx="78638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Arial Black"/>
              <a:buNone/>
            </a:pPr>
            <a:r>
              <a:rPr b="1" i="0" lang="en-US" sz="5400" u="none" cap="none" strike="noStrike">
                <a:solidFill>
                  <a:srgbClr val="FFFFFF"/>
                </a:solidFill>
                <a:latin typeface="Arial Black"/>
                <a:ea typeface="Arial Black"/>
                <a:cs typeface="Arial Black"/>
                <a:sym typeface="Arial Black"/>
              </a:rPr>
              <a:t>Literary Elements</a:t>
            </a:r>
            <a:endParaRPr b="0" i="0" sz="5400" u="none" cap="none" strike="noStrike">
              <a:solidFill>
                <a:schemeClr val="dk1"/>
              </a:solidFill>
              <a:latin typeface="Calibri"/>
              <a:ea typeface="Calibri"/>
              <a:cs typeface="Calibri"/>
              <a:sym typeface="Calibri"/>
            </a:endParaRPr>
          </a:p>
        </p:txBody>
      </p:sp>
      <p:sp>
        <p:nvSpPr>
          <p:cNvPr id="21" name="Google Shape;21;p1"/>
          <p:cNvSpPr/>
          <p:nvPr/>
        </p:nvSpPr>
        <p:spPr>
          <a:xfrm>
            <a:off x="640080" y="246888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b="0" i="0" lang="en-US" sz="1800" u="none" cap="none" strike="noStrike">
                <a:solidFill>
                  <a:srgbClr val="CADCFC"/>
                </a:solidFill>
                <a:latin typeface="Calibri"/>
                <a:ea typeface="Calibri"/>
                <a:cs typeface="Calibri"/>
                <a:sym typeface="Calibri"/>
              </a:rPr>
              <a:t>Lesson 1 of 5  ·  Today's focus: Setting &amp; Plot</a:t>
            </a:r>
            <a:endParaRPr b="0" i="0" sz="1800" u="none" cap="none" strike="noStrike">
              <a:solidFill>
                <a:schemeClr val="dk1"/>
              </a:solidFill>
              <a:latin typeface="Calibri"/>
              <a:ea typeface="Calibri"/>
              <a:cs typeface="Calibri"/>
              <a:sym typeface="Calibri"/>
            </a:endParaRPr>
          </a:p>
        </p:txBody>
      </p:sp>
      <p:sp>
        <p:nvSpPr>
          <p:cNvPr id="22" name="Google Shape;22;p1"/>
          <p:cNvSpPr/>
          <p:nvPr/>
        </p:nvSpPr>
        <p:spPr>
          <a:xfrm>
            <a:off x="640080" y="288036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Georgia"/>
              <a:buNone/>
            </a:pPr>
            <a:r>
              <a:rPr b="0" i="1" lang="en-US" sz="1600" u="none" cap="none" strike="noStrike">
                <a:solidFill>
                  <a:srgbClr val="CADCFC"/>
                </a:solidFill>
                <a:latin typeface="Georgia"/>
                <a:ea typeface="Georgia"/>
                <a:cs typeface="Georgia"/>
                <a:sym typeface="Georgia"/>
              </a:rPr>
              <a:t>Anchor text: "The Most Dangerous Game" by Richard Connell</a:t>
            </a:r>
            <a:endParaRPr b="0" i="0" sz="1600" u="none" cap="none" strike="noStrike">
              <a:solidFill>
                <a:schemeClr val="dk1"/>
              </a:solidFill>
              <a:latin typeface="Calibri"/>
              <a:ea typeface="Calibri"/>
              <a:cs typeface="Calibri"/>
              <a:sym typeface="Calibri"/>
            </a:endParaRPr>
          </a:p>
        </p:txBody>
      </p:sp>
      <p:cxnSp>
        <p:nvCxnSpPr>
          <p:cNvPr id="23" name="Google Shape;23;p1"/>
          <p:cNvCxnSpPr/>
          <p:nvPr/>
        </p:nvCxnSpPr>
        <p:spPr>
          <a:xfrm>
            <a:off x="640080" y="3749040"/>
            <a:ext cx="7863840" cy="0"/>
          </a:xfrm>
          <a:prstGeom prst="straightConnector1">
            <a:avLst/>
          </a:prstGeom>
          <a:noFill/>
          <a:ln cap="flat" cmpd="sng" w="12700">
            <a:solidFill>
              <a:srgbClr val="F2C14E"/>
            </a:solidFill>
            <a:prstDash val="solid"/>
            <a:round/>
            <a:headEnd len="sm" w="sm" type="none"/>
            <a:tailEnd len="sm" w="sm" type="none"/>
          </a:ln>
        </p:spPr>
      </p:cxnSp>
      <p:sp>
        <p:nvSpPr>
          <p:cNvPr id="24" name="Google Shape;24;p1"/>
          <p:cNvSpPr/>
          <p:nvPr/>
        </p:nvSpPr>
        <p:spPr>
          <a:xfrm>
            <a:off x="640080" y="38404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400"/>
              <a:buFont typeface="Calibri"/>
              <a:buNone/>
            </a:pPr>
            <a:r>
              <a:rPr b="0" i="0" lang="en-US" sz="1400" u="none" cap="none" strike="noStrike">
                <a:solidFill>
                  <a:srgbClr val="F2C14E"/>
                </a:solidFill>
                <a:latin typeface="Calibri"/>
                <a:ea typeface="Calibri"/>
                <a:cs typeface="Calibri"/>
                <a:sym typeface="Calibri"/>
              </a:rPr>
              <a:t>Cornell Notes  ·  90 minutes  ·  Journal-driven</a:t>
            </a:r>
            <a:endParaRPr b="0" i="0" sz="1400" u="none" cap="none" strike="noStrike">
              <a:solidFill>
                <a:schemeClr val="dk1"/>
              </a:solidFill>
              <a:latin typeface="Calibri"/>
              <a:ea typeface="Calibri"/>
              <a:cs typeface="Calibri"/>
              <a:sym typeface="Calibri"/>
            </a:endParaRPr>
          </a:p>
        </p:txBody>
      </p:sp>
      <p:sp>
        <p:nvSpPr>
          <p:cNvPr id="25" name="Google Shape;25;p1"/>
          <p:cNvSpPr/>
          <p:nvPr/>
        </p:nvSpPr>
        <p:spPr>
          <a:xfrm>
            <a:off x="640080" y="42976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Name __________________   Date _________   Period ____</a:t>
            </a:r>
            <a:endParaRPr b="0" i="0" sz="1400" u="none" cap="none" strike="noStrike">
              <a:solidFill>
                <a:schemeClr val="dk1"/>
              </a:solidFill>
              <a:latin typeface="Calibri"/>
              <a:ea typeface="Calibri"/>
              <a:cs typeface="Calibri"/>
              <a:sym typeface="Calibri"/>
            </a:endParaRPr>
          </a:p>
        </p:txBody>
      </p:sp>
      <p:sp>
        <p:nvSpPr>
          <p:cNvPr id="26" name="Google Shape;26;p1"/>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1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g39a621f81ee_0_29"/>
          <p:cNvSpPr txBox="1"/>
          <p:nvPr/>
        </p:nvSpPr>
        <p:spPr>
          <a:xfrm>
            <a:off x="179425" y="134575"/>
            <a:ext cx="8896500" cy="490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descr="Learn how students use the Cornell Note Taking System.  &#10;Find a brief overview of Cornell Notes here: https://youtu.be/HEsBd_Rgzfs.  &#10;&#10;Presented by the Learning Strategies Center at Cornell University.  &#10;For more information visit: http://lsc.cornell.edu/" id="33" name="Google Shape;33;g39a621f81ee_0_29" title="How to Use Cornell Notes">
            <a:hlinkClick r:id="rId3"/>
          </p:cNvPr>
          <p:cNvPicPr preferRelativeResize="0"/>
          <p:nvPr/>
        </p:nvPicPr>
        <p:blipFill>
          <a:blip r:embed="rId4">
            <a:alphaModFix/>
          </a:blip>
          <a:stretch>
            <a:fillRect/>
          </a:stretch>
        </p:blipFill>
        <p:spPr>
          <a:xfrm>
            <a:off x="0" y="0"/>
            <a:ext cx="9144000" cy="5105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
                                        </p:tgtEl>
                                        <p:attrNameLst>
                                          <p:attrName>style.visibility</p:attrName>
                                        </p:attrNameLst>
                                      </p:cBhvr>
                                      <p:to>
                                        <p:strVal val="visible"/>
                                      </p:to>
                                    </p:set>
                                    <p:animEffect filter="fade" transition="in">
                                      <p:cBhvr>
                                        <p:cTn dur="1000"/>
                                        <p:tgtEl>
                                          <p:spTgt spid="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9a621f81ee_0_4"/>
          <p:cNvSpPr/>
          <p:nvPr/>
        </p:nvSpPr>
        <p:spPr>
          <a:xfrm>
            <a:off x="6766560" y="54864"/>
            <a:ext cx="2011800" cy="20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40" name="Google Shape;40;g39a621f81ee_0_4"/>
          <p:cNvSpPr/>
          <p:nvPr/>
        </p:nvSpPr>
        <p:spPr>
          <a:xfrm>
            <a:off x="365760" y="274320"/>
            <a:ext cx="7041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Set up your Cornell page</a:t>
            </a:r>
            <a:endParaRPr b="0" i="0" sz="2600" u="none" cap="none" strike="noStrike">
              <a:solidFill>
                <a:schemeClr val="dk1"/>
              </a:solidFill>
              <a:latin typeface="Calibri"/>
              <a:ea typeface="Calibri"/>
              <a:cs typeface="Calibri"/>
              <a:sym typeface="Calibri"/>
            </a:endParaRPr>
          </a:p>
        </p:txBody>
      </p:sp>
      <p:sp>
        <p:nvSpPr>
          <p:cNvPr id="41" name="Google Shape;41;g39a621f81ee_0_4"/>
          <p:cNvSpPr/>
          <p:nvPr/>
        </p:nvSpPr>
        <p:spPr>
          <a:xfrm>
            <a:off x="7543800" y="274320"/>
            <a:ext cx="1234500" cy="384000"/>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g39a621f81ee_0_4"/>
          <p:cNvSpPr/>
          <p:nvPr/>
        </p:nvSpPr>
        <p:spPr>
          <a:xfrm>
            <a:off x="7543800" y="274320"/>
            <a:ext cx="1234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4 MIN</a:t>
            </a:r>
            <a:endParaRPr b="0" i="0" sz="1400" u="none" cap="none" strike="noStrike">
              <a:solidFill>
                <a:schemeClr val="dk1"/>
              </a:solidFill>
              <a:latin typeface="Calibri"/>
              <a:ea typeface="Calibri"/>
              <a:cs typeface="Calibri"/>
              <a:sym typeface="Calibri"/>
            </a:endParaRPr>
          </a:p>
        </p:txBody>
      </p:sp>
      <p:sp>
        <p:nvSpPr>
          <p:cNvPr id="43" name="Google Shape;43;g39a621f81ee_0_4"/>
          <p:cNvSpPr/>
          <p:nvPr/>
        </p:nvSpPr>
        <p:spPr>
          <a:xfrm>
            <a:off x="365760" y="932688"/>
            <a:ext cx="2331600" cy="2925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9a621f81ee_0_4"/>
          <p:cNvSpPr/>
          <p:nvPr/>
        </p:nvSpPr>
        <p:spPr>
          <a:xfrm>
            <a:off x="365760" y="932688"/>
            <a:ext cx="23316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45" name="Google Shape;45;g39a621f81ee_0_4"/>
          <p:cNvSpPr/>
          <p:nvPr/>
        </p:nvSpPr>
        <p:spPr>
          <a:xfrm>
            <a:off x="548640" y="1417320"/>
            <a:ext cx="3657600" cy="3108900"/>
          </a:xfrm>
          <a:prstGeom prst="rect">
            <a:avLst/>
          </a:prstGeom>
          <a:solidFill>
            <a:srgbClr val="FFFFFF"/>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39a621f81ee_0_4"/>
          <p:cNvSpPr/>
          <p:nvPr/>
        </p:nvSpPr>
        <p:spPr>
          <a:xfrm>
            <a:off x="548640" y="1417320"/>
            <a:ext cx="1219200" cy="2514600"/>
          </a:xfrm>
          <a:prstGeom prst="rect">
            <a:avLst/>
          </a:prstGeom>
          <a:solidFill>
            <a:srgbClr val="FFF8E1"/>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g39a621f81ee_0_4"/>
          <p:cNvSpPr/>
          <p:nvPr/>
        </p:nvSpPr>
        <p:spPr>
          <a:xfrm>
            <a:off x="548640" y="3931920"/>
            <a:ext cx="3657600" cy="594300"/>
          </a:xfrm>
          <a:prstGeom prst="rect">
            <a:avLst/>
          </a:prstGeom>
          <a:solidFill>
            <a:srgbClr val="CADCFC">
              <a:alpha val="50199"/>
            </a:srgbClr>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g39a621f81ee_0_4"/>
          <p:cNvSpPr/>
          <p:nvPr/>
        </p:nvSpPr>
        <p:spPr>
          <a:xfrm>
            <a:off x="548640" y="1508760"/>
            <a:ext cx="1219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Arial Black"/>
              <a:buNone/>
            </a:pPr>
            <a:r>
              <a:rPr b="1" i="0" lang="en-US" sz="1200" u="none" cap="none" strike="noStrike">
                <a:solidFill>
                  <a:srgbClr val="1E2761"/>
                </a:solidFill>
                <a:latin typeface="Arial Black"/>
                <a:ea typeface="Arial Black"/>
                <a:cs typeface="Arial Black"/>
                <a:sym typeface="Arial Black"/>
              </a:rPr>
              <a:t>CUE</a:t>
            </a:r>
            <a:endParaRPr b="0" i="0" sz="1200" u="none" cap="none" strike="noStrike">
              <a:solidFill>
                <a:schemeClr val="dk1"/>
              </a:solidFill>
              <a:latin typeface="Calibri"/>
              <a:ea typeface="Calibri"/>
              <a:cs typeface="Calibri"/>
              <a:sym typeface="Calibri"/>
            </a:endParaRPr>
          </a:p>
        </p:txBody>
      </p:sp>
      <p:sp>
        <p:nvSpPr>
          <p:cNvPr id="49" name="Google Shape;49;g39a621f81ee_0_4"/>
          <p:cNvSpPr/>
          <p:nvPr/>
        </p:nvSpPr>
        <p:spPr>
          <a:xfrm>
            <a:off x="548640" y="1783080"/>
            <a:ext cx="1219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900"/>
              <a:buFont typeface="Calibri"/>
              <a:buNone/>
            </a:pPr>
            <a:r>
              <a:rPr b="0" i="1" lang="en-US" sz="900" u="none" cap="none" strike="noStrike">
                <a:solidFill>
                  <a:srgbClr val="2C3A78"/>
                </a:solidFill>
                <a:latin typeface="Calibri"/>
                <a:ea typeface="Calibri"/>
                <a:cs typeface="Calibri"/>
                <a:sym typeface="Calibri"/>
              </a:rPr>
              <a:t>(questions)</a:t>
            </a:r>
            <a:endParaRPr b="0" i="0" sz="900" u="none" cap="none" strike="noStrike">
              <a:solidFill>
                <a:schemeClr val="dk1"/>
              </a:solidFill>
              <a:latin typeface="Calibri"/>
              <a:ea typeface="Calibri"/>
              <a:cs typeface="Calibri"/>
              <a:sym typeface="Calibri"/>
            </a:endParaRPr>
          </a:p>
        </p:txBody>
      </p:sp>
      <p:sp>
        <p:nvSpPr>
          <p:cNvPr id="50" name="Google Shape;50;g39a621f81ee_0_4"/>
          <p:cNvSpPr/>
          <p:nvPr/>
        </p:nvSpPr>
        <p:spPr>
          <a:xfrm>
            <a:off x="1767840" y="1508760"/>
            <a:ext cx="2438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Arial Black"/>
              <a:buNone/>
            </a:pPr>
            <a:r>
              <a:rPr b="1" i="0" lang="en-US" sz="1600" u="none" cap="none" strike="noStrike">
                <a:solidFill>
                  <a:srgbClr val="1E2761"/>
                </a:solidFill>
                <a:latin typeface="Arial Black"/>
                <a:ea typeface="Arial Black"/>
                <a:cs typeface="Arial Black"/>
                <a:sym typeface="Arial Black"/>
              </a:rPr>
              <a:t>NOTES</a:t>
            </a:r>
            <a:endParaRPr b="0" i="0" sz="1600" u="none" cap="none" strike="noStrike">
              <a:solidFill>
                <a:schemeClr val="dk1"/>
              </a:solidFill>
              <a:latin typeface="Calibri"/>
              <a:ea typeface="Calibri"/>
              <a:cs typeface="Calibri"/>
              <a:sym typeface="Calibri"/>
            </a:endParaRPr>
          </a:p>
        </p:txBody>
      </p:sp>
      <p:sp>
        <p:nvSpPr>
          <p:cNvPr id="51" name="Google Shape;51;g39a621f81ee_0_4"/>
          <p:cNvSpPr/>
          <p:nvPr/>
        </p:nvSpPr>
        <p:spPr>
          <a:xfrm>
            <a:off x="1767840" y="1828800"/>
            <a:ext cx="2438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1000"/>
              <a:buFont typeface="Calibri"/>
              <a:buNone/>
            </a:pPr>
            <a:r>
              <a:rPr b="0" i="1" lang="en-US" sz="1000" u="none" cap="none" strike="noStrike">
                <a:solidFill>
                  <a:srgbClr val="2C3A78"/>
                </a:solidFill>
                <a:latin typeface="Calibri"/>
                <a:ea typeface="Calibri"/>
                <a:cs typeface="Calibri"/>
                <a:sym typeface="Calibri"/>
              </a:rPr>
              <a:t>(definitions, examples, evidence)</a:t>
            </a:r>
            <a:endParaRPr b="0" i="0" sz="1000" u="none" cap="none" strike="noStrike">
              <a:solidFill>
                <a:schemeClr val="dk1"/>
              </a:solidFill>
              <a:latin typeface="Calibri"/>
              <a:ea typeface="Calibri"/>
              <a:cs typeface="Calibri"/>
              <a:sym typeface="Calibri"/>
            </a:endParaRPr>
          </a:p>
        </p:txBody>
      </p:sp>
      <p:sp>
        <p:nvSpPr>
          <p:cNvPr id="52" name="Google Shape;52;g39a621f81ee_0_4"/>
          <p:cNvSpPr/>
          <p:nvPr/>
        </p:nvSpPr>
        <p:spPr>
          <a:xfrm>
            <a:off x="548640" y="4069080"/>
            <a:ext cx="365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SUMMARY (2–3 sentences in your own words)</a:t>
            </a:r>
            <a:endParaRPr b="0" i="0" sz="1100" u="none" cap="none" strike="noStrike">
              <a:solidFill>
                <a:schemeClr val="dk1"/>
              </a:solidFill>
              <a:latin typeface="Calibri"/>
              <a:ea typeface="Calibri"/>
              <a:cs typeface="Calibri"/>
              <a:sym typeface="Calibri"/>
            </a:endParaRPr>
          </a:p>
        </p:txBody>
      </p:sp>
      <p:sp>
        <p:nvSpPr>
          <p:cNvPr id="53" name="Google Shape;53;g39a621f81ee_0_4"/>
          <p:cNvSpPr/>
          <p:nvPr/>
        </p:nvSpPr>
        <p:spPr>
          <a:xfrm>
            <a:off x="3017520" y="1161288"/>
            <a:ext cx="11886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1" lang="en-US" sz="900" u="none" cap="none" strike="noStrike">
                <a:solidFill>
                  <a:srgbClr val="8AA0C9"/>
                </a:solidFill>
                <a:latin typeface="Calibri"/>
                <a:ea typeface="Calibri"/>
                <a:cs typeface="Calibri"/>
                <a:sym typeface="Calibri"/>
              </a:rPr>
              <a:t>ELA.9.R.1.1</a:t>
            </a:r>
            <a:endParaRPr b="0" i="0" sz="900" u="none" cap="none" strike="noStrike">
              <a:solidFill>
                <a:schemeClr val="dk1"/>
              </a:solidFill>
              <a:latin typeface="Calibri"/>
              <a:ea typeface="Calibri"/>
              <a:cs typeface="Calibri"/>
              <a:sym typeface="Calibri"/>
            </a:endParaRPr>
          </a:p>
        </p:txBody>
      </p:sp>
      <p:sp>
        <p:nvSpPr>
          <p:cNvPr id="54" name="Google Shape;54;g39a621f81ee_0_4"/>
          <p:cNvSpPr/>
          <p:nvPr/>
        </p:nvSpPr>
        <p:spPr>
          <a:xfrm>
            <a:off x="4572000" y="1417320"/>
            <a:ext cx="4206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Arial Black"/>
              <a:buNone/>
            </a:pPr>
            <a:r>
              <a:rPr b="1" i="0" lang="en-US" sz="1600" u="none" cap="none" strike="noStrike">
                <a:solidFill>
                  <a:srgbClr val="1E2761"/>
                </a:solidFill>
                <a:latin typeface="Arial Black"/>
                <a:ea typeface="Arial Black"/>
                <a:cs typeface="Arial Black"/>
                <a:sym typeface="Arial Black"/>
              </a:rPr>
              <a:t>Three zones, every page:</a:t>
            </a:r>
            <a:endParaRPr b="0" i="0" sz="1600" u="none" cap="none" strike="noStrike">
              <a:solidFill>
                <a:schemeClr val="dk1"/>
              </a:solidFill>
              <a:latin typeface="Calibri"/>
              <a:ea typeface="Calibri"/>
              <a:cs typeface="Calibri"/>
              <a:sym typeface="Calibri"/>
            </a:endParaRPr>
          </a:p>
        </p:txBody>
      </p:sp>
      <p:sp>
        <p:nvSpPr>
          <p:cNvPr id="55" name="Google Shape;55;g39a621f81ee_0_4"/>
          <p:cNvSpPr/>
          <p:nvPr/>
        </p:nvSpPr>
        <p:spPr>
          <a:xfrm>
            <a:off x="4572000" y="1783080"/>
            <a:ext cx="4206300" cy="1554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Cue column</a:t>
            </a:r>
            <a:r>
              <a:rPr b="0" i="0" lang="en-US" sz="1300" u="none" cap="none" strike="noStrike">
                <a:solidFill>
                  <a:srgbClr val="2C3A78"/>
                </a:solidFill>
                <a:latin typeface="Calibri"/>
                <a:ea typeface="Calibri"/>
                <a:cs typeface="Calibri"/>
                <a:sym typeface="Calibri"/>
              </a:rPr>
              <a:t> — left third. Questions go here LATER (slide 18).</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Notes column</a:t>
            </a:r>
            <a:r>
              <a:rPr b="0" i="0" lang="en-US" sz="1300" u="none" cap="none" strike="noStrike">
                <a:solidFill>
                  <a:srgbClr val="2C3A78"/>
                </a:solidFill>
                <a:latin typeface="Calibri"/>
                <a:ea typeface="Calibri"/>
                <a:cs typeface="Calibri"/>
                <a:sym typeface="Calibri"/>
              </a:rPr>
              <a:t> — right two-thirds. Where you write today.</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Summary</a:t>
            </a:r>
            <a:r>
              <a:rPr b="0" i="0" lang="en-US" sz="1300" u="none" cap="none" strike="noStrike">
                <a:solidFill>
                  <a:srgbClr val="2C3A78"/>
                </a:solidFill>
                <a:latin typeface="Calibri"/>
                <a:ea typeface="Calibri"/>
                <a:cs typeface="Calibri"/>
                <a:sym typeface="Calibri"/>
              </a:rPr>
              <a:t> — bottom 5 lines. 2–3 sentences in your own words.</a:t>
            </a:r>
            <a:endParaRPr b="0" i="0" sz="1300" u="none" cap="none" strike="noStrike">
              <a:solidFill>
                <a:schemeClr val="dk1"/>
              </a:solidFill>
              <a:latin typeface="Calibri"/>
              <a:ea typeface="Calibri"/>
              <a:cs typeface="Calibri"/>
              <a:sym typeface="Calibri"/>
            </a:endParaRPr>
          </a:p>
        </p:txBody>
      </p:sp>
      <p:sp>
        <p:nvSpPr>
          <p:cNvPr id="56" name="Google Shape;56;g39a621f81ee_0_4"/>
          <p:cNvSpPr/>
          <p:nvPr/>
        </p:nvSpPr>
        <p:spPr>
          <a:xfrm>
            <a:off x="4572000" y="3246120"/>
            <a:ext cx="4206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Always include:</a:t>
            </a:r>
            <a:endParaRPr b="0" i="0" sz="1400" u="none" cap="none" strike="noStrike">
              <a:solidFill>
                <a:schemeClr val="dk1"/>
              </a:solidFill>
              <a:latin typeface="Calibri"/>
              <a:ea typeface="Calibri"/>
              <a:cs typeface="Calibri"/>
              <a:sym typeface="Calibri"/>
            </a:endParaRPr>
          </a:p>
        </p:txBody>
      </p:sp>
      <p:sp>
        <p:nvSpPr>
          <p:cNvPr id="57" name="Google Shape;57;g39a621f81ee_0_4"/>
          <p:cNvSpPr/>
          <p:nvPr/>
        </p:nvSpPr>
        <p:spPr>
          <a:xfrm>
            <a:off x="4572000" y="3584448"/>
            <a:ext cx="4206300" cy="11430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A78"/>
              </a:buClr>
              <a:buSzPts val="1300"/>
              <a:buFont typeface="Calibri"/>
              <a:buChar char="•"/>
            </a:pPr>
            <a:r>
              <a:rPr b="0" i="0" lang="en-US" sz="1300" u="none" cap="none" strike="noStrike">
                <a:solidFill>
                  <a:srgbClr val="2C3A78"/>
                </a:solidFill>
                <a:latin typeface="Calibri"/>
                <a:ea typeface="Calibri"/>
                <a:cs typeface="Calibri"/>
                <a:sym typeface="Calibri"/>
              </a:rPr>
              <a:t>Standard code top right: ELA.9.R.1.1</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C3A78"/>
              </a:buClr>
              <a:buSzPts val="1300"/>
              <a:buFont typeface="Calibri"/>
              <a:buChar char="•"/>
            </a:pPr>
            <a:r>
              <a:rPr b="0" i="0" lang="en-US" sz="1300" u="none" cap="none" strike="noStrike">
                <a:solidFill>
                  <a:srgbClr val="2C3A78"/>
                </a:solidFill>
                <a:latin typeface="Calibri"/>
                <a:ea typeface="Calibri"/>
                <a:cs typeface="Calibri"/>
                <a:sym typeface="Calibri"/>
              </a:rPr>
              <a:t>Date and period top left</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C3A78"/>
              </a:buClr>
              <a:buSzPts val="1300"/>
              <a:buFont typeface="Calibri"/>
              <a:buChar char="•"/>
            </a:pPr>
            <a:r>
              <a:rPr b="0" i="0" lang="en-US" sz="1300" u="none" cap="none" strike="noStrike">
                <a:solidFill>
                  <a:srgbClr val="2C3A78"/>
                </a:solidFill>
                <a:latin typeface="Calibri"/>
                <a:ea typeface="Calibri"/>
                <a:cs typeface="Calibri"/>
                <a:sym typeface="Calibri"/>
              </a:rPr>
              <a:t>Lesson title under the date</a:t>
            </a:r>
            <a:endParaRPr b="0" i="0" sz="1300" u="none" cap="none" strike="noStrike">
              <a:solidFill>
                <a:schemeClr val="dk1"/>
              </a:solidFill>
              <a:latin typeface="Calibri"/>
              <a:ea typeface="Calibri"/>
              <a:cs typeface="Calibri"/>
              <a:sym typeface="Calibri"/>
            </a:endParaRPr>
          </a:p>
        </p:txBody>
      </p:sp>
      <p:sp>
        <p:nvSpPr>
          <p:cNvPr id="58" name="Google Shape;58;g39a621f81ee_0_4"/>
          <p:cNvSpPr/>
          <p:nvPr/>
        </p:nvSpPr>
        <p:spPr>
          <a:xfrm>
            <a:off x="365760" y="4846320"/>
            <a:ext cx="7680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Draw your Cornell layout now. Label each zone. (4 min)</a:t>
            </a:r>
            <a:endParaRPr b="0" i="0" sz="1200" u="none" cap="none" strike="noStrike">
              <a:solidFill>
                <a:schemeClr val="dk1"/>
              </a:solidFill>
              <a:latin typeface="Calibri"/>
              <a:ea typeface="Calibri"/>
              <a:cs typeface="Calibri"/>
              <a:sym typeface="Calibri"/>
            </a:endParaRPr>
          </a:p>
        </p:txBody>
      </p:sp>
      <p:sp>
        <p:nvSpPr>
          <p:cNvPr id="59" name="Google Shape;59;g39a621f81ee_0_4"/>
          <p:cNvSpPr/>
          <p:nvPr/>
        </p:nvSpPr>
        <p:spPr>
          <a:xfrm>
            <a:off x="8229600" y="4846320"/>
            <a:ext cx="777300" cy="20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2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3"/>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66" name="Google Shape;66;p3"/>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Today's standard</a:t>
            </a:r>
            <a:endParaRPr b="0" i="0" sz="2600" u="none" cap="none" strike="noStrike">
              <a:solidFill>
                <a:schemeClr val="dk1"/>
              </a:solidFill>
              <a:latin typeface="Calibri"/>
              <a:ea typeface="Calibri"/>
              <a:cs typeface="Calibri"/>
              <a:sym typeface="Calibri"/>
            </a:endParaRPr>
          </a:p>
        </p:txBody>
      </p:sp>
      <p:sp>
        <p:nvSpPr>
          <p:cNvPr id="67" name="Google Shape;67;p3"/>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3 MIN</a:t>
            </a:r>
            <a:endParaRPr b="0" i="0" sz="1400" u="none" cap="none" strike="noStrike">
              <a:solidFill>
                <a:schemeClr val="dk1"/>
              </a:solidFill>
              <a:latin typeface="Calibri"/>
              <a:ea typeface="Calibri"/>
              <a:cs typeface="Calibri"/>
              <a:sym typeface="Calibri"/>
            </a:endParaRPr>
          </a:p>
        </p:txBody>
      </p:sp>
      <p:sp>
        <p:nvSpPr>
          <p:cNvPr id="69" name="Google Shape;69;p3"/>
          <p:cNvSpPr/>
          <p:nvPr/>
        </p:nvSpPr>
        <p:spPr>
          <a:xfrm>
            <a:off x="365760" y="932688"/>
            <a:ext cx="233172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365760" y="932688"/>
            <a:ext cx="2331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71" name="Google Shape;71;p3"/>
          <p:cNvSpPr/>
          <p:nvPr/>
        </p:nvSpPr>
        <p:spPr>
          <a:xfrm>
            <a:off x="365760" y="1417320"/>
            <a:ext cx="8412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1" i="0" lang="en-US" sz="1100" u="none" cap="none" strike="noStrike">
                <a:solidFill>
                  <a:srgbClr val="8AA0C9"/>
                </a:solidFill>
                <a:latin typeface="Calibri"/>
                <a:ea typeface="Calibri"/>
                <a:cs typeface="Calibri"/>
                <a:sym typeface="Calibri"/>
              </a:rPr>
              <a:t>FLORIDA B.E.S.T. — VERBATIM</a:t>
            </a:r>
            <a:endParaRPr b="0" i="0" sz="1100" u="none" cap="none" strike="noStrike">
              <a:solidFill>
                <a:schemeClr val="dk1"/>
              </a:solidFill>
              <a:latin typeface="Calibri"/>
              <a:ea typeface="Calibri"/>
              <a:cs typeface="Calibri"/>
              <a:sym typeface="Calibri"/>
            </a:endParaRPr>
          </a:p>
        </p:txBody>
      </p:sp>
      <p:sp>
        <p:nvSpPr>
          <p:cNvPr id="72" name="Google Shape;72;p3"/>
          <p:cNvSpPr/>
          <p:nvPr/>
        </p:nvSpPr>
        <p:spPr>
          <a:xfrm>
            <a:off x="365760" y="1664208"/>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Georgia"/>
              <a:buNone/>
            </a:pPr>
            <a:r>
              <a:rPr b="0" i="1" lang="en-US" sz="1800" u="none" cap="none" strike="noStrike">
                <a:solidFill>
                  <a:srgbClr val="1E2761"/>
                </a:solidFill>
                <a:latin typeface="Georgia"/>
                <a:ea typeface="Georgia"/>
                <a:cs typeface="Georgia"/>
                <a:sym typeface="Georgia"/>
              </a:rPr>
              <a:t>"Explain how key elements enhance or add layers of meaning and/or style in a literary text."</a:t>
            </a:r>
            <a:endParaRPr b="0" i="0" sz="1800" u="none" cap="none" strike="noStrike">
              <a:solidFill>
                <a:schemeClr val="dk1"/>
              </a:solidFill>
              <a:latin typeface="Calibri"/>
              <a:ea typeface="Calibri"/>
              <a:cs typeface="Calibri"/>
              <a:sym typeface="Calibri"/>
            </a:endParaRPr>
          </a:p>
        </p:txBody>
      </p:sp>
      <p:sp>
        <p:nvSpPr>
          <p:cNvPr id="73" name="Google Shape;73;p3"/>
          <p:cNvSpPr/>
          <p:nvPr/>
        </p:nvSpPr>
        <p:spPr>
          <a:xfrm>
            <a:off x="365760" y="2423160"/>
            <a:ext cx="8412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1" i="0" lang="en-US" sz="1100" u="none" cap="none" strike="noStrike">
                <a:solidFill>
                  <a:srgbClr val="8AA0C9"/>
                </a:solidFill>
                <a:latin typeface="Calibri"/>
                <a:ea typeface="Calibri"/>
                <a:cs typeface="Calibri"/>
                <a:sym typeface="Calibri"/>
              </a:rPr>
              <a:t>IN PLAIN ENGLISH</a:t>
            </a:r>
            <a:endParaRPr b="0" i="0" sz="1100" u="none" cap="none" strike="noStrike">
              <a:solidFill>
                <a:schemeClr val="dk1"/>
              </a:solidFill>
              <a:latin typeface="Calibri"/>
              <a:ea typeface="Calibri"/>
              <a:cs typeface="Calibri"/>
              <a:sym typeface="Calibri"/>
            </a:endParaRPr>
          </a:p>
        </p:txBody>
      </p:sp>
      <p:sp>
        <p:nvSpPr>
          <p:cNvPr id="74" name="Google Shape;74;p3"/>
          <p:cNvSpPr/>
          <p:nvPr/>
        </p:nvSpPr>
        <p:spPr>
          <a:xfrm>
            <a:off x="365760" y="2670048"/>
            <a:ext cx="84124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400"/>
              <a:buFont typeface="Calibri"/>
              <a:buNone/>
            </a:pPr>
            <a:r>
              <a:rPr b="0" i="0" lang="en-US" sz="1400" u="none" cap="none" strike="noStrike">
                <a:solidFill>
                  <a:srgbClr val="2C3A78"/>
                </a:solidFill>
                <a:latin typeface="Calibri"/>
                <a:ea typeface="Calibri"/>
                <a:cs typeface="Calibri"/>
                <a:sym typeface="Calibri"/>
              </a:rPr>
              <a:t>Figure out how the building blocks of a story (setting, characters, plot, etc.) make the story mean what it means and feel the way it feels.</a:t>
            </a:r>
            <a:endParaRPr b="0" i="0" sz="1400" u="none" cap="none" strike="noStrike">
              <a:solidFill>
                <a:schemeClr val="dk1"/>
              </a:solidFill>
              <a:latin typeface="Calibri"/>
              <a:ea typeface="Calibri"/>
              <a:cs typeface="Calibri"/>
              <a:sym typeface="Calibri"/>
            </a:endParaRPr>
          </a:p>
        </p:txBody>
      </p:sp>
      <p:sp>
        <p:nvSpPr>
          <p:cNvPr id="75" name="Google Shape;75;p3"/>
          <p:cNvSpPr/>
          <p:nvPr/>
        </p:nvSpPr>
        <p:spPr>
          <a:xfrm>
            <a:off x="365760" y="3383280"/>
            <a:ext cx="8412480" cy="1188720"/>
          </a:xfrm>
          <a:prstGeom prst="rect">
            <a:avLst/>
          </a:prstGeom>
          <a:solidFill>
            <a:srgbClr val="CADCFC"/>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502920" y="3456432"/>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CLARIFICATION 1 — KEY ELEMENTS (B.E.S.T.)</a:t>
            </a:r>
            <a:endParaRPr b="0" i="0" sz="1100" u="none" cap="none" strike="noStrike">
              <a:solidFill>
                <a:schemeClr val="dk1"/>
              </a:solidFill>
              <a:latin typeface="Calibri"/>
              <a:ea typeface="Calibri"/>
              <a:cs typeface="Calibri"/>
              <a:sym typeface="Calibri"/>
            </a:endParaRPr>
          </a:p>
        </p:txBody>
      </p:sp>
      <p:sp>
        <p:nvSpPr>
          <p:cNvPr id="77" name="Google Shape;77;p3"/>
          <p:cNvSpPr/>
          <p:nvPr/>
        </p:nvSpPr>
        <p:spPr>
          <a:xfrm>
            <a:off x="502920" y="3749040"/>
            <a:ext cx="8138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Arial Black"/>
              <a:buNone/>
            </a:pPr>
            <a:r>
              <a:rPr b="1" i="0" lang="en-US" sz="1600" u="none" cap="none" strike="noStrike">
                <a:solidFill>
                  <a:srgbClr val="1E2761"/>
                </a:solidFill>
                <a:latin typeface="Arial Black"/>
                <a:ea typeface="Arial Black"/>
                <a:cs typeface="Arial Black"/>
                <a:sym typeface="Arial Black"/>
              </a:rPr>
              <a:t>setting  ·  plot  ·  characterization  ·  conflict  ·  point of view  ·  theme  ·  tone</a:t>
            </a:r>
            <a:endParaRPr b="0" i="0" sz="1600" u="none" cap="none" strike="noStrike">
              <a:solidFill>
                <a:schemeClr val="dk1"/>
              </a:solidFill>
              <a:latin typeface="Calibri"/>
              <a:ea typeface="Calibri"/>
              <a:cs typeface="Calibri"/>
              <a:sym typeface="Calibri"/>
            </a:endParaRPr>
          </a:p>
        </p:txBody>
      </p:sp>
      <p:sp>
        <p:nvSpPr>
          <p:cNvPr id="78" name="Google Shape;78;p3"/>
          <p:cNvSpPr/>
          <p:nvPr/>
        </p:nvSpPr>
        <p:spPr>
          <a:xfrm>
            <a:off x="502920" y="4160520"/>
            <a:ext cx="8138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1300"/>
              <a:buFont typeface="Calibri"/>
              <a:buNone/>
            </a:pPr>
            <a:r>
              <a:rPr b="0" i="1" lang="en-US" sz="1300" u="none" cap="none" strike="noStrike">
                <a:solidFill>
                  <a:srgbClr val="2C3A78"/>
                </a:solidFill>
                <a:latin typeface="Calibri"/>
                <a:ea typeface="Calibri"/>
                <a:cs typeface="Calibri"/>
                <a:sym typeface="Calibri"/>
              </a:rPr>
              <a:t>Today we're working on the first two: SETTING and PLOT.</a:t>
            </a:r>
            <a:endParaRPr b="0" i="0" sz="1300" u="none" cap="none" strike="noStrike">
              <a:solidFill>
                <a:schemeClr val="dk1"/>
              </a:solidFill>
              <a:latin typeface="Calibri"/>
              <a:ea typeface="Calibri"/>
              <a:cs typeface="Calibri"/>
              <a:sym typeface="Calibri"/>
            </a:endParaRPr>
          </a:p>
        </p:txBody>
      </p:sp>
      <p:sp>
        <p:nvSpPr>
          <p:cNvPr id="79" name="Google Shape;79;p3"/>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Copy all three boxes (Florida, Plain English, Clarification) into your NOTES column.</a:t>
            </a:r>
            <a:endParaRPr b="0" i="0" sz="1200" u="none" cap="none" strike="noStrike">
              <a:solidFill>
                <a:schemeClr val="dk1"/>
              </a:solidFill>
              <a:latin typeface="Calibri"/>
              <a:ea typeface="Calibri"/>
              <a:cs typeface="Calibri"/>
              <a:sym typeface="Calibri"/>
            </a:endParaRPr>
          </a:p>
        </p:txBody>
      </p:sp>
      <p:sp>
        <p:nvSpPr>
          <p:cNvPr id="80" name="Google Shape;80;p3"/>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3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4"/>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87" name="Google Shape;87;p4"/>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Key definition: Literary elements</a:t>
            </a:r>
            <a:endParaRPr b="0" i="0" sz="2600" u="none" cap="none" strike="noStrike">
              <a:solidFill>
                <a:schemeClr val="dk1"/>
              </a:solidFill>
              <a:latin typeface="Calibri"/>
              <a:ea typeface="Calibri"/>
              <a:cs typeface="Calibri"/>
              <a:sym typeface="Calibri"/>
            </a:endParaRPr>
          </a:p>
        </p:txBody>
      </p:sp>
      <p:sp>
        <p:nvSpPr>
          <p:cNvPr id="88" name="Google Shape;88;p4"/>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4 MIN</a:t>
            </a:r>
            <a:endParaRPr b="0" i="0" sz="1400" u="none" cap="none" strike="noStrike">
              <a:solidFill>
                <a:schemeClr val="dk1"/>
              </a:solidFill>
              <a:latin typeface="Calibri"/>
              <a:ea typeface="Calibri"/>
              <a:cs typeface="Calibri"/>
              <a:sym typeface="Calibri"/>
            </a:endParaRPr>
          </a:p>
        </p:txBody>
      </p:sp>
      <p:sp>
        <p:nvSpPr>
          <p:cNvPr id="90" name="Google Shape;90;p4"/>
          <p:cNvSpPr/>
          <p:nvPr/>
        </p:nvSpPr>
        <p:spPr>
          <a:xfrm>
            <a:off x="365760" y="932688"/>
            <a:ext cx="233172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365760" y="932688"/>
            <a:ext cx="2331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92" name="Google Shape;92;p4"/>
          <p:cNvSpPr/>
          <p:nvPr/>
        </p:nvSpPr>
        <p:spPr>
          <a:xfrm>
            <a:off x="365760" y="1463040"/>
            <a:ext cx="8412480" cy="128016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640080" y="1554480"/>
            <a:ext cx="786384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2200"/>
              <a:buFont typeface="Georgia"/>
              <a:buNone/>
            </a:pPr>
            <a:r>
              <a:rPr b="1" i="1" lang="en-US" sz="2200" u="none" cap="none" strike="noStrike">
                <a:solidFill>
                  <a:srgbClr val="F2C14E"/>
                </a:solidFill>
                <a:latin typeface="Georgia"/>
                <a:ea typeface="Georgia"/>
                <a:cs typeface="Georgia"/>
                <a:sym typeface="Georgia"/>
              </a:rPr>
              <a:t>Literary elements </a:t>
            </a:r>
            <a:r>
              <a:rPr b="0" i="1" lang="en-US" sz="2200" u="none" cap="none" strike="noStrike">
                <a:solidFill>
                  <a:srgbClr val="FFFFFF"/>
                </a:solidFill>
                <a:latin typeface="Georgia"/>
                <a:ea typeface="Georgia"/>
                <a:cs typeface="Georgia"/>
                <a:sym typeface="Georgia"/>
              </a:rPr>
              <a:t>are the </a:t>
            </a:r>
            <a:r>
              <a:rPr b="1" i="1" lang="en-US" sz="2200" u="none" cap="none" strike="noStrike">
                <a:solidFill>
                  <a:srgbClr val="F2C14E"/>
                </a:solidFill>
                <a:latin typeface="Georgia"/>
                <a:ea typeface="Georgia"/>
                <a:cs typeface="Georgia"/>
                <a:sym typeface="Georgia"/>
              </a:rPr>
              <a:t>building blocks </a:t>
            </a:r>
            <a:r>
              <a:rPr b="0" i="1" lang="en-US" sz="2200" u="none" cap="none" strike="noStrike">
                <a:solidFill>
                  <a:srgbClr val="FFFFFF"/>
                </a:solidFill>
                <a:latin typeface="Georgia"/>
                <a:ea typeface="Georgia"/>
                <a:cs typeface="Georgia"/>
                <a:sym typeface="Georgia"/>
              </a:rPr>
              <a:t>an author uses to construct </a:t>
            </a:r>
            <a:r>
              <a:rPr b="1" i="1" lang="en-US" sz="2200" u="none" cap="none" strike="noStrike">
                <a:solidFill>
                  <a:srgbClr val="F2C14E"/>
                </a:solidFill>
                <a:latin typeface="Georgia"/>
                <a:ea typeface="Georgia"/>
                <a:cs typeface="Georgia"/>
                <a:sym typeface="Georgia"/>
              </a:rPr>
              <a:t>meaning </a:t>
            </a:r>
            <a:r>
              <a:rPr b="0" i="1" lang="en-US" sz="2200" u="none" cap="none" strike="noStrike">
                <a:solidFill>
                  <a:srgbClr val="FFFFFF"/>
                </a:solidFill>
                <a:latin typeface="Georgia"/>
                <a:ea typeface="Georgia"/>
                <a:cs typeface="Georgia"/>
                <a:sym typeface="Georgia"/>
              </a:rPr>
              <a:t>and shape </a:t>
            </a:r>
            <a:r>
              <a:rPr b="1" i="1" lang="en-US" sz="2200" u="none" cap="none" strike="noStrike">
                <a:solidFill>
                  <a:srgbClr val="F2C14E"/>
                </a:solidFill>
                <a:latin typeface="Georgia"/>
                <a:ea typeface="Georgia"/>
                <a:cs typeface="Georgia"/>
                <a:sym typeface="Georgia"/>
              </a:rPr>
              <a:t>style </a:t>
            </a:r>
            <a:r>
              <a:rPr b="0" i="1" lang="en-US" sz="2200" u="none" cap="none" strike="noStrike">
                <a:solidFill>
                  <a:srgbClr val="FFFFFF"/>
                </a:solidFill>
                <a:latin typeface="Georgia"/>
                <a:ea typeface="Georgia"/>
                <a:cs typeface="Georgia"/>
                <a:sym typeface="Georgia"/>
              </a:rPr>
              <a:t>in a literary text.</a:t>
            </a:r>
            <a:endParaRPr b="0" i="0" sz="2200" u="none" cap="none" strike="noStrike">
              <a:solidFill>
                <a:schemeClr val="dk1"/>
              </a:solidFill>
              <a:latin typeface="Calibri"/>
              <a:ea typeface="Calibri"/>
              <a:cs typeface="Calibri"/>
              <a:sym typeface="Calibri"/>
            </a:endParaRPr>
          </a:p>
        </p:txBody>
      </p:sp>
      <p:sp>
        <p:nvSpPr>
          <p:cNvPr id="94" name="Google Shape;94;p4"/>
          <p:cNvSpPr/>
          <p:nvPr/>
        </p:nvSpPr>
        <p:spPr>
          <a:xfrm>
            <a:off x="365760" y="2971800"/>
            <a:ext cx="4069080" cy="1554480"/>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502920" y="3063240"/>
            <a:ext cx="3794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Arial Black"/>
              <a:buNone/>
            </a:pPr>
            <a:r>
              <a:rPr b="1" i="0" lang="en-US" sz="1200" u="none" cap="none" strike="noStrike">
                <a:solidFill>
                  <a:srgbClr val="1E2761"/>
                </a:solidFill>
                <a:latin typeface="Arial Black"/>
                <a:ea typeface="Arial Black"/>
                <a:cs typeface="Arial Black"/>
                <a:sym typeface="Arial Black"/>
              </a:rPr>
              <a:t>MEANING</a:t>
            </a:r>
            <a:endParaRPr b="0" i="0" sz="1200" u="none" cap="none" strike="noStrike">
              <a:solidFill>
                <a:schemeClr val="dk1"/>
              </a:solidFill>
              <a:latin typeface="Calibri"/>
              <a:ea typeface="Calibri"/>
              <a:cs typeface="Calibri"/>
              <a:sym typeface="Calibri"/>
            </a:endParaRPr>
          </a:p>
        </p:txBody>
      </p:sp>
      <p:sp>
        <p:nvSpPr>
          <p:cNvPr id="96" name="Google Shape;96;p4"/>
          <p:cNvSpPr/>
          <p:nvPr/>
        </p:nvSpPr>
        <p:spPr>
          <a:xfrm>
            <a:off x="502920" y="3337560"/>
            <a:ext cx="3794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400"/>
              <a:buFont typeface="Calibri"/>
              <a:buNone/>
            </a:pPr>
            <a:r>
              <a:rPr b="0" i="1" lang="en-US" sz="1400" u="none" cap="none" strike="noStrike">
                <a:solidFill>
                  <a:srgbClr val="2C3A78"/>
                </a:solidFill>
                <a:latin typeface="Calibri"/>
                <a:ea typeface="Calibri"/>
                <a:cs typeface="Calibri"/>
                <a:sym typeface="Calibri"/>
              </a:rPr>
              <a:t>What the story is ABOUT.</a:t>
            </a:r>
            <a:endParaRPr b="0" i="0" sz="1400" u="none" cap="none" strike="noStrike">
              <a:solidFill>
                <a:schemeClr val="dk1"/>
              </a:solidFill>
              <a:latin typeface="Calibri"/>
              <a:ea typeface="Calibri"/>
              <a:cs typeface="Calibri"/>
              <a:sym typeface="Calibri"/>
            </a:endParaRPr>
          </a:p>
        </p:txBody>
      </p:sp>
      <p:sp>
        <p:nvSpPr>
          <p:cNvPr id="97" name="Google Shape;97;p4"/>
          <p:cNvSpPr/>
          <p:nvPr/>
        </p:nvSpPr>
        <p:spPr>
          <a:xfrm>
            <a:off x="502920" y="3657600"/>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200"/>
              <a:buFont typeface="Calibri"/>
              <a:buNone/>
            </a:pPr>
            <a:r>
              <a:rPr b="0" i="0" lang="en-US" sz="1200" u="none" cap="none" strike="noStrike">
                <a:solidFill>
                  <a:srgbClr val="2C3A78"/>
                </a:solidFill>
                <a:latin typeface="Calibri"/>
                <a:ea typeface="Calibri"/>
                <a:cs typeface="Calibri"/>
                <a:sym typeface="Calibri"/>
              </a:rPr>
              <a:t>Plot, theme, conflict, characters drive what happens and what it teaches.</a:t>
            </a:r>
            <a:endParaRPr b="0" i="0" sz="1200" u="none" cap="none" strike="noStrike">
              <a:solidFill>
                <a:schemeClr val="dk1"/>
              </a:solidFill>
              <a:latin typeface="Calibri"/>
              <a:ea typeface="Calibri"/>
              <a:cs typeface="Calibri"/>
              <a:sym typeface="Calibri"/>
            </a:endParaRPr>
          </a:p>
        </p:txBody>
      </p:sp>
      <p:sp>
        <p:nvSpPr>
          <p:cNvPr id="98" name="Google Shape;98;p4"/>
          <p:cNvSpPr/>
          <p:nvPr/>
        </p:nvSpPr>
        <p:spPr>
          <a:xfrm>
            <a:off x="4709160" y="2971800"/>
            <a:ext cx="4069080" cy="1554480"/>
          </a:xfrm>
          <a:prstGeom prst="rect">
            <a:avLst/>
          </a:prstGeom>
          <a:solidFill>
            <a:srgbClr val="CADCFC"/>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4846320" y="3063240"/>
            <a:ext cx="3794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Arial Black"/>
              <a:buNone/>
            </a:pPr>
            <a:r>
              <a:rPr b="1" i="0" lang="en-US" sz="1200" u="none" cap="none" strike="noStrike">
                <a:solidFill>
                  <a:srgbClr val="1E2761"/>
                </a:solidFill>
                <a:latin typeface="Arial Black"/>
                <a:ea typeface="Arial Black"/>
                <a:cs typeface="Arial Black"/>
                <a:sym typeface="Arial Black"/>
              </a:rPr>
              <a:t>STYLE</a:t>
            </a:r>
            <a:endParaRPr b="0" i="0" sz="1200" u="none" cap="none" strike="noStrike">
              <a:solidFill>
                <a:schemeClr val="dk1"/>
              </a:solidFill>
              <a:latin typeface="Calibri"/>
              <a:ea typeface="Calibri"/>
              <a:cs typeface="Calibri"/>
              <a:sym typeface="Calibri"/>
            </a:endParaRPr>
          </a:p>
        </p:txBody>
      </p:sp>
      <p:sp>
        <p:nvSpPr>
          <p:cNvPr id="100" name="Google Shape;100;p4"/>
          <p:cNvSpPr/>
          <p:nvPr/>
        </p:nvSpPr>
        <p:spPr>
          <a:xfrm>
            <a:off x="4846320" y="3337560"/>
            <a:ext cx="3794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400"/>
              <a:buFont typeface="Calibri"/>
              <a:buNone/>
            </a:pPr>
            <a:r>
              <a:rPr b="0" i="1" lang="en-US" sz="1400" u="none" cap="none" strike="noStrike">
                <a:solidFill>
                  <a:srgbClr val="2C3A78"/>
                </a:solidFill>
                <a:latin typeface="Calibri"/>
                <a:ea typeface="Calibri"/>
                <a:cs typeface="Calibri"/>
                <a:sym typeface="Calibri"/>
              </a:rPr>
              <a:t>How the story FEELS.</a:t>
            </a:r>
            <a:endParaRPr b="0" i="0" sz="1400" u="none" cap="none" strike="noStrike">
              <a:solidFill>
                <a:schemeClr val="dk1"/>
              </a:solidFill>
              <a:latin typeface="Calibri"/>
              <a:ea typeface="Calibri"/>
              <a:cs typeface="Calibri"/>
              <a:sym typeface="Calibri"/>
            </a:endParaRPr>
          </a:p>
        </p:txBody>
      </p:sp>
      <p:sp>
        <p:nvSpPr>
          <p:cNvPr id="101" name="Google Shape;101;p4"/>
          <p:cNvSpPr/>
          <p:nvPr/>
        </p:nvSpPr>
        <p:spPr>
          <a:xfrm>
            <a:off x="4846320" y="3657600"/>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200"/>
              <a:buFont typeface="Calibri"/>
              <a:buNone/>
            </a:pPr>
            <a:r>
              <a:rPr b="0" i="0" lang="en-US" sz="1200" u="none" cap="none" strike="noStrike">
                <a:solidFill>
                  <a:srgbClr val="2C3A78"/>
                </a:solidFill>
                <a:latin typeface="Calibri"/>
                <a:ea typeface="Calibri"/>
                <a:cs typeface="Calibri"/>
                <a:sym typeface="Calibri"/>
              </a:rPr>
              <a:t>Setting, POV, tone, and figurative language shape the mood and voice.</a:t>
            </a:r>
            <a:endParaRPr b="0" i="0" sz="1200" u="none" cap="none" strike="noStrike">
              <a:solidFill>
                <a:schemeClr val="dk1"/>
              </a:solidFill>
              <a:latin typeface="Calibri"/>
              <a:ea typeface="Calibri"/>
              <a:cs typeface="Calibri"/>
              <a:sym typeface="Calibri"/>
            </a:endParaRPr>
          </a:p>
        </p:txBody>
      </p:sp>
      <p:sp>
        <p:nvSpPr>
          <p:cNvPr id="102" name="Google Shape;102;p4"/>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Copy the definition. Underline "building blocks," "meaning," "style."</a:t>
            </a:r>
            <a:endParaRPr b="0" i="0" sz="1200" u="none" cap="none" strike="noStrike">
              <a:solidFill>
                <a:schemeClr val="dk1"/>
              </a:solidFill>
              <a:latin typeface="Calibri"/>
              <a:ea typeface="Calibri"/>
              <a:cs typeface="Calibri"/>
              <a:sym typeface="Calibri"/>
            </a:endParaRPr>
          </a:p>
        </p:txBody>
      </p:sp>
      <p:sp>
        <p:nvSpPr>
          <p:cNvPr id="103" name="Google Shape;103;p4"/>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4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5"/>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110" name="Google Shape;110;p5"/>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The 7 key elements</a:t>
            </a:r>
            <a:endParaRPr b="0" i="0" sz="2600" u="none" cap="none" strike="noStrike">
              <a:solidFill>
                <a:schemeClr val="dk1"/>
              </a:solidFill>
              <a:latin typeface="Calibri"/>
              <a:ea typeface="Calibri"/>
              <a:cs typeface="Calibri"/>
              <a:sym typeface="Calibri"/>
            </a:endParaRPr>
          </a:p>
        </p:txBody>
      </p:sp>
      <p:sp>
        <p:nvSpPr>
          <p:cNvPr id="111" name="Google Shape;111;p5"/>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5 MIN</a:t>
            </a:r>
            <a:endParaRPr b="0" i="0" sz="1400" u="none" cap="none" strike="noStrike">
              <a:solidFill>
                <a:schemeClr val="dk1"/>
              </a:solidFill>
              <a:latin typeface="Calibri"/>
              <a:ea typeface="Calibri"/>
              <a:cs typeface="Calibri"/>
              <a:sym typeface="Calibri"/>
            </a:endParaRPr>
          </a:p>
        </p:txBody>
      </p:sp>
      <p:sp>
        <p:nvSpPr>
          <p:cNvPr id="113" name="Google Shape;113;p5"/>
          <p:cNvSpPr/>
          <p:nvPr/>
        </p:nvSpPr>
        <p:spPr>
          <a:xfrm>
            <a:off x="365760" y="932688"/>
            <a:ext cx="233172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365760" y="932688"/>
            <a:ext cx="2331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115" name="Google Shape;115;p5"/>
          <p:cNvSpPr/>
          <p:nvPr/>
        </p:nvSpPr>
        <p:spPr>
          <a:xfrm>
            <a:off x="365760" y="1463040"/>
            <a:ext cx="2103120" cy="1508760"/>
          </a:xfrm>
          <a:prstGeom prst="rect">
            <a:avLst/>
          </a:prstGeom>
          <a:solidFill>
            <a:srgbClr val="F2C14E"/>
          </a:solidFill>
          <a:ln cap="flat" cmpd="sng" w="254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457200" y="1536192"/>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17" name="Google Shape;117;p5"/>
          <p:cNvSpPr/>
          <p:nvPr/>
        </p:nvSpPr>
        <p:spPr>
          <a:xfrm>
            <a:off x="502920" y="18288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SETTING</a:t>
            </a:r>
            <a:endParaRPr b="0" i="0" sz="1400" u="none" cap="none" strike="noStrike">
              <a:solidFill>
                <a:schemeClr val="dk1"/>
              </a:solidFill>
              <a:latin typeface="Calibri"/>
              <a:ea typeface="Calibri"/>
              <a:cs typeface="Calibri"/>
              <a:sym typeface="Calibri"/>
            </a:endParaRPr>
          </a:p>
        </p:txBody>
      </p:sp>
      <p:sp>
        <p:nvSpPr>
          <p:cNvPr id="118" name="Google Shape;118;p5"/>
          <p:cNvSpPr/>
          <p:nvPr/>
        </p:nvSpPr>
        <p:spPr>
          <a:xfrm>
            <a:off x="502920" y="2331720"/>
            <a:ext cx="182880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where + when the story happens</a:t>
            </a:r>
            <a:endParaRPr b="0" i="0" sz="1100" u="none" cap="none" strike="noStrike">
              <a:solidFill>
                <a:schemeClr val="dk1"/>
              </a:solidFill>
              <a:latin typeface="Calibri"/>
              <a:ea typeface="Calibri"/>
              <a:cs typeface="Calibri"/>
              <a:sym typeface="Calibri"/>
            </a:endParaRPr>
          </a:p>
        </p:txBody>
      </p:sp>
      <p:sp>
        <p:nvSpPr>
          <p:cNvPr id="119" name="Google Shape;119;p5"/>
          <p:cNvSpPr/>
          <p:nvPr/>
        </p:nvSpPr>
        <p:spPr>
          <a:xfrm>
            <a:off x="1691640" y="1536192"/>
            <a:ext cx="6858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900"/>
              <a:buFont typeface="Arial Black"/>
              <a:buNone/>
            </a:pPr>
            <a:r>
              <a:rPr b="1" i="0" lang="en-US" sz="900" u="none" cap="none" strike="noStrike">
                <a:solidFill>
                  <a:srgbClr val="1E2761"/>
                </a:solidFill>
                <a:latin typeface="Arial Black"/>
                <a:ea typeface="Arial Black"/>
                <a:cs typeface="Arial Black"/>
                <a:sym typeface="Arial Black"/>
              </a:rPr>
              <a:t>TODAY</a:t>
            </a:r>
            <a:endParaRPr b="0" i="0" sz="900" u="none" cap="none" strike="noStrike">
              <a:solidFill>
                <a:schemeClr val="dk1"/>
              </a:solidFill>
              <a:latin typeface="Calibri"/>
              <a:ea typeface="Calibri"/>
              <a:cs typeface="Calibri"/>
              <a:sym typeface="Calibri"/>
            </a:endParaRPr>
          </a:p>
        </p:txBody>
      </p:sp>
      <p:sp>
        <p:nvSpPr>
          <p:cNvPr id="120" name="Google Shape;120;p5"/>
          <p:cNvSpPr/>
          <p:nvPr/>
        </p:nvSpPr>
        <p:spPr>
          <a:xfrm>
            <a:off x="2560320" y="1463040"/>
            <a:ext cx="2103120" cy="1508760"/>
          </a:xfrm>
          <a:prstGeom prst="rect">
            <a:avLst/>
          </a:prstGeom>
          <a:solidFill>
            <a:srgbClr val="F2C14E"/>
          </a:solidFill>
          <a:ln cap="flat" cmpd="sng" w="254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2651760" y="1536192"/>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22" name="Google Shape;122;p5"/>
          <p:cNvSpPr/>
          <p:nvPr/>
        </p:nvSpPr>
        <p:spPr>
          <a:xfrm>
            <a:off x="2697480" y="18288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PLOT</a:t>
            </a:r>
            <a:endParaRPr b="0" i="0" sz="1400" u="none" cap="none" strike="noStrike">
              <a:solidFill>
                <a:schemeClr val="dk1"/>
              </a:solidFill>
              <a:latin typeface="Calibri"/>
              <a:ea typeface="Calibri"/>
              <a:cs typeface="Calibri"/>
              <a:sym typeface="Calibri"/>
            </a:endParaRPr>
          </a:p>
        </p:txBody>
      </p:sp>
      <p:sp>
        <p:nvSpPr>
          <p:cNvPr id="123" name="Google Shape;123;p5"/>
          <p:cNvSpPr/>
          <p:nvPr/>
        </p:nvSpPr>
        <p:spPr>
          <a:xfrm>
            <a:off x="2697480" y="2331720"/>
            <a:ext cx="182880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the sequence of events</a:t>
            </a:r>
            <a:endParaRPr b="0" i="0" sz="1100" u="none" cap="none" strike="noStrike">
              <a:solidFill>
                <a:schemeClr val="dk1"/>
              </a:solidFill>
              <a:latin typeface="Calibri"/>
              <a:ea typeface="Calibri"/>
              <a:cs typeface="Calibri"/>
              <a:sym typeface="Calibri"/>
            </a:endParaRPr>
          </a:p>
        </p:txBody>
      </p:sp>
      <p:sp>
        <p:nvSpPr>
          <p:cNvPr id="124" name="Google Shape;124;p5"/>
          <p:cNvSpPr/>
          <p:nvPr/>
        </p:nvSpPr>
        <p:spPr>
          <a:xfrm>
            <a:off x="3886200" y="1536192"/>
            <a:ext cx="6858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900"/>
              <a:buFont typeface="Arial Black"/>
              <a:buNone/>
            </a:pPr>
            <a:r>
              <a:rPr b="1" i="0" lang="en-US" sz="900" u="none" cap="none" strike="noStrike">
                <a:solidFill>
                  <a:srgbClr val="1E2761"/>
                </a:solidFill>
                <a:latin typeface="Arial Black"/>
                <a:ea typeface="Arial Black"/>
                <a:cs typeface="Arial Black"/>
                <a:sym typeface="Arial Black"/>
              </a:rPr>
              <a:t>TODAY</a:t>
            </a:r>
            <a:endParaRPr b="0" i="0" sz="900" u="none" cap="none" strike="noStrike">
              <a:solidFill>
                <a:schemeClr val="dk1"/>
              </a:solidFill>
              <a:latin typeface="Calibri"/>
              <a:ea typeface="Calibri"/>
              <a:cs typeface="Calibri"/>
              <a:sym typeface="Calibri"/>
            </a:endParaRPr>
          </a:p>
        </p:txBody>
      </p:sp>
      <p:sp>
        <p:nvSpPr>
          <p:cNvPr id="125" name="Google Shape;125;p5"/>
          <p:cNvSpPr/>
          <p:nvPr/>
        </p:nvSpPr>
        <p:spPr>
          <a:xfrm>
            <a:off x="4754880" y="1463040"/>
            <a:ext cx="2103120" cy="1508760"/>
          </a:xfrm>
          <a:prstGeom prst="rect">
            <a:avLst/>
          </a:prstGeom>
          <a:solidFill>
            <a:srgbClr val="CADCFC"/>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4846320" y="1536192"/>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1" i="0" lang="en-US" sz="1100" u="none" cap="none" strike="noStrike">
                <a:solidFill>
                  <a:srgbClr val="8AA0C9"/>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27" name="Google Shape;127;p5"/>
          <p:cNvSpPr/>
          <p:nvPr/>
        </p:nvSpPr>
        <p:spPr>
          <a:xfrm>
            <a:off x="4892040" y="18288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CHARACTERS</a:t>
            </a:r>
            <a:endParaRPr b="0" i="0" sz="1400" u="none" cap="none" strike="noStrike">
              <a:solidFill>
                <a:schemeClr val="dk1"/>
              </a:solidFill>
              <a:latin typeface="Calibri"/>
              <a:ea typeface="Calibri"/>
              <a:cs typeface="Calibri"/>
              <a:sym typeface="Calibri"/>
            </a:endParaRPr>
          </a:p>
        </p:txBody>
      </p:sp>
      <p:sp>
        <p:nvSpPr>
          <p:cNvPr id="128" name="Google Shape;128;p5"/>
          <p:cNvSpPr/>
          <p:nvPr/>
        </p:nvSpPr>
        <p:spPr>
          <a:xfrm>
            <a:off x="4892040" y="2331720"/>
            <a:ext cx="182880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who is in the story + how they're built</a:t>
            </a:r>
            <a:endParaRPr b="0" i="0" sz="1100" u="none" cap="none" strike="noStrike">
              <a:solidFill>
                <a:schemeClr val="dk1"/>
              </a:solidFill>
              <a:latin typeface="Calibri"/>
              <a:ea typeface="Calibri"/>
              <a:cs typeface="Calibri"/>
              <a:sym typeface="Calibri"/>
            </a:endParaRPr>
          </a:p>
        </p:txBody>
      </p:sp>
      <p:sp>
        <p:nvSpPr>
          <p:cNvPr id="129" name="Google Shape;129;p5"/>
          <p:cNvSpPr/>
          <p:nvPr/>
        </p:nvSpPr>
        <p:spPr>
          <a:xfrm>
            <a:off x="6949440" y="1463040"/>
            <a:ext cx="2103120" cy="1508760"/>
          </a:xfrm>
          <a:prstGeom prst="rect">
            <a:avLst/>
          </a:prstGeom>
          <a:solidFill>
            <a:srgbClr val="CADCFC"/>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7040880" y="1536192"/>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1" i="0" lang="en-US" sz="1100" u="none" cap="none" strike="noStrike">
                <a:solidFill>
                  <a:srgbClr val="8AA0C9"/>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31" name="Google Shape;131;p5"/>
          <p:cNvSpPr/>
          <p:nvPr/>
        </p:nvSpPr>
        <p:spPr>
          <a:xfrm>
            <a:off x="7086600" y="182880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CONFLICT</a:t>
            </a:r>
            <a:endParaRPr b="0" i="0" sz="1400" u="none" cap="none" strike="noStrike">
              <a:solidFill>
                <a:schemeClr val="dk1"/>
              </a:solidFill>
              <a:latin typeface="Calibri"/>
              <a:ea typeface="Calibri"/>
              <a:cs typeface="Calibri"/>
              <a:sym typeface="Calibri"/>
            </a:endParaRPr>
          </a:p>
        </p:txBody>
      </p:sp>
      <p:sp>
        <p:nvSpPr>
          <p:cNvPr id="132" name="Google Shape;132;p5"/>
          <p:cNvSpPr/>
          <p:nvPr/>
        </p:nvSpPr>
        <p:spPr>
          <a:xfrm>
            <a:off x="7086600" y="2331720"/>
            <a:ext cx="182880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the central problem or struggle</a:t>
            </a:r>
            <a:endParaRPr b="0" i="0" sz="1100" u="none" cap="none" strike="noStrike">
              <a:solidFill>
                <a:schemeClr val="dk1"/>
              </a:solidFill>
              <a:latin typeface="Calibri"/>
              <a:ea typeface="Calibri"/>
              <a:cs typeface="Calibri"/>
              <a:sym typeface="Calibri"/>
            </a:endParaRPr>
          </a:p>
        </p:txBody>
      </p:sp>
      <p:sp>
        <p:nvSpPr>
          <p:cNvPr id="133" name="Google Shape;133;p5"/>
          <p:cNvSpPr/>
          <p:nvPr/>
        </p:nvSpPr>
        <p:spPr>
          <a:xfrm>
            <a:off x="365760" y="3108960"/>
            <a:ext cx="2103120" cy="1508760"/>
          </a:xfrm>
          <a:prstGeom prst="rect">
            <a:avLst/>
          </a:prstGeom>
          <a:solidFill>
            <a:srgbClr val="CADCFC"/>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457200" y="3182112"/>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1" i="0" lang="en-US" sz="1100" u="none" cap="none" strike="noStrike">
                <a:solidFill>
                  <a:srgbClr val="8AA0C9"/>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35" name="Google Shape;135;p5"/>
          <p:cNvSpPr/>
          <p:nvPr/>
        </p:nvSpPr>
        <p:spPr>
          <a:xfrm>
            <a:off x="502920" y="347472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POINT OF VIEW</a:t>
            </a:r>
            <a:endParaRPr b="0" i="0" sz="1400" u="none" cap="none" strike="noStrike">
              <a:solidFill>
                <a:schemeClr val="dk1"/>
              </a:solidFill>
              <a:latin typeface="Calibri"/>
              <a:ea typeface="Calibri"/>
              <a:cs typeface="Calibri"/>
              <a:sym typeface="Calibri"/>
            </a:endParaRPr>
          </a:p>
        </p:txBody>
      </p:sp>
      <p:sp>
        <p:nvSpPr>
          <p:cNvPr id="136" name="Google Shape;136;p5"/>
          <p:cNvSpPr/>
          <p:nvPr/>
        </p:nvSpPr>
        <p:spPr>
          <a:xfrm>
            <a:off x="502920" y="3977640"/>
            <a:ext cx="182880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who is telling the story (1st, 3rd, etc.)</a:t>
            </a:r>
            <a:endParaRPr b="0" i="0" sz="1100" u="none" cap="none" strike="noStrike">
              <a:solidFill>
                <a:schemeClr val="dk1"/>
              </a:solidFill>
              <a:latin typeface="Calibri"/>
              <a:ea typeface="Calibri"/>
              <a:cs typeface="Calibri"/>
              <a:sym typeface="Calibri"/>
            </a:endParaRPr>
          </a:p>
        </p:txBody>
      </p:sp>
      <p:sp>
        <p:nvSpPr>
          <p:cNvPr id="137" name="Google Shape;137;p5"/>
          <p:cNvSpPr/>
          <p:nvPr/>
        </p:nvSpPr>
        <p:spPr>
          <a:xfrm>
            <a:off x="2560320" y="3108960"/>
            <a:ext cx="2103120" cy="1508760"/>
          </a:xfrm>
          <a:prstGeom prst="rect">
            <a:avLst/>
          </a:prstGeom>
          <a:solidFill>
            <a:srgbClr val="CADCFC"/>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2651760" y="3182112"/>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1" i="0" lang="en-US" sz="1100" u="none" cap="none" strike="noStrike">
                <a:solidFill>
                  <a:srgbClr val="8AA0C9"/>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139" name="Google Shape;139;p5"/>
          <p:cNvSpPr/>
          <p:nvPr/>
        </p:nvSpPr>
        <p:spPr>
          <a:xfrm>
            <a:off x="2697480" y="347472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THEME</a:t>
            </a:r>
            <a:endParaRPr b="0" i="0" sz="1400" u="none" cap="none" strike="noStrike">
              <a:solidFill>
                <a:schemeClr val="dk1"/>
              </a:solidFill>
              <a:latin typeface="Calibri"/>
              <a:ea typeface="Calibri"/>
              <a:cs typeface="Calibri"/>
              <a:sym typeface="Calibri"/>
            </a:endParaRPr>
          </a:p>
        </p:txBody>
      </p:sp>
      <p:sp>
        <p:nvSpPr>
          <p:cNvPr id="140" name="Google Shape;140;p5"/>
          <p:cNvSpPr/>
          <p:nvPr/>
        </p:nvSpPr>
        <p:spPr>
          <a:xfrm>
            <a:off x="2697480" y="3977640"/>
            <a:ext cx="182880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the big idea the story teaches</a:t>
            </a:r>
            <a:endParaRPr b="0" i="0" sz="1100" u="none" cap="none" strike="noStrike">
              <a:solidFill>
                <a:schemeClr val="dk1"/>
              </a:solidFill>
              <a:latin typeface="Calibri"/>
              <a:ea typeface="Calibri"/>
              <a:cs typeface="Calibri"/>
              <a:sym typeface="Calibri"/>
            </a:endParaRPr>
          </a:p>
        </p:txBody>
      </p:sp>
      <p:sp>
        <p:nvSpPr>
          <p:cNvPr id="141" name="Google Shape;141;p5"/>
          <p:cNvSpPr/>
          <p:nvPr/>
        </p:nvSpPr>
        <p:spPr>
          <a:xfrm>
            <a:off x="4754880" y="3108960"/>
            <a:ext cx="2103120" cy="1508760"/>
          </a:xfrm>
          <a:prstGeom prst="rect">
            <a:avLst/>
          </a:prstGeom>
          <a:solidFill>
            <a:srgbClr val="CADCFC"/>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4846320" y="3182112"/>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1" i="0" lang="en-US" sz="1100" u="none" cap="none" strike="noStrike">
                <a:solidFill>
                  <a:srgbClr val="8AA0C9"/>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
        <p:nvSpPr>
          <p:cNvPr id="143" name="Google Shape;143;p5"/>
          <p:cNvSpPr/>
          <p:nvPr/>
        </p:nvSpPr>
        <p:spPr>
          <a:xfrm>
            <a:off x="4892040" y="347472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TONE</a:t>
            </a:r>
            <a:endParaRPr b="0" i="0" sz="1400" u="none" cap="none" strike="noStrike">
              <a:solidFill>
                <a:schemeClr val="dk1"/>
              </a:solidFill>
              <a:latin typeface="Calibri"/>
              <a:ea typeface="Calibri"/>
              <a:cs typeface="Calibri"/>
              <a:sym typeface="Calibri"/>
            </a:endParaRPr>
          </a:p>
        </p:txBody>
      </p:sp>
      <p:sp>
        <p:nvSpPr>
          <p:cNvPr id="144" name="Google Shape;144;p5"/>
          <p:cNvSpPr/>
          <p:nvPr/>
        </p:nvSpPr>
        <p:spPr>
          <a:xfrm>
            <a:off x="4892040" y="3977640"/>
            <a:ext cx="182880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the author's attitude toward the subject</a:t>
            </a:r>
            <a:endParaRPr b="0" i="0" sz="1100" u="none" cap="none" strike="noStrike">
              <a:solidFill>
                <a:schemeClr val="dk1"/>
              </a:solidFill>
              <a:latin typeface="Calibri"/>
              <a:ea typeface="Calibri"/>
              <a:cs typeface="Calibri"/>
              <a:sym typeface="Calibri"/>
            </a:endParaRPr>
          </a:p>
        </p:txBody>
      </p:sp>
      <p:sp>
        <p:nvSpPr>
          <p:cNvPr id="145" name="Google Shape;145;p5"/>
          <p:cNvSpPr/>
          <p:nvPr/>
        </p:nvSpPr>
        <p:spPr>
          <a:xfrm>
            <a:off x="6949440" y="3108960"/>
            <a:ext cx="2103120" cy="150876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7086600" y="3566160"/>
            <a:ext cx="18288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100"/>
              <a:buFont typeface="Calibri"/>
              <a:buNone/>
            </a:pPr>
            <a:r>
              <a:rPr b="0" i="1" lang="en-US" sz="1100" u="none" cap="none" strike="noStrike">
                <a:solidFill>
                  <a:srgbClr val="CADCFC"/>
                </a:solidFill>
                <a:latin typeface="Calibri"/>
                <a:ea typeface="Calibri"/>
                <a:cs typeface="Calibri"/>
                <a:sym typeface="Calibri"/>
              </a:rPr>
              <a:t>Lessons 2–4 will hit the rest.</a:t>
            </a:r>
            <a:endParaRPr b="0" i="0" sz="1100" u="none" cap="none" strike="noStrike">
              <a:solidFill>
                <a:schemeClr val="dk1"/>
              </a:solidFill>
              <a:latin typeface="Calibri"/>
              <a:ea typeface="Calibri"/>
              <a:cs typeface="Calibri"/>
              <a:sym typeface="Calibri"/>
            </a:endParaRPr>
          </a:p>
        </p:txBody>
      </p:sp>
      <p:sp>
        <p:nvSpPr>
          <p:cNvPr id="147" name="Google Shape;147;p5"/>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Draw a 7-cell grid. Copy all 7 names + definitions. Star SETTING and PLOT.</a:t>
            </a:r>
            <a:endParaRPr b="0" i="0" sz="1200" u="none" cap="none" strike="noStrike">
              <a:solidFill>
                <a:schemeClr val="dk1"/>
              </a:solidFill>
              <a:latin typeface="Calibri"/>
              <a:ea typeface="Calibri"/>
              <a:cs typeface="Calibri"/>
              <a:sym typeface="Calibri"/>
            </a:endParaRPr>
          </a:p>
        </p:txBody>
      </p:sp>
      <p:sp>
        <p:nvSpPr>
          <p:cNvPr id="148" name="Google Shape;148;p5"/>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5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6"/>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155" name="Google Shape;155;p6"/>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What is SETTING?</a:t>
            </a:r>
            <a:endParaRPr b="0" i="0" sz="2600" u="none" cap="none" strike="noStrike">
              <a:solidFill>
                <a:schemeClr val="dk1"/>
              </a:solidFill>
              <a:latin typeface="Calibri"/>
              <a:ea typeface="Calibri"/>
              <a:cs typeface="Calibri"/>
              <a:sym typeface="Calibri"/>
            </a:endParaRPr>
          </a:p>
        </p:txBody>
      </p:sp>
      <p:sp>
        <p:nvSpPr>
          <p:cNvPr id="156" name="Google Shape;156;p6"/>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6 MIN</a:t>
            </a:r>
            <a:endParaRPr b="0" i="0" sz="1400" u="none" cap="none" strike="noStrike">
              <a:solidFill>
                <a:schemeClr val="dk1"/>
              </a:solidFill>
              <a:latin typeface="Calibri"/>
              <a:ea typeface="Calibri"/>
              <a:cs typeface="Calibri"/>
              <a:sym typeface="Calibri"/>
            </a:endParaRPr>
          </a:p>
        </p:txBody>
      </p:sp>
      <p:sp>
        <p:nvSpPr>
          <p:cNvPr id="158" name="Google Shape;158;p6"/>
          <p:cNvSpPr/>
          <p:nvPr/>
        </p:nvSpPr>
        <p:spPr>
          <a:xfrm>
            <a:off x="365760" y="932688"/>
            <a:ext cx="233172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365760" y="932688"/>
            <a:ext cx="2331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160" name="Google Shape;160;p6"/>
          <p:cNvSpPr/>
          <p:nvPr/>
        </p:nvSpPr>
        <p:spPr>
          <a:xfrm>
            <a:off x="365760" y="1417320"/>
            <a:ext cx="8412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Georgia"/>
              <a:buNone/>
            </a:pPr>
            <a:r>
              <a:rPr b="0" i="1" lang="en-US" sz="1500" u="none" cap="none" strike="noStrike">
                <a:solidFill>
                  <a:srgbClr val="1E2761"/>
                </a:solidFill>
                <a:latin typeface="Georgia"/>
                <a:ea typeface="Georgia"/>
                <a:cs typeface="Georgia"/>
                <a:sym typeface="Georgia"/>
              </a:rPr>
              <a:t>Setting = WHERE + WHEN + the FEELING those create.</a:t>
            </a:r>
            <a:endParaRPr b="0" i="0" sz="1500" u="none" cap="none" strike="noStrike">
              <a:solidFill>
                <a:schemeClr val="dk1"/>
              </a:solidFill>
              <a:latin typeface="Calibri"/>
              <a:ea typeface="Calibri"/>
              <a:cs typeface="Calibri"/>
              <a:sym typeface="Calibri"/>
            </a:endParaRPr>
          </a:p>
        </p:txBody>
      </p:sp>
      <p:sp>
        <p:nvSpPr>
          <p:cNvPr id="161" name="Google Shape;161;p6"/>
          <p:cNvSpPr/>
          <p:nvPr/>
        </p:nvSpPr>
        <p:spPr>
          <a:xfrm>
            <a:off x="365760" y="1874520"/>
            <a:ext cx="2697480" cy="2148840"/>
          </a:xfrm>
          <a:prstGeom prst="rect">
            <a:avLst/>
          </a:prstGeom>
          <a:solidFill>
            <a:srgbClr val="CADCFC"/>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365760" y="2011680"/>
            <a:ext cx="2697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200"/>
              <a:buFont typeface="Arial Black"/>
              <a:buNone/>
            </a:pPr>
            <a:r>
              <a:rPr b="1" i="0" lang="en-US" sz="2200" u="none" cap="none" strike="noStrike">
                <a:solidFill>
                  <a:srgbClr val="1E2761"/>
                </a:solidFill>
                <a:latin typeface="Arial Black"/>
                <a:ea typeface="Arial Black"/>
                <a:cs typeface="Arial Black"/>
                <a:sym typeface="Arial Black"/>
              </a:rPr>
              <a:t>PLACE</a:t>
            </a:r>
            <a:endParaRPr b="0" i="0" sz="2200" u="none" cap="none" strike="noStrike">
              <a:solidFill>
                <a:schemeClr val="dk1"/>
              </a:solidFill>
              <a:latin typeface="Calibri"/>
              <a:ea typeface="Calibri"/>
              <a:cs typeface="Calibri"/>
              <a:sym typeface="Calibri"/>
            </a:endParaRPr>
          </a:p>
        </p:txBody>
      </p:sp>
      <p:sp>
        <p:nvSpPr>
          <p:cNvPr id="163" name="Google Shape;163;p6"/>
          <p:cNvSpPr/>
          <p:nvPr/>
        </p:nvSpPr>
        <p:spPr>
          <a:xfrm>
            <a:off x="365760" y="2423160"/>
            <a:ext cx="2697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1200"/>
              <a:buFont typeface="Calibri"/>
              <a:buNone/>
            </a:pPr>
            <a:r>
              <a:rPr b="0" i="1" lang="en-US" sz="1200" u="none" cap="none" strike="noStrike">
                <a:solidFill>
                  <a:srgbClr val="2C3A78"/>
                </a:solidFill>
                <a:latin typeface="Calibri"/>
                <a:ea typeface="Calibri"/>
                <a:cs typeface="Calibri"/>
                <a:sym typeface="Calibri"/>
              </a:rPr>
              <a:t>WHERE</a:t>
            </a:r>
            <a:endParaRPr b="0" i="0" sz="1200" u="none" cap="none" strike="noStrike">
              <a:solidFill>
                <a:schemeClr val="dk1"/>
              </a:solidFill>
              <a:latin typeface="Calibri"/>
              <a:ea typeface="Calibri"/>
              <a:cs typeface="Calibri"/>
              <a:sym typeface="Calibri"/>
            </a:endParaRPr>
          </a:p>
        </p:txBody>
      </p:sp>
      <p:cxnSp>
        <p:nvCxnSpPr>
          <p:cNvPr id="164" name="Google Shape;164;p6"/>
          <p:cNvCxnSpPr/>
          <p:nvPr/>
        </p:nvCxnSpPr>
        <p:spPr>
          <a:xfrm>
            <a:off x="822960" y="2743200"/>
            <a:ext cx="1783080" cy="0"/>
          </a:xfrm>
          <a:prstGeom prst="straightConnector1">
            <a:avLst/>
          </a:prstGeom>
          <a:noFill/>
          <a:ln cap="flat" cmpd="sng" w="9525">
            <a:solidFill>
              <a:srgbClr val="1E2761"/>
            </a:solidFill>
            <a:prstDash val="solid"/>
            <a:round/>
            <a:headEnd len="sm" w="sm" type="none"/>
            <a:tailEnd len="sm" w="sm" type="none"/>
          </a:ln>
        </p:spPr>
      </p:cxnSp>
      <p:sp>
        <p:nvSpPr>
          <p:cNvPr id="165" name="Google Shape;165;p6"/>
          <p:cNvSpPr/>
          <p:nvPr/>
        </p:nvSpPr>
        <p:spPr>
          <a:xfrm>
            <a:off x="548640" y="2880360"/>
            <a:ext cx="2423160" cy="10515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Country, city, building</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Indoor or outdoor</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Specific room or environment</a:t>
            </a:r>
            <a:endParaRPr b="0" i="0" sz="1200" u="none" cap="none" strike="noStrike">
              <a:solidFill>
                <a:schemeClr val="dk1"/>
              </a:solidFill>
              <a:latin typeface="Calibri"/>
              <a:ea typeface="Calibri"/>
              <a:cs typeface="Calibri"/>
              <a:sym typeface="Calibri"/>
            </a:endParaRPr>
          </a:p>
        </p:txBody>
      </p:sp>
      <p:sp>
        <p:nvSpPr>
          <p:cNvPr id="166" name="Google Shape;166;p6"/>
          <p:cNvSpPr/>
          <p:nvPr/>
        </p:nvSpPr>
        <p:spPr>
          <a:xfrm>
            <a:off x="3182112" y="1874520"/>
            <a:ext cx="2697480" cy="214884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3182112" y="2011680"/>
            <a:ext cx="2697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200"/>
              <a:buFont typeface="Arial Black"/>
              <a:buNone/>
            </a:pPr>
            <a:r>
              <a:rPr b="1" i="0" lang="en-US" sz="2200" u="none" cap="none" strike="noStrike">
                <a:solidFill>
                  <a:srgbClr val="1E2761"/>
                </a:solidFill>
                <a:latin typeface="Arial Black"/>
                <a:ea typeface="Arial Black"/>
                <a:cs typeface="Arial Black"/>
                <a:sym typeface="Arial Black"/>
              </a:rPr>
              <a:t>TIME</a:t>
            </a:r>
            <a:endParaRPr b="0" i="0" sz="2200" u="none" cap="none" strike="noStrike">
              <a:solidFill>
                <a:schemeClr val="dk1"/>
              </a:solidFill>
              <a:latin typeface="Calibri"/>
              <a:ea typeface="Calibri"/>
              <a:cs typeface="Calibri"/>
              <a:sym typeface="Calibri"/>
            </a:endParaRPr>
          </a:p>
        </p:txBody>
      </p:sp>
      <p:sp>
        <p:nvSpPr>
          <p:cNvPr id="168" name="Google Shape;168;p6"/>
          <p:cNvSpPr/>
          <p:nvPr/>
        </p:nvSpPr>
        <p:spPr>
          <a:xfrm>
            <a:off x="3182112" y="2423160"/>
            <a:ext cx="2697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1200"/>
              <a:buFont typeface="Calibri"/>
              <a:buNone/>
            </a:pPr>
            <a:r>
              <a:rPr b="0" i="1" lang="en-US" sz="1200" u="none" cap="none" strike="noStrike">
                <a:solidFill>
                  <a:srgbClr val="2C3A78"/>
                </a:solidFill>
                <a:latin typeface="Calibri"/>
                <a:ea typeface="Calibri"/>
                <a:cs typeface="Calibri"/>
                <a:sym typeface="Calibri"/>
              </a:rPr>
              <a:t>WHEN</a:t>
            </a:r>
            <a:endParaRPr b="0" i="0" sz="1200" u="none" cap="none" strike="noStrike">
              <a:solidFill>
                <a:schemeClr val="dk1"/>
              </a:solidFill>
              <a:latin typeface="Calibri"/>
              <a:ea typeface="Calibri"/>
              <a:cs typeface="Calibri"/>
              <a:sym typeface="Calibri"/>
            </a:endParaRPr>
          </a:p>
        </p:txBody>
      </p:sp>
      <p:cxnSp>
        <p:nvCxnSpPr>
          <p:cNvPr id="169" name="Google Shape;169;p6"/>
          <p:cNvCxnSpPr/>
          <p:nvPr/>
        </p:nvCxnSpPr>
        <p:spPr>
          <a:xfrm>
            <a:off x="3639312" y="2743200"/>
            <a:ext cx="1783080" cy="0"/>
          </a:xfrm>
          <a:prstGeom prst="straightConnector1">
            <a:avLst/>
          </a:prstGeom>
          <a:noFill/>
          <a:ln cap="flat" cmpd="sng" w="9525">
            <a:solidFill>
              <a:srgbClr val="1E2761"/>
            </a:solidFill>
            <a:prstDash val="solid"/>
            <a:round/>
            <a:headEnd len="sm" w="sm" type="none"/>
            <a:tailEnd len="sm" w="sm" type="none"/>
          </a:ln>
        </p:spPr>
      </p:cxnSp>
      <p:sp>
        <p:nvSpPr>
          <p:cNvPr id="170" name="Google Shape;170;p6"/>
          <p:cNvSpPr/>
          <p:nvPr/>
        </p:nvSpPr>
        <p:spPr>
          <a:xfrm>
            <a:off x="3364992" y="2880360"/>
            <a:ext cx="2423160" cy="10515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Era / year / decade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Season + time of day</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How long events take</a:t>
            </a:r>
            <a:endParaRPr b="0" i="0" sz="1200" u="none" cap="none" strike="noStrike">
              <a:solidFill>
                <a:schemeClr val="dk1"/>
              </a:solidFill>
              <a:latin typeface="Calibri"/>
              <a:ea typeface="Calibri"/>
              <a:cs typeface="Calibri"/>
              <a:sym typeface="Calibri"/>
            </a:endParaRPr>
          </a:p>
        </p:txBody>
      </p:sp>
      <p:sp>
        <p:nvSpPr>
          <p:cNvPr id="171" name="Google Shape;171;p6"/>
          <p:cNvSpPr/>
          <p:nvPr/>
        </p:nvSpPr>
        <p:spPr>
          <a:xfrm>
            <a:off x="5998464" y="1874520"/>
            <a:ext cx="2697480" cy="2148840"/>
          </a:xfrm>
          <a:prstGeom prst="rect">
            <a:avLst/>
          </a:prstGeom>
          <a:solidFill>
            <a:srgbClr val="CADCFC"/>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5998464" y="2011680"/>
            <a:ext cx="2697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200"/>
              <a:buFont typeface="Arial Black"/>
              <a:buNone/>
            </a:pPr>
            <a:r>
              <a:rPr b="1" i="0" lang="en-US" sz="2200" u="none" cap="none" strike="noStrike">
                <a:solidFill>
                  <a:srgbClr val="1E2761"/>
                </a:solidFill>
                <a:latin typeface="Arial Black"/>
                <a:ea typeface="Arial Black"/>
                <a:cs typeface="Arial Black"/>
                <a:sym typeface="Arial Black"/>
              </a:rPr>
              <a:t>MOOD</a:t>
            </a:r>
            <a:endParaRPr b="0" i="0" sz="2200" u="none" cap="none" strike="noStrike">
              <a:solidFill>
                <a:schemeClr val="dk1"/>
              </a:solidFill>
              <a:latin typeface="Calibri"/>
              <a:ea typeface="Calibri"/>
              <a:cs typeface="Calibri"/>
              <a:sym typeface="Calibri"/>
            </a:endParaRPr>
          </a:p>
        </p:txBody>
      </p:sp>
      <p:sp>
        <p:nvSpPr>
          <p:cNvPr id="173" name="Google Shape;173;p6"/>
          <p:cNvSpPr/>
          <p:nvPr/>
        </p:nvSpPr>
        <p:spPr>
          <a:xfrm>
            <a:off x="5998464" y="2423160"/>
            <a:ext cx="2697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1200"/>
              <a:buFont typeface="Calibri"/>
              <a:buNone/>
            </a:pPr>
            <a:r>
              <a:rPr b="0" i="1" lang="en-US" sz="1200" u="none" cap="none" strike="noStrike">
                <a:solidFill>
                  <a:srgbClr val="2C3A78"/>
                </a:solidFill>
                <a:latin typeface="Calibri"/>
                <a:ea typeface="Calibri"/>
                <a:cs typeface="Calibri"/>
                <a:sym typeface="Calibri"/>
              </a:rPr>
              <a:t>the FEELING</a:t>
            </a:r>
            <a:endParaRPr b="0" i="0" sz="1200" u="none" cap="none" strike="noStrike">
              <a:solidFill>
                <a:schemeClr val="dk1"/>
              </a:solidFill>
              <a:latin typeface="Calibri"/>
              <a:ea typeface="Calibri"/>
              <a:cs typeface="Calibri"/>
              <a:sym typeface="Calibri"/>
            </a:endParaRPr>
          </a:p>
        </p:txBody>
      </p:sp>
      <p:cxnSp>
        <p:nvCxnSpPr>
          <p:cNvPr id="174" name="Google Shape;174;p6"/>
          <p:cNvCxnSpPr/>
          <p:nvPr/>
        </p:nvCxnSpPr>
        <p:spPr>
          <a:xfrm>
            <a:off x="6455664" y="2743200"/>
            <a:ext cx="1783080" cy="0"/>
          </a:xfrm>
          <a:prstGeom prst="straightConnector1">
            <a:avLst/>
          </a:prstGeom>
          <a:noFill/>
          <a:ln cap="flat" cmpd="sng" w="9525">
            <a:solidFill>
              <a:srgbClr val="1E2761"/>
            </a:solidFill>
            <a:prstDash val="solid"/>
            <a:round/>
            <a:headEnd len="sm" w="sm" type="none"/>
            <a:tailEnd len="sm" w="sm" type="none"/>
          </a:ln>
        </p:spPr>
      </p:cxnSp>
      <p:sp>
        <p:nvSpPr>
          <p:cNvPr id="175" name="Google Shape;175;p6"/>
          <p:cNvSpPr/>
          <p:nvPr/>
        </p:nvSpPr>
        <p:spPr>
          <a:xfrm>
            <a:off x="6181344" y="2880360"/>
            <a:ext cx="2423160" cy="10515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Sinister, peaceful, tense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Created by description</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Often the AUTHOR'S CHOICE</a:t>
            </a:r>
            <a:endParaRPr b="0" i="0" sz="1200" u="none" cap="none" strike="noStrike">
              <a:solidFill>
                <a:schemeClr val="dk1"/>
              </a:solidFill>
              <a:latin typeface="Calibri"/>
              <a:ea typeface="Calibri"/>
              <a:cs typeface="Calibri"/>
              <a:sym typeface="Calibri"/>
            </a:endParaRPr>
          </a:p>
        </p:txBody>
      </p:sp>
      <p:sp>
        <p:nvSpPr>
          <p:cNvPr id="176" name="Google Shape;176;p6"/>
          <p:cNvSpPr/>
          <p:nvPr/>
        </p:nvSpPr>
        <p:spPr>
          <a:xfrm>
            <a:off x="365760" y="4160520"/>
            <a:ext cx="8412480" cy="50292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502920" y="4160520"/>
            <a:ext cx="81381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300"/>
              <a:buFont typeface="Calibri"/>
              <a:buNone/>
            </a:pPr>
            <a:r>
              <a:rPr b="1" i="0" lang="en-US" sz="1300" u="none" cap="none" strike="noStrike">
                <a:solidFill>
                  <a:srgbClr val="F2C14E"/>
                </a:solidFill>
                <a:latin typeface="Calibri"/>
                <a:ea typeface="Calibri"/>
                <a:cs typeface="Calibri"/>
                <a:sym typeface="Calibri"/>
              </a:rPr>
              <a:t>HOW TO SPOT IT:  </a:t>
            </a:r>
            <a:r>
              <a:rPr b="0" i="0" lang="en-US" sz="1300" u="none" cap="none" strike="noStrike">
                <a:solidFill>
                  <a:srgbClr val="FFFFFF"/>
                </a:solidFill>
                <a:latin typeface="Calibri"/>
                <a:ea typeface="Calibri"/>
                <a:cs typeface="Calibri"/>
                <a:sym typeface="Calibri"/>
              </a:rPr>
              <a:t>look for descriptive language about </a:t>
            </a:r>
            <a:r>
              <a:rPr b="1" i="0" lang="en-US" sz="1300" u="none" cap="none" strike="noStrike">
                <a:solidFill>
                  <a:srgbClr val="F2C14E"/>
                </a:solidFill>
                <a:latin typeface="Calibri"/>
                <a:ea typeface="Calibri"/>
                <a:cs typeface="Calibri"/>
                <a:sym typeface="Calibri"/>
              </a:rPr>
              <a:t>where</a:t>
            </a:r>
            <a:r>
              <a:rPr b="0" i="0" lang="en-US" sz="1300" u="none" cap="none" strike="noStrike">
                <a:solidFill>
                  <a:srgbClr val="FFFFFF"/>
                </a:solidFill>
                <a:latin typeface="Calibri"/>
                <a:ea typeface="Calibri"/>
                <a:cs typeface="Calibri"/>
                <a:sym typeface="Calibri"/>
              </a:rPr>
              <a:t>, </a:t>
            </a:r>
            <a:r>
              <a:rPr b="1" i="0" lang="en-US" sz="1300" u="none" cap="none" strike="noStrike">
                <a:solidFill>
                  <a:srgbClr val="F2C14E"/>
                </a:solidFill>
                <a:latin typeface="Calibri"/>
                <a:ea typeface="Calibri"/>
                <a:cs typeface="Calibri"/>
                <a:sym typeface="Calibri"/>
              </a:rPr>
              <a:t>when</a:t>
            </a:r>
            <a:r>
              <a:rPr b="0" i="0" lang="en-US" sz="1300" u="none" cap="none" strike="noStrike">
                <a:solidFill>
                  <a:srgbClr val="FFFFFF"/>
                </a:solidFill>
                <a:latin typeface="Calibri"/>
                <a:ea typeface="Calibri"/>
                <a:cs typeface="Calibri"/>
                <a:sym typeface="Calibri"/>
              </a:rPr>
              <a:t>, and </a:t>
            </a:r>
            <a:r>
              <a:rPr b="1" i="0" lang="en-US" sz="1300" u="none" cap="none" strike="noStrike">
                <a:solidFill>
                  <a:srgbClr val="F2C14E"/>
                </a:solidFill>
                <a:latin typeface="Calibri"/>
                <a:ea typeface="Calibri"/>
                <a:cs typeface="Calibri"/>
                <a:sym typeface="Calibri"/>
              </a:rPr>
              <a:t>what it feels like</a:t>
            </a:r>
            <a:r>
              <a:rPr b="0"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78" name="Google Shape;178;p6"/>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Copy all 3 boxes (PLACE, TIME, MOOD) + the HOW TO SPOT IT rule.</a:t>
            </a:r>
            <a:endParaRPr b="0" i="0" sz="1200" u="none" cap="none" strike="noStrike">
              <a:solidFill>
                <a:schemeClr val="dk1"/>
              </a:solidFill>
              <a:latin typeface="Calibri"/>
              <a:ea typeface="Calibri"/>
              <a:cs typeface="Calibri"/>
              <a:sym typeface="Calibri"/>
            </a:endParaRPr>
          </a:p>
        </p:txBody>
      </p:sp>
      <p:sp>
        <p:nvSpPr>
          <p:cNvPr id="179" name="Google Shape;179;p6"/>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6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7"/>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186" name="Google Shape;186;p7"/>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What is PLOT?</a:t>
            </a:r>
            <a:endParaRPr b="0" i="0" sz="2600" u="none" cap="none" strike="noStrike">
              <a:solidFill>
                <a:schemeClr val="dk1"/>
              </a:solidFill>
              <a:latin typeface="Calibri"/>
              <a:ea typeface="Calibri"/>
              <a:cs typeface="Calibri"/>
              <a:sym typeface="Calibri"/>
            </a:endParaRPr>
          </a:p>
        </p:txBody>
      </p:sp>
      <p:sp>
        <p:nvSpPr>
          <p:cNvPr id="187" name="Google Shape;187;p7"/>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6 MIN</a:t>
            </a:r>
            <a:endParaRPr b="0" i="0" sz="1400" u="none" cap="none" strike="noStrike">
              <a:solidFill>
                <a:schemeClr val="dk1"/>
              </a:solidFill>
              <a:latin typeface="Calibri"/>
              <a:ea typeface="Calibri"/>
              <a:cs typeface="Calibri"/>
              <a:sym typeface="Calibri"/>
            </a:endParaRPr>
          </a:p>
        </p:txBody>
      </p:sp>
      <p:sp>
        <p:nvSpPr>
          <p:cNvPr id="189" name="Google Shape;189;p7"/>
          <p:cNvSpPr/>
          <p:nvPr/>
        </p:nvSpPr>
        <p:spPr>
          <a:xfrm>
            <a:off x="365760" y="932688"/>
            <a:ext cx="233172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365760" y="932688"/>
            <a:ext cx="2331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191" name="Google Shape;191;p7"/>
          <p:cNvSpPr/>
          <p:nvPr/>
        </p:nvSpPr>
        <p:spPr>
          <a:xfrm>
            <a:off x="365760" y="1417320"/>
            <a:ext cx="8412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Georgia"/>
              <a:buNone/>
            </a:pPr>
            <a:r>
              <a:rPr b="0" i="1" lang="en-US" sz="1400" u="none" cap="none" strike="noStrike">
                <a:solidFill>
                  <a:srgbClr val="1E2761"/>
                </a:solidFill>
                <a:latin typeface="Georgia"/>
                <a:ea typeface="Georgia"/>
                <a:cs typeface="Georgia"/>
                <a:sym typeface="Georgia"/>
              </a:rPr>
              <a:t>Plot = the SEQUENCE of events. Every story moves through 5 stages.</a:t>
            </a:r>
            <a:endParaRPr b="0" i="0" sz="1400" u="none" cap="none" strike="noStrike">
              <a:solidFill>
                <a:schemeClr val="dk1"/>
              </a:solidFill>
              <a:latin typeface="Calibri"/>
              <a:ea typeface="Calibri"/>
              <a:cs typeface="Calibri"/>
              <a:sym typeface="Calibri"/>
            </a:endParaRPr>
          </a:p>
        </p:txBody>
      </p:sp>
      <p:cxnSp>
        <p:nvCxnSpPr>
          <p:cNvPr id="192" name="Google Shape;192;p7"/>
          <p:cNvCxnSpPr/>
          <p:nvPr/>
        </p:nvCxnSpPr>
        <p:spPr>
          <a:xfrm flipH="1" rot="10800000">
            <a:off x="822960" y="2057400"/>
            <a:ext cx="1645920" cy="274320"/>
          </a:xfrm>
          <a:prstGeom prst="straightConnector1">
            <a:avLst/>
          </a:prstGeom>
          <a:noFill/>
          <a:ln cap="flat" cmpd="sng" w="25400">
            <a:solidFill>
              <a:srgbClr val="1E2761"/>
            </a:solidFill>
            <a:prstDash val="solid"/>
            <a:round/>
            <a:headEnd len="sm" w="sm" type="none"/>
            <a:tailEnd len="sm" w="sm" type="none"/>
          </a:ln>
        </p:spPr>
      </p:cxnSp>
      <p:cxnSp>
        <p:nvCxnSpPr>
          <p:cNvPr id="193" name="Google Shape;193;p7"/>
          <p:cNvCxnSpPr/>
          <p:nvPr/>
        </p:nvCxnSpPr>
        <p:spPr>
          <a:xfrm flipH="1" rot="10800000">
            <a:off x="2468880" y="1783080"/>
            <a:ext cx="2103120" cy="274320"/>
          </a:xfrm>
          <a:prstGeom prst="straightConnector1">
            <a:avLst/>
          </a:prstGeom>
          <a:noFill/>
          <a:ln cap="flat" cmpd="sng" w="25400">
            <a:solidFill>
              <a:srgbClr val="1E2761"/>
            </a:solidFill>
            <a:prstDash val="solid"/>
            <a:round/>
            <a:headEnd len="sm" w="sm" type="none"/>
            <a:tailEnd len="sm" w="sm" type="none"/>
          </a:ln>
        </p:spPr>
      </p:cxnSp>
      <p:cxnSp>
        <p:nvCxnSpPr>
          <p:cNvPr id="194" name="Google Shape;194;p7"/>
          <p:cNvCxnSpPr/>
          <p:nvPr/>
        </p:nvCxnSpPr>
        <p:spPr>
          <a:xfrm>
            <a:off x="4572000" y="1783080"/>
            <a:ext cx="2103120" cy="274320"/>
          </a:xfrm>
          <a:prstGeom prst="straightConnector1">
            <a:avLst/>
          </a:prstGeom>
          <a:noFill/>
          <a:ln cap="flat" cmpd="sng" w="25400">
            <a:solidFill>
              <a:srgbClr val="1E2761"/>
            </a:solidFill>
            <a:prstDash val="solid"/>
            <a:round/>
            <a:headEnd len="sm" w="sm" type="none"/>
            <a:tailEnd len="sm" w="sm" type="none"/>
          </a:ln>
        </p:spPr>
      </p:cxnSp>
      <p:cxnSp>
        <p:nvCxnSpPr>
          <p:cNvPr id="195" name="Google Shape;195;p7"/>
          <p:cNvCxnSpPr/>
          <p:nvPr/>
        </p:nvCxnSpPr>
        <p:spPr>
          <a:xfrm>
            <a:off x="6675120" y="2057400"/>
            <a:ext cx="1645920" cy="274320"/>
          </a:xfrm>
          <a:prstGeom prst="straightConnector1">
            <a:avLst/>
          </a:prstGeom>
          <a:noFill/>
          <a:ln cap="flat" cmpd="sng" w="25400">
            <a:solidFill>
              <a:srgbClr val="1E2761"/>
            </a:solidFill>
            <a:prstDash val="solid"/>
            <a:round/>
            <a:headEnd len="sm" w="sm" type="none"/>
            <a:tailEnd len="sm" w="sm" type="none"/>
          </a:ln>
        </p:spPr>
      </p:cxnSp>
      <p:sp>
        <p:nvSpPr>
          <p:cNvPr id="196" name="Google Shape;196;p7"/>
          <p:cNvSpPr/>
          <p:nvPr/>
        </p:nvSpPr>
        <p:spPr>
          <a:xfrm>
            <a:off x="713232" y="2221992"/>
            <a:ext cx="219456" cy="219456"/>
          </a:xfrm>
          <a:prstGeom prst="ellipse">
            <a:avLst/>
          </a:prstGeom>
          <a:solidFill>
            <a:srgbClr val="F2C14E"/>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91440" y="2496312"/>
            <a:ext cx="1828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Arial Black"/>
              <a:buNone/>
            </a:pPr>
            <a:r>
              <a:rPr b="1" i="0" lang="en-US" sz="1000" u="none" cap="none" strike="noStrike">
                <a:solidFill>
                  <a:srgbClr val="1E2761"/>
                </a:solidFill>
                <a:latin typeface="Arial Black"/>
                <a:ea typeface="Arial Black"/>
                <a:cs typeface="Arial Black"/>
                <a:sym typeface="Arial Black"/>
              </a:rPr>
              <a:t>EXPOSITION</a:t>
            </a:r>
            <a:endParaRPr b="0" i="0" sz="1000" u="none" cap="none" strike="noStrike">
              <a:solidFill>
                <a:schemeClr val="dk1"/>
              </a:solidFill>
              <a:latin typeface="Calibri"/>
              <a:ea typeface="Calibri"/>
              <a:cs typeface="Calibri"/>
              <a:sym typeface="Calibri"/>
            </a:endParaRPr>
          </a:p>
        </p:txBody>
      </p:sp>
      <p:sp>
        <p:nvSpPr>
          <p:cNvPr id="198" name="Google Shape;198;p7"/>
          <p:cNvSpPr/>
          <p:nvPr/>
        </p:nvSpPr>
        <p:spPr>
          <a:xfrm>
            <a:off x="-91440" y="2697480"/>
            <a:ext cx="18288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900"/>
              <a:buFont typeface="Calibri"/>
              <a:buNone/>
            </a:pPr>
            <a:r>
              <a:rPr b="0" i="1" lang="en-US" sz="900" u="none" cap="none" strike="noStrike">
                <a:solidFill>
                  <a:srgbClr val="2C3A78"/>
                </a:solidFill>
                <a:latin typeface="Calibri"/>
                <a:ea typeface="Calibri"/>
                <a:cs typeface="Calibri"/>
                <a:sym typeface="Calibri"/>
              </a:rPr>
              <a:t>setup</a:t>
            </a:r>
            <a:endParaRPr b="0" i="0" sz="900" u="none" cap="none" strike="noStrike">
              <a:solidFill>
                <a:schemeClr val="dk1"/>
              </a:solidFill>
              <a:latin typeface="Calibri"/>
              <a:ea typeface="Calibri"/>
              <a:cs typeface="Calibri"/>
              <a:sym typeface="Calibri"/>
            </a:endParaRPr>
          </a:p>
        </p:txBody>
      </p:sp>
      <p:sp>
        <p:nvSpPr>
          <p:cNvPr id="199" name="Google Shape;199;p7"/>
          <p:cNvSpPr/>
          <p:nvPr/>
        </p:nvSpPr>
        <p:spPr>
          <a:xfrm>
            <a:off x="2359152" y="1947672"/>
            <a:ext cx="219456" cy="219456"/>
          </a:xfrm>
          <a:prstGeom prst="ellipse">
            <a:avLst/>
          </a:prstGeom>
          <a:solidFill>
            <a:srgbClr val="F2C14E"/>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1554480" y="2221992"/>
            <a:ext cx="1828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Arial Black"/>
              <a:buNone/>
            </a:pPr>
            <a:r>
              <a:rPr b="1" i="0" lang="en-US" sz="1000" u="none" cap="none" strike="noStrike">
                <a:solidFill>
                  <a:srgbClr val="1E2761"/>
                </a:solidFill>
                <a:latin typeface="Arial Black"/>
                <a:ea typeface="Arial Black"/>
                <a:cs typeface="Arial Black"/>
                <a:sym typeface="Arial Black"/>
              </a:rPr>
              <a:t>RISING ACTION</a:t>
            </a:r>
            <a:endParaRPr b="0" i="0" sz="1000" u="none" cap="none" strike="noStrike">
              <a:solidFill>
                <a:schemeClr val="dk1"/>
              </a:solidFill>
              <a:latin typeface="Calibri"/>
              <a:ea typeface="Calibri"/>
              <a:cs typeface="Calibri"/>
              <a:sym typeface="Calibri"/>
            </a:endParaRPr>
          </a:p>
        </p:txBody>
      </p:sp>
      <p:sp>
        <p:nvSpPr>
          <p:cNvPr id="201" name="Google Shape;201;p7"/>
          <p:cNvSpPr/>
          <p:nvPr/>
        </p:nvSpPr>
        <p:spPr>
          <a:xfrm>
            <a:off x="1554480" y="2423160"/>
            <a:ext cx="18288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900"/>
              <a:buFont typeface="Calibri"/>
              <a:buNone/>
            </a:pPr>
            <a:r>
              <a:rPr b="0" i="1" lang="en-US" sz="900" u="none" cap="none" strike="noStrike">
                <a:solidFill>
                  <a:srgbClr val="2C3A78"/>
                </a:solidFill>
                <a:latin typeface="Calibri"/>
                <a:ea typeface="Calibri"/>
                <a:cs typeface="Calibri"/>
                <a:sym typeface="Calibri"/>
              </a:rPr>
              <a:t>tension builds</a:t>
            </a:r>
            <a:endParaRPr b="0" i="0" sz="900" u="none" cap="none" strike="noStrike">
              <a:solidFill>
                <a:schemeClr val="dk1"/>
              </a:solidFill>
              <a:latin typeface="Calibri"/>
              <a:ea typeface="Calibri"/>
              <a:cs typeface="Calibri"/>
              <a:sym typeface="Calibri"/>
            </a:endParaRPr>
          </a:p>
        </p:txBody>
      </p:sp>
      <p:sp>
        <p:nvSpPr>
          <p:cNvPr id="202" name="Google Shape;202;p7"/>
          <p:cNvSpPr/>
          <p:nvPr/>
        </p:nvSpPr>
        <p:spPr>
          <a:xfrm>
            <a:off x="4462272" y="1673352"/>
            <a:ext cx="219456" cy="219456"/>
          </a:xfrm>
          <a:prstGeom prst="ellipse">
            <a:avLst/>
          </a:prstGeom>
          <a:solidFill>
            <a:srgbClr val="F2C14E"/>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3657600" y="1947672"/>
            <a:ext cx="1828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Arial Black"/>
              <a:buNone/>
            </a:pPr>
            <a:r>
              <a:rPr b="1" i="0" lang="en-US" sz="1000" u="none" cap="none" strike="noStrike">
                <a:solidFill>
                  <a:srgbClr val="1E2761"/>
                </a:solidFill>
                <a:latin typeface="Arial Black"/>
                <a:ea typeface="Arial Black"/>
                <a:cs typeface="Arial Black"/>
                <a:sym typeface="Arial Black"/>
              </a:rPr>
              <a:t>CLIMAX</a:t>
            </a:r>
            <a:endParaRPr b="0" i="0" sz="1000" u="none" cap="none" strike="noStrike">
              <a:solidFill>
                <a:schemeClr val="dk1"/>
              </a:solidFill>
              <a:latin typeface="Calibri"/>
              <a:ea typeface="Calibri"/>
              <a:cs typeface="Calibri"/>
              <a:sym typeface="Calibri"/>
            </a:endParaRPr>
          </a:p>
        </p:txBody>
      </p:sp>
      <p:sp>
        <p:nvSpPr>
          <p:cNvPr id="204" name="Google Shape;204;p7"/>
          <p:cNvSpPr/>
          <p:nvPr/>
        </p:nvSpPr>
        <p:spPr>
          <a:xfrm>
            <a:off x="3657600" y="2148840"/>
            <a:ext cx="18288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900"/>
              <a:buFont typeface="Calibri"/>
              <a:buNone/>
            </a:pPr>
            <a:r>
              <a:rPr b="0" i="1" lang="en-US" sz="900" u="none" cap="none" strike="noStrike">
                <a:solidFill>
                  <a:srgbClr val="2C3A78"/>
                </a:solidFill>
                <a:latin typeface="Calibri"/>
                <a:ea typeface="Calibri"/>
                <a:cs typeface="Calibri"/>
                <a:sym typeface="Calibri"/>
              </a:rPr>
              <a:t>peak / turning point</a:t>
            </a:r>
            <a:endParaRPr b="0" i="0" sz="900" u="none" cap="none" strike="noStrike">
              <a:solidFill>
                <a:schemeClr val="dk1"/>
              </a:solidFill>
              <a:latin typeface="Calibri"/>
              <a:ea typeface="Calibri"/>
              <a:cs typeface="Calibri"/>
              <a:sym typeface="Calibri"/>
            </a:endParaRPr>
          </a:p>
        </p:txBody>
      </p:sp>
      <p:sp>
        <p:nvSpPr>
          <p:cNvPr id="205" name="Google Shape;205;p7"/>
          <p:cNvSpPr/>
          <p:nvPr/>
        </p:nvSpPr>
        <p:spPr>
          <a:xfrm>
            <a:off x="6565392" y="1947672"/>
            <a:ext cx="219456" cy="219456"/>
          </a:xfrm>
          <a:prstGeom prst="ellipse">
            <a:avLst/>
          </a:prstGeom>
          <a:solidFill>
            <a:srgbClr val="F2C14E"/>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5760720" y="2221992"/>
            <a:ext cx="1828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Arial Black"/>
              <a:buNone/>
            </a:pPr>
            <a:r>
              <a:rPr b="1" i="0" lang="en-US" sz="1000" u="none" cap="none" strike="noStrike">
                <a:solidFill>
                  <a:srgbClr val="1E2761"/>
                </a:solidFill>
                <a:latin typeface="Arial Black"/>
                <a:ea typeface="Arial Black"/>
                <a:cs typeface="Arial Black"/>
                <a:sym typeface="Arial Black"/>
              </a:rPr>
              <a:t>FALLING ACTION</a:t>
            </a:r>
            <a:endParaRPr b="0" i="0" sz="1000" u="none" cap="none" strike="noStrike">
              <a:solidFill>
                <a:schemeClr val="dk1"/>
              </a:solidFill>
              <a:latin typeface="Calibri"/>
              <a:ea typeface="Calibri"/>
              <a:cs typeface="Calibri"/>
              <a:sym typeface="Calibri"/>
            </a:endParaRPr>
          </a:p>
        </p:txBody>
      </p:sp>
      <p:sp>
        <p:nvSpPr>
          <p:cNvPr id="207" name="Google Shape;207;p7"/>
          <p:cNvSpPr/>
          <p:nvPr/>
        </p:nvSpPr>
        <p:spPr>
          <a:xfrm>
            <a:off x="5760720" y="2423160"/>
            <a:ext cx="18288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900"/>
              <a:buFont typeface="Calibri"/>
              <a:buNone/>
            </a:pPr>
            <a:r>
              <a:rPr b="0" i="1" lang="en-US" sz="900" u="none" cap="none" strike="noStrike">
                <a:solidFill>
                  <a:srgbClr val="2C3A78"/>
                </a:solidFill>
                <a:latin typeface="Calibri"/>
                <a:ea typeface="Calibri"/>
                <a:cs typeface="Calibri"/>
                <a:sym typeface="Calibri"/>
              </a:rPr>
              <a:t>consequences</a:t>
            </a:r>
            <a:endParaRPr b="0" i="0" sz="900" u="none" cap="none" strike="noStrike">
              <a:solidFill>
                <a:schemeClr val="dk1"/>
              </a:solidFill>
              <a:latin typeface="Calibri"/>
              <a:ea typeface="Calibri"/>
              <a:cs typeface="Calibri"/>
              <a:sym typeface="Calibri"/>
            </a:endParaRPr>
          </a:p>
        </p:txBody>
      </p:sp>
      <p:sp>
        <p:nvSpPr>
          <p:cNvPr id="208" name="Google Shape;208;p7"/>
          <p:cNvSpPr/>
          <p:nvPr/>
        </p:nvSpPr>
        <p:spPr>
          <a:xfrm>
            <a:off x="8211312" y="2221992"/>
            <a:ext cx="219456" cy="219456"/>
          </a:xfrm>
          <a:prstGeom prst="ellipse">
            <a:avLst/>
          </a:prstGeom>
          <a:solidFill>
            <a:srgbClr val="F2C14E"/>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7406640" y="2496312"/>
            <a:ext cx="1828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Arial Black"/>
              <a:buNone/>
            </a:pPr>
            <a:r>
              <a:rPr b="1" i="0" lang="en-US" sz="1000" u="none" cap="none" strike="noStrike">
                <a:solidFill>
                  <a:srgbClr val="1E2761"/>
                </a:solidFill>
                <a:latin typeface="Arial Black"/>
                <a:ea typeface="Arial Black"/>
                <a:cs typeface="Arial Black"/>
                <a:sym typeface="Arial Black"/>
              </a:rPr>
              <a:t>RESOLUTION</a:t>
            </a:r>
            <a:endParaRPr b="0" i="0" sz="1000" u="none" cap="none" strike="noStrike">
              <a:solidFill>
                <a:schemeClr val="dk1"/>
              </a:solidFill>
              <a:latin typeface="Calibri"/>
              <a:ea typeface="Calibri"/>
              <a:cs typeface="Calibri"/>
              <a:sym typeface="Calibri"/>
            </a:endParaRPr>
          </a:p>
        </p:txBody>
      </p:sp>
      <p:sp>
        <p:nvSpPr>
          <p:cNvPr id="210" name="Google Shape;210;p7"/>
          <p:cNvSpPr/>
          <p:nvPr/>
        </p:nvSpPr>
        <p:spPr>
          <a:xfrm>
            <a:off x="7406640" y="2697480"/>
            <a:ext cx="18288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900"/>
              <a:buFont typeface="Calibri"/>
              <a:buNone/>
            </a:pPr>
            <a:r>
              <a:rPr b="0" i="1" lang="en-US" sz="900" u="none" cap="none" strike="noStrike">
                <a:solidFill>
                  <a:srgbClr val="2C3A78"/>
                </a:solidFill>
                <a:latin typeface="Calibri"/>
                <a:ea typeface="Calibri"/>
                <a:cs typeface="Calibri"/>
                <a:sym typeface="Calibri"/>
              </a:rPr>
              <a:t>ending</a:t>
            </a:r>
            <a:endParaRPr b="0" i="0" sz="900" u="none" cap="none" strike="noStrike">
              <a:solidFill>
                <a:schemeClr val="dk1"/>
              </a:solidFill>
              <a:latin typeface="Calibri"/>
              <a:ea typeface="Calibri"/>
              <a:cs typeface="Calibri"/>
              <a:sym typeface="Calibri"/>
            </a:endParaRPr>
          </a:p>
        </p:txBody>
      </p:sp>
      <p:sp>
        <p:nvSpPr>
          <p:cNvPr id="211" name="Google Shape;211;p7"/>
          <p:cNvSpPr/>
          <p:nvPr/>
        </p:nvSpPr>
        <p:spPr>
          <a:xfrm>
            <a:off x="365760" y="3337560"/>
            <a:ext cx="8412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WHAT IT LOOKS LIKE IN "THE MOST DANGEROUS GAME":</a:t>
            </a:r>
            <a:endParaRPr b="0" i="0" sz="1100" u="none" cap="none" strike="noStrike">
              <a:solidFill>
                <a:schemeClr val="dk1"/>
              </a:solidFill>
              <a:latin typeface="Calibri"/>
              <a:ea typeface="Calibri"/>
              <a:cs typeface="Calibri"/>
              <a:sym typeface="Calibri"/>
            </a:endParaRPr>
          </a:p>
        </p:txBody>
      </p:sp>
      <p:sp>
        <p:nvSpPr>
          <p:cNvPr id="212" name="Google Shape;212;p7"/>
          <p:cNvSpPr/>
          <p:nvPr/>
        </p:nvSpPr>
        <p:spPr>
          <a:xfrm>
            <a:off x="114300" y="3657600"/>
            <a:ext cx="1417320" cy="960120"/>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160020" y="3703320"/>
            <a:ext cx="274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100"/>
              <a:buFont typeface="Arial Black"/>
              <a:buNone/>
            </a:pPr>
            <a:r>
              <a:rPr b="1" i="0" lang="en-US" sz="1100" u="none" cap="none" strike="noStrike">
                <a:solidFill>
                  <a:srgbClr val="8C6D14"/>
                </a:solidFill>
                <a:latin typeface="Arial Black"/>
                <a:ea typeface="Arial Black"/>
                <a:cs typeface="Arial Black"/>
                <a:sym typeface="Arial Black"/>
              </a:rPr>
              <a:t>1</a:t>
            </a:r>
            <a:endParaRPr b="0" i="0" sz="1100" u="none" cap="none" strike="noStrike">
              <a:solidFill>
                <a:schemeClr val="dk1"/>
              </a:solidFill>
              <a:latin typeface="Calibri"/>
              <a:ea typeface="Calibri"/>
              <a:cs typeface="Calibri"/>
              <a:sym typeface="Calibri"/>
            </a:endParaRPr>
          </a:p>
        </p:txBody>
      </p:sp>
      <p:sp>
        <p:nvSpPr>
          <p:cNvPr id="214" name="Google Shape;214;p7"/>
          <p:cNvSpPr/>
          <p:nvPr/>
        </p:nvSpPr>
        <p:spPr>
          <a:xfrm>
            <a:off x="187452" y="3931920"/>
            <a:ext cx="1271016"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Yacht talk re: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Ship-Trap Island</a:t>
            </a:r>
            <a:endParaRPr b="0" i="0" sz="1000" u="none" cap="none" strike="noStrike">
              <a:solidFill>
                <a:schemeClr val="dk1"/>
              </a:solidFill>
              <a:latin typeface="Calibri"/>
              <a:ea typeface="Calibri"/>
              <a:cs typeface="Calibri"/>
              <a:sym typeface="Calibri"/>
            </a:endParaRPr>
          </a:p>
        </p:txBody>
      </p:sp>
      <p:sp>
        <p:nvSpPr>
          <p:cNvPr id="215" name="Google Shape;215;p7"/>
          <p:cNvSpPr/>
          <p:nvPr/>
        </p:nvSpPr>
        <p:spPr>
          <a:xfrm>
            <a:off x="1760220" y="3657600"/>
            <a:ext cx="1417320" cy="960120"/>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1805940" y="3703320"/>
            <a:ext cx="274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100"/>
              <a:buFont typeface="Arial Black"/>
              <a:buNone/>
            </a:pPr>
            <a:r>
              <a:rPr b="1" i="0" lang="en-US" sz="1100" u="none" cap="none" strike="noStrike">
                <a:solidFill>
                  <a:srgbClr val="8C6D14"/>
                </a:solidFill>
                <a:latin typeface="Arial Black"/>
                <a:ea typeface="Arial Black"/>
                <a:cs typeface="Arial Black"/>
                <a:sym typeface="Arial Black"/>
              </a:rPr>
              <a:t>2</a:t>
            </a:r>
            <a:endParaRPr b="0" i="0" sz="1100" u="none" cap="none" strike="noStrike">
              <a:solidFill>
                <a:schemeClr val="dk1"/>
              </a:solidFill>
              <a:latin typeface="Calibri"/>
              <a:ea typeface="Calibri"/>
              <a:cs typeface="Calibri"/>
              <a:sym typeface="Calibri"/>
            </a:endParaRPr>
          </a:p>
        </p:txBody>
      </p:sp>
      <p:sp>
        <p:nvSpPr>
          <p:cNvPr id="217" name="Google Shape;217;p7"/>
          <p:cNvSpPr/>
          <p:nvPr/>
        </p:nvSpPr>
        <p:spPr>
          <a:xfrm>
            <a:off x="1833372" y="3931920"/>
            <a:ext cx="1271016"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Rainsford falls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overboard, meets Zaroff</a:t>
            </a:r>
            <a:endParaRPr b="0" i="0" sz="1000" u="none" cap="none" strike="noStrike">
              <a:solidFill>
                <a:schemeClr val="dk1"/>
              </a:solidFill>
              <a:latin typeface="Calibri"/>
              <a:ea typeface="Calibri"/>
              <a:cs typeface="Calibri"/>
              <a:sym typeface="Calibri"/>
            </a:endParaRPr>
          </a:p>
        </p:txBody>
      </p:sp>
      <p:sp>
        <p:nvSpPr>
          <p:cNvPr id="218" name="Google Shape;218;p7"/>
          <p:cNvSpPr/>
          <p:nvPr/>
        </p:nvSpPr>
        <p:spPr>
          <a:xfrm>
            <a:off x="3863340" y="3657600"/>
            <a:ext cx="1417320" cy="960120"/>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3909060" y="3703320"/>
            <a:ext cx="274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100"/>
              <a:buFont typeface="Arial Black"/>
              <a:buNone/>
            </a:pPr>
            <a:r>
              <a:rPr b="1" i="0" lang="en-US" sz="1100" u="none" cap="none" strike="noStrike">
                <a:solidFill>
                  <a:srgbClr val="8C6D14"/>
                </a:solidFill>
                <a:latin typeface="Arial Black"/>
                <a:ea typeface="Arial Black"/>
                <a:cs typeface="Arial Black"/>
                <a:sym typeface="Arial Black"/>
              </a:rPr>
              <a:t>3</a:t>
            </a:r>
            <a:endParaRPr b="0" i="0" sz="1100" u="none" cap="none" strike="noStrike">
              <a:solidFill>
                <a:schemeClr val="dk1"/>
              </a:solidFill>
              <a:latin typeface="Calibri"/>
              <a:ea typeface="Calibri"/>
              <a:cs typeface="Calibri"/>
              <a:sym typeface="Calibri"/>
            </a:endParaRPr>
          </a:p>
        </p:txBody>
      </p:sp>
      <p:sp>
        <p:nvSpPr>
          <p:cNvPr id="220" name="Google Shape;220;p7"/>
          <p:cNvSpPr/>
          <p:nvPr/>
        </p:nvSpPr>
        <p:spPr>
          <a:xfrm>
            <a:off x="3936492" y="3931920"/>
            <a:ext cx="1271016"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Rainsford &amp; Zaroff</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final confrontation</a:t>
            </a:r>
            <a:endParaRPr b="0" i="0" sz="1000" u="none" cap="none" strike="noStrike">
              <a:solidFill>
                <a:schemeClr val="dk1"/>
              </a:solidFill>
              <a:latin typeface="Calibri"/>
              <a:ea typeface="Calibri"/>
              <a:cs typeface="Calibri"/>
              <a:sym typeface="Calibri"/>
            </a:endParaRPr>
          </a:p>
        </p:txBody>
      </p:sp>
      <p:sp>
        <p:nvSpPr>
          <p:cNvPr id="221" name="Google Shape;221;p7"/>
          <p:cNvSpPr/>
          <p:nvPr/>
        </p:nvSpPr>
        <p:spPr>
          <a:xfrm>
            <a:off x="5966460" y="3657600"/>
            <a:ext cx="1417320" cy="960120"/>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6012180" y="3703320"/>
            <a:ext cx="274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100"/>
              <a:buFont typeface="Arial Black"/>
              <a:buNone/>
            </a:pPr>
            <a:r>
              <a:rPr b="1" i="0" lang="en-US" sz="1100" u="none" cap="none" strike="noStrike">
                <a:solidFill>
                  <a:srgbClr val="8C6D14"/>
                </a:solidFill>
                <a:latin typeface="Arial Black"/>
                <a:ea typeface="Arial Black"/>
                <a:cs typeface="Arial Black"/>
                <a:sym typeface="Arial Black"/>
              </a:rPr>
              <a:t>4</a:t>
            </a:r>
            <a:endParaRPr b="0" i="0" sz="1100" u="none" cap="none" strike="noStrike">
              <a:solidFill>
                <a:schemeClr val="dk1"/>
              </a:solidFill>
              <a:latin typeface="Calibri"/>
              <a:ea typeface="Calibri"/>
              <a:cs typeface="Calibri"/>
              <a:sym typeface="Calibri"/>
            </a:endParaRPr>
          </a:p>
        </p:txBody>
      </p:sp>
      <p:sp>
        <p:nvSpPr>
          <p:cNvPr id="223" name="Google Shape;223;p7"/>
          <p:cNvSpPr/>
          <p:nvPr/>
        </p:nvSpPr>
        <p:spPr>
          <a:xfrm>
            <a:off x="6039612" y="3931920"/>
            <a:ext cx="1271016"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Zaroff is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defeated</a:t>
            </a:r>
            <a:endParaRPr b="0" i="0" sz="1000" u="none" cap="none" strike="noStrike">
              <a:solidFill>
                <a:schemeClr val="dk1"/>
              </a:solidFill>
              <a:latin typeface="Calibri"/>
              <a:ea typeface="Calibri"/>
              <a:cs typeface="Calibri"/>
              <a:sym typeface="Calibri"/>
            </a:endParaRPr>
          </a:p>
        </p:txBody>
      </p:sp>
      <p:sp>
        <p:nvSpPr>
          <p:cNvPr id="224" name="Google Shape;224;p7"/>
          <p:cNvSpPr/>
          <p:nvPr/>
        </p:nvSpPr>
        <p:spPr>
          <a:xfrm>
            <a:off x="7612380" y="3657600"/>
            <a:ext cx="1417320" cy="960120"/>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7658100" y="3703320"/>
            <a:ext cx="274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100"/>
              <a:buFont typeface="Arial Black"/>
              <a:buNone/>
            </a:pPr>
            <a:r>
              <a:rPr b="1" i="0" lang="en-US" sz="1100" u="none" cap="none" strike="noStrike">
                <a:solidFill>
                  <a:srgbClr val="8C6D14"/>
                </a:solidFill>
                <a:latin typeface="Arial Black"/>
                <a:ea typeface="Arial Black"/>
                <a:cs typeface="Arial Black"/>
                <a:sym typeface="Arial Black"/>
              </a:rPr>
              <a:t>5</a:t>
            </a:r>
            <a:endParaRPr b="0" i="0" sz="1100" u="none" cap="none" strike="noStrike">
              <a:solidFill>
                <a:schemeClr val="dk1"/>
              </a:solidFill>
              <a:latin typeface="Calibri"/>
              <a:ea typeface="Calibri"/>
              <a:cs typeface="Calibri"/>
              <a:sym typeface="Calibri"/>
            </a:endParaRPr>
          </a:p>
        </p:txBody>
      </p:sp>
      <p:sp>
        <p:nvSpPr>
          <p:cNvPr id="226" name="Google Shape;226;p7"/>
          <p:cNvSpPr/>
          <p:nvPr/>
        </p:nvSpPr>
        <p:spPr>
          <a:xfrm>
            <a:off x="7685532" y="3931920"/>
            <a:ext cx="1271016"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Rainsford sleeps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in Zaroff's bed</a:t>
            </a:r>
            <a:endParaRPr b="0" i="0" sz="1000" u="none" cap="none" strike="noStrike">
              <a:solidFill>
                <a:schemeClr val="dk1"/>
              </a:solidFill>
              <a:latin typeface="Calibri"/>
              <a:ea typeface="Calibri"/>
              <a:cs typeface="Calibri"/>
              <a:sym typeface="Calibri"/>
            </a:endParaRPr>
          </a:p>
        </p:txBody>
      </p:sp>
      <p:sp>
        <p:nvSpPr>
          <p:cNvPr id="227" name="Google Shape;227;p7"/>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Draw the plot mountain. Label all 5 stages. Add TMDG examples under each.</a:t>
            </a:r>
            <a:endParaRPr b="0" i="0" sz="1200" u="none" cap="none" strike="noStrike">
              <a:solidFill>
                <a:schemeClr val="dk1"/>
              </a:solidFill>
              <a:latin typeface="Calibri"/>
              <a:ea typeface="Calibri"/>
              <a:cs typeface="Calibri"/>
              <a:sym typeface="Calibri"/>
            </a:endParaRPr>
          </a:p>
        </p:txBody>
      </p:sp>
      <p:sp>
        <p:nvSpPr>
          <p:cNvPr id="228" name="Google Shape;228;p7"/>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7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8"/>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235" name="Google Shape;235;p8"/>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Vocabulary Anchor — TMDG</a:t>
            </a:r>
            <a:endParaRPr b="0" i="0" sz="2600" u="none" cap="none" strike="noStrike">
              <a:solidFill>
                <a:schemeClr val="dk1"/>
              </a:solidFill>
              <a:latin typeface="Calibri"/>
              <a:ea typeface="Calibri"/>
              <a:cs typeface="Calibri"/>
              <a:sym typeface="Calibri"/>
            </a:endParaRPr>
          </a:p>
        </p:txBody>
      </p:sp>
      <p:sp>
        <p:nvSpPr>
          <p:cNvPr id="236" name="Google Shape;236;p8"/>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5 MIN</a:t>
            </a:r>
            <a:endParaRPr b="0" i="0" sz="1400" u="none" cap="none" strike="noStrike">
              <a:solidFill>
                <a:schemeClr val="dk1"/>
              </a:solidFill>
              <a:latin typeface="Calibri"/>
              <a:ea typeface="Calibri"/>
              <a:cs typeface="Calibri"/>
              <a:sym typeface="Calibri"/>
            </a:endParaRPr>
          </a:p>
        </p:txBody>
      </p:sp>
      <p:sp>
        <p:nvSpPr>
          <p:cNvPr id="238" name="Google Shape;238;p8"/>
          <p:cNvSpPr/>
          <p:nvPr/>
        </p:nvSpPr>
        <p:spPr>
          <a:xfrm>
            <a:off x="365760" y="932688"/>
            <a:ext cx="260604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365760" y="932688"/>
            <a:ext cx="26060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VOCAB → NOTES COLUMN</a:t>
            </a:r>
            <a:endParaRPr b="0" i="0" sz="1100" u="none" cap="none" strike="noStrike">
              <a:solidFill>
                <a:schemeClr val="dk1"/>
              </a:solidFill>
              <a:latin typeface="Calibri"/>
              <a:ea typeface="Calibri"/>
              <a:cs typeface="Calibri"/>
              <a:sym typeface="Calibri"/>
            </a:endParaRPr>
          </a:p>
        </p:txBody>
      </p:sp>
      <p:sp>
        <p:nvSpPr>
          <p:cNvPr id="240" name="Google Shape;240;p8"/>
          <p:cNvSpPr/>
          <p:nvPr/>
        </p:nvSpPr>
        <p:spPr>
          <a:xfrm>
            <a:off x="365760" y="1417320"/>
            <a:ext cx="8412480" cy="3246120"/>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502920" y="155448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000"/>
              <a:buFont typeface="Calibri"/>
              <a:buNone/>
            </a:pPr>
            <a:r>
              <a:rPr b="1" i="0" lang="en-US" sz="1000" u="none" cap="none" strike="noStrike">
                <a:solidFill>
                  <a:srgbClr val="8AA0C9"/>
                </a:solidFill>
                <a:latin typeface="Calibri"/>
                <a:ea typeface="Calibri"/>
                <a:cs typeface="Calibri"/>
                <a:sym typeface="Calibri"/>
              </a:rPr>
              <a:t>WORD</a:t>
            </a:r>
            <a:endParaRPr b="0" i="0" sz="1000" u="none" cap="none" strike="noStrike">
              <a:solidFill>
                <a:schemeClr val="dk1"/>
              </a:solidFill>
              <a:latin typeface="Calibri"/>
              <a:ea typeface="Calibri"/>
              <a:cs typeface="Calibri"/>
              <a:sym typeface="Calibri"/>
            </a:endParaRPr>
          </a:p>
        </p:txBody>
      </p:sp>
      <p:sp>
        <p:nvSpPr>
          <p:cNvPr id="242" name="Google Shape;242;p8"/>
          <p:cNvSpPr/>
          <p:nvPr/>
        </p:nvSpPr>
        <p:spPr>
          <a:xfrm>
            <a:off x="1874520" y="1554480"/>
            <a:ext cx="548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000"/>
              <a:buFont typeface="Calibri"/>
              <a:buNone/>
            </a:pPr>
            <a:r>
              <a:rPr b="1" i="0" lang="en-US" sz="1000" u="none" cap="none" strike="noStrike">
                <a:solidFill>
                  <a:srgbClr val="8AA0C9"/>
                </a:solidFill>
                <a:latin typeface="Calibri"/>
                <a:ea typeface="Calibri"/>
                <a:cs typeface="Calibri"/>
                <a:sym typeface="Calibri"/>
              </a:rPr>
              <a:t>POS</a:t>
            </a:r>
            <a:endParaRPr b="0" i="0" sz="1000" u="none" cap="none" strike="noStrike">
              <a:solidFill>
                <a:schemeClr val="dk1"/>
              </a:solidFill>
              <a:latin typeface="Calibri"/>
              <a:ea typeface="Calibri"/>
              <a:cs typeface="Calibri"/>
              <a:sym typeface="Calibri"/>
            </a:endParaRPr>
          </a:p>
        </p:txBody>
      </p:sp>
      <p:sp>
        <p:nvSpPr>
          <p:cNvPr id="243" name="Google Shape;243;p8"/>
          <p:cNvSpPr/>
          <p:nvPr/>
        </p:nvSpPr>
        <p:spPr>
          <a:xfrm>
            <a:off x="2468880" y="155448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000"/>
              <a:buFont typeface="Calibri"/>
              <a:buNone/>
            </a:pPr>
            <a:r>
              <a:rPr b="1" i="0" lang="en-US" sz="1000" u="none" cap="none" strike="noStrike">
                <a:solidFill>
                  <a:srgbClr val="8AA0C9"/>
                </a:solidFill>
                <a:latin typeface="Calibri"/>
                <a:ea typeface="Calibri"/>
                <a:cs typeface="Calibri"/>
                <a:sym typeface="Calibri"/>
              </a:rPr>
              <a:t>DEFINITION</a:t>
            </a:r>
            <a:endParaRPr b="0" i="0" sz="1000" u="none" cap="none" strike="noStrike">
              <a:solidFill>
                <a:schemeClr val="dk1"/>
              </a:solidFill>
              <a:latin typeface="Calibri"/>
              <a:ea typeface="Calibri"/>
              <a:cs typeface="Calibri"/>
              <a:sym typeface="Calibri"/>
            </a:endParaRPr>
          </a:p>
        </p:txBody>
      </p:sp>
      <p:sp>
        <p:nvSpPr>
          <p:cNvPr id="244" name="Google Shape;244;p8"/>
          <p:cNvSpPr/>
          <p:nvPr/>
        </p:nvSpPr>
        <p:spPr>
          <a:xfrm>
            <a:off x="5257800" y="15544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000"/>
              <a:buFont typeface="Calibri"/>
              <a:buNone/>
            </a:pPr>
            <a:r>
              <a:rPr b="1" i="0" lang="en-US" sz="1000" u="none" cap="none" strike="noStrike">
                <a:solidFill>
                  <a:srgbClr val="8AA0C9"/>
                </a:solidFill>
                <a:latin typeface="Calibri"/>
                <a:ea typeface="Calibri"/>
                <a:cs typeface="Calibri"/>
                <a:sym typeface="Calibri"/>
              </a:rPr>
              <a:t>EXAMPLE FROM TMDG</a:t>
            </a:r>
            <a:endParaRPr b="0" i="0" sz="1000" u="none" cap="none" strike="noStrike">
              <a:solidFill>
                <a:schemeClr val="dk1"/>
              </a:solidFill>
              <a:latin typeface="Calibri"/>
              <a:ea typeface="Calibri"/>
              <a:cs typeface="Calibri"/>
              <a:sym typeface="Calibri"/>
            </a:endParaRPr>
          </a:p>
        </p:txBody>
      </p:sp>
      <p:cxnSp>
        <p:nvCxnSpPr>
          <p:cNvPr id="245" name="Google Shape;245;p8"/>
          <p:cNvCxnSpPr/>
          <p:nvPr/>
        </p:nvCxnSpPr>
        <p:spPr>
          <a:xfrm>
            <a:off x="502920" y="1847088"/>
            <a:ext cx="8138160" cy="0"/>
          </a:xfrm>
          <a:prstGeom prst="straightConnector1">
            <a:avLst/>
          </a:prstGeom>
          <a:noFill/>
          <a:ln cap="flat" cmpd="sng" w="12700">
            <a:solidFill>
              <a:srgbClr val="F2C14E"/>
            </a:solidFill>
            <a:prstDash val="solid"/>
            <a:round/>
            <a:headEnd len="sm" w="sm" type="none"/>
            <a:tailEnd len="sm" w="sm" type="none"/>
          </a:ln>
        </p:spPr>
      </p:cxnSp>
      <p:sp>
        <p:nvSpPr>
          <p:cNvPr id="246" name="Google Shape;246;p8"/>
          <p:cNvSpPr/>
          <p:nvPr/>
        </p:nvSpPr>
        <p:spPr>
          <a:xfrm>
            <a:off x="338328" y="2084832"/>
            <a:ext cx="91440" cy="9144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502920" y="1938528"/>
            <a:ext cx="13716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Arial Black"/>
              <a:buNone/>
            </a:pPr>
            <a:r>
              <a:rPr b="1" i="0" lang="en-US" sz="1600" u="none" cap="none" strike="noStrike">
                <a:solidFill>
                  <a:srgbClr val="1E2761"/>
                </a:solidFill>
                <a:latin typeface="Arial Black"/>
                <a:ea typeface="Arial Black"/>
                <a:cs typeface="Arial Black"/>
                <a:sym typeface="Arial Black"/>
              </a:rPr>
              <a:t>palpable</a:t>
            </a:r>
            <a:endParaRPr b="0" i="0" sz="1600" u="none" cap="none" strike="noStrike">
              <a:solidFill>
                <a:schemeClr val="dk1"/>
              </a:solidFill>
              <a:latin typeface="Calibri"/>
              <a:ea typeface="Calibri"/>
              <a:cs typeface="Calibri"/>
              <a:sym typeface="Calibri"/>
            </a:endParaRPr>
          </a:p>
        </p:txBody>
      </p:sp>
      <p:sp>
        <p:nvSpPr>
          <p:cNvPr id="248" name="Google Shape;248;p8"/>
          <p:cNvSpPr/>
          <p:nvPr/>
        </p:nvSpPr>
        <p:spPr>
          <a:xfrm>
            <a:off x="1874520" y="1938528"/>
            <a:ext cx="54864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0" i="1" lang="en-US" sz="1100" u="none" cap="none" strike="noStrike">
                <a:solidFill>
                  <a:srgbClr val="8AA0C9"/>
                </a:solidFill>
                <a:latin typeface="Calibri"/>
                <a:ea typeface="Calibri"/>
                <a:cs typeface="Calibri"/>
                <a:sym typeface="Calibri"/>
              </a:rPr>
              <a:t>adj.</a:t>
            </a:r>
            <a:endParaRPr b="0" i="0" sz="1100" u="none" cap="none" strike="noStrike">
              <a:solidFill>
                <a:schemeClr val="dk1"/>
              </a:solidFill>
              <a:latin typeface="Calibri"/>
              <a:ea typeface="Calibri"/>
              <a:cs typeface="Calibri"/>
              <a:sym typeface="Calibri"/>
            </a:endParaRPr>
          </a:p>
        </p:txBody>
      </p:sp>
      <p:sp>
        <p:nvSpPr>
          <p:cNvPr id="249" name="Google Shape;249;p8"/>
          <p:cNvSpPr/>
          <p:nvPr/>
        </p:nvSpPr>
        <p:spPr>
          <a:xfrm>
            <a:off x="2468880" y="1938528"/>
            <a:ext cx="27432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200"/>
              <a:buFont typeface="Calibri"/>
              <a:buNone/>
            </a:pPr>
            <a:r>
              <a:rPr b="0" i="0" lang="en-US" sz="1200" u="none" cap="none" strike="noStrike">
                <a:solidFill>
                  <a:srgbClr val="2C3A78"/>
                </a:solidFill>
                <a:latin typeface="Calibri"/>
                <a:ea typeface="Calibri"/>
                <a:cs typeface="Calibri"/>
                <a:sym typeface="Calibri"/>
              </a:rPr>
              <a:t>able to be felt or noticed</a:t>
            </a:r>
            <a:endParaRPr b="0" i="0" sz="1200" u="none" cap="none" strike="noStrike">
              <a:solidFill>
                <a:schemeClr val="dk1"/>
              </a:solidFill>
              <a:latin typeface="Calibri"/>
              <a:ea typeface="Calibri"/>
              <a:cs typeface="Calibri"/>
              <a:sym typeface="Calibri"/>
            </a:endParaRPr>
          </a:p>
        </p:txBody>
      </p:sp>
      <p:sp>
        <p:nvSpPr>
          <p:cNvPr id="250" name="Google Shape;250;p8"/>
          <p:cNvSpPr/>
          <p:nvPr/>
        </p:nvSpPr>
        <p:spPr>
          <a:xfrm>
            <a:off x="5257800" y="1938528"/>
            <a:ext cx="33832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"...the dank tropical night that was palpable..."</a:t>
            </a:r>
            <a:endParaRPr b="0" i="0" sz="1100" u="none" cap="none" strike="noStrike">
              <a:solidFill>
                <a:schemeClr val="dk1"/>
              </a:solidFill>
              <a:latin typeface="Calibri"/>
              <a:ea typeface="Calibri"/>
              <a:cs typeface="Calibri"/>
              <a:sym typeface="Calibri"/>
            </a:endParaRPr>
          </a:p>
        </p:txBody>
      </p:sp>
      <p:sp>
        <p:nvSpPr>
          <p:cNvPr id="251" name="Google Shape;251;p8"/>
          <p:cNvSpPr/>
          <p:nvPr/>
        </p:nvSpPr>
        <p:spPr>
          <a:xfrm>
            <a:off x="338328" y="2651760"/>
            <a:ext cx="91440" cy="9144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502920" y="2505456"/>
            <a:ext cx="13716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Arial Black"/>
              <a:buNone/>
            </a:pPr>
            <a:r>
              <a:rPr b="1" i="0" lang="en-US" sz="1600" u="none" cap="none" strike="noStrike">
                <a:solidFill>
                  <a:srgbClr val="1E2761"/>
                </a:solidFill>
                <a:latin typeface="Arial Black"/>
                <a:ea typeface="Arial Black"/>
                <a:cs typeface="Arial Black"/>
                <a:sym typeface="Arial Black"/>
              </a:rPr>
              <a:t>indolently</a:t>
            </a:r>
            <a:endParaRPr b="0" i="0" sz="1600" u="none" cap="none" strike="noStrike">
              <a:solidFill>
                <a:schemeClr val="dk1"/>
              </a:solidFill>
              <a:latin typeface="Calibri"/>
              <a:ea typeface="Calibri"/>
              <a:cs typeface="Calibri"/>
              <a:sym typeface="Calibri"/>
            </a:endParaRPr>
          </a:p>
        </p:txBody>
      </p:sp>
      <p:sp>
        <p:nvSpPr>
          <p:cNvPr id="253" name="Google Shape;253;p8"/>
          <p:cNvSpPr/>
          <p:nvPr/>
        </p:nvSpPr>
        <p:spPr>
          <a:xfrm>
            <a:off x="1874520" y="2505456"/>
            <a:ext cx="54864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0" i="1" lang="en-US" sz="1100" u="none" cap="none" strike="noStrike">
                <a:solidFill>
                  <a:srgbClr val="8AA0C9"/>
                </a:solidFill>
                <a:latin typeface="Calibri"/>
                <a:ea typeface="Calibri"/>
                <a:cs typeface="Calibri"/>
                <a:sym typeface="Calibri"/>
              </a:rPr>
              <a:t>adv.</a:t>
            </a:r>
            <a:endParaRPr b="0" i="0" sz="1100" u="none" cap="none" strike="noStrike">
              <a:solidFill>
                <a:schemeClr val="dk1"/>
              </a:solidFill>
              <a:latin typeface="Calibri"/>
              <a:ea typeface="Calibri"/>
              <a:cs typeface="Calibri"/>
              <a:sym typeface="Calibri"/>
            </a:endParaRPr>
          </a:p>
        </p:txBody>
      </p:sp>
      <p:sp>
        <p:nvSpPr>
          <p:cNvPr id="254" name="Google Shape;254;p8"/>
          <p:cNvSpPr/>
          <p:nvPr/>
        </p:nvSpPr>
        <p:spPr>
          <a:xfrm>
            <a:off x="2468880" y="2505456"/>
            <a:ext cx="27432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200"/>
              <a:buFont typeface="Calibri"/>
              <a:buNone/>
            </a:pPr>
            <a:r>
              <a:rPr b="0" i="0" lang="en-US" sz="1200" u="none" cap="none" strike="noStrike">
                <a:solidFill>
                  <a:srgbClr val="2C3A78"/>
                </a:solidFill>
                <a:latin typeface="Calibri"/>
                <a:ea typeface="Calibri"/>
                <a:cs typeface="Calibri"/>
                <a:sym typeface="Calibri"/>
              </a:rPr>
              <a:t>lazily; without much effort</a:t>
            </a:r>
            <a:endParaRPr b="0" i="0" sz="1200" u="none" cap="none" strike="noStrike">
              <a:solidFill>
                <a:schemeClr val="dk1"/>
              </a:solidFill>
              <a:latin typeface="Calibri"/>
              <a:ea typeface="Calibri"/>
              <a:cs typeface="Calibri"/>
              <a:sym typeface="Calibri"/>
            </a:endParaRPr>
          </a:p>
        </p:txBody>
      </p:sp>
      <p:sp>
        <p:nvSpPr>
          <p:cNvPr id="255" name="Google Shape;255;p8"/>
          <p:cNvSpPr/>
          <p:nvPr/>
        </p:nvSpPr>
        <p:spPr>
          <a:xfrm>
            <a:off x="5257800" y="2505456"/>
            <a:ext cx="33832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"Whitney swung indolently in the hammock."</a:t>
            </a:r>
            <a:endParaRPr b="0" i="0" sz="1100" u="none" cap="none" strike="noStrike">
              <a:solidFill>
                <a:schemeClr val="dk1"/>
              </a:solidFill>
              <a:latin typeface="Calibri"/>
              <a:ea typeface="Calibri"/>
              <a:cs typeface="Calibri"/>
              <a:sym typeface="Calibri"/>
            </a:endParaRPr>
          </a:p>
        </p:txBody>
      </p:sp>
      <p:sp>
        <p:nvSpPr>
          <p:cNvPr id="256" name="Google Shape;256;p8"/>
          <p:cNvSpPr/>
          <p:nvPr/>
        </p:nvSpPr>
        <p:spPr>
          <a:xfrm>
            <a:off x="338328" y="3218688"/>
            <a:ext cx="91440" cy="9144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p:nvPr/>
        </p:nvSpPr>
        <p:spPr>
          <a:xfrm>
            <a:off x="502920" y="3072384"/>
            <a:ext cx="13716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Arial Black"/>
              <a:buNone/>
            </a:pPr>
            <a:r>
              <a:rPr b="1" i="0" lang="en-US" sz="1600" u="none" cap="none" strike="noStrike">
                <a:solidFill>
                  <a:srgbClr val="1E2761"/>
                </a:solidFill>
                <a:latin typeface="Arial Black"/>
                <a:ea typeface="Arial Black"/>
                <a:cs typeface="Arial Black"/>
                <a:sym typeface="Arial Black"/>
              </a:rPr>
              <a:t>tangible</a:t>
            </a:r>
            <a:endParaRPr b="0" i="0" sz="1600" u="none" cap="none" strike="noStrike">
              <a:solidFill>
                <a:schemeClr val="dk1"/>
              </a:solidFill>
              <a:latin typeface="Calibri"/>
              <a:ea typeface="Calibri"/>
              <a:cs typeface="Calibri"/>
              <a:sym typeface="Calibri"/>
            </a:endParaRPr>
          </a:p>
        </p:txBody>
      </p:sp>
      <p:sp>
        <p:nvSpPr>
          <p:cNvPr id="258" name="Google Shape;258;p8"/>
          <p:cNvSpPr/>
          <p:nvPr/>
        </p:nvSpPr>
        <p:spPr>
          <a:xfrm>
            <a:off x="1874520" y="3072384"/>
            <a:ext cx="54864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0" i="1" lang="en-US" sz="1100" u="none" cap="none" strike="noStrike">
                <a:solidFill>
                  <a:srgbClr val="8AA0C9"/>
                </a:solidFill>
                <a:latin typeface="Calibri"/>
                <a:ea typeface="Calibri"/>
                <a:cs typeface="Calibri"/>
                <a:sym typeface="Calibri"/>
              </a:rPr>
              <a:t>adj.</a:t>
            </a:r>
            <a:endParaRPr b="0" i="0" sz="1100" u="none" cap="none" strike="noStrike">
              <a:solidFill>
                <a:schemeClr val="dk1"/>
              </a:solidFill>
              <a:latin typeface="Calibri"/>
              <a:ea typeface="Calibri"/>
              <a:cs typeface="Calibri"/>
              <a:sym typeface="Calibri"/>
            </a:endParaRPr>
          </a:p>
        </p:txBody>
      </p:sp>
      <p:sp>
        <p:nvSpPr>
          <p:cNvPr id="259" name="Google Shape;259;p8"/>
          <p:cNvSpPr/>
          <p:nvPr/>
        </p:nvSpPr>
        <p:spPr>
          <a:xfrm>
            <a:off x="2468880" y="3072384"/>
            <a:ext cx="27432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200"/>
              <a:buFont typeface="Calibri"/>
              <a:buNone/>
            </a:pPr>
            <a:r>
              <a:rPr b="0" i="0" lang="en-US" sz="1200" u="none" cap="none" strike="noStrike">
                <a:solidFill>
                  <a:srgbClr val="2C3A78"/>
                </a:solidFill>
                <a:latin typeface="Calibri"/>
                <a:ea typeface="Calibri"/>
                <a:cs typeface="Calibri"/>
                <a:sym typeface="Calibri"/>
              </a:rPr>
              <a:t>real, solid, able to be touched</a:t>
            </a:r>
            <a:endParaRPr b="0" i="0" sz="1200" u="none" cap="none" strike="noStrike">
              <a:solidFill>
                <a:schemeClr val="dk1"/>
              </a:solidFill>
              <a:latin typeface="Calibri"/>
              <a:ea typeface="Calibri"/>
              <a:cs typeface="Calibri"/>
              <a:sym typeface="Calibri"/>
            </a:endParaRPr>
          </a:p>
        </p:txBody>
      </p:sp>
      <p:sp>
        <p:nvSpPr>
          <p:cNvPr id="260" name="Google Shape;260;p8"/>
          <p:cNvSpPr/>
          <p:nvPr/>
        </p:nvSpPr>
        <p:spPr>
          <a:xfrm>
            <a:off x="5257800" y="3072384"/>
            <a:ext cx="33832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"There was no tangible reason for fear."</a:t>
            </a:r>
            <a:endParaRPr b="0" i="0" sz="1100" u="none" cap="none" strike="noStrike">
              <a:solidFill>
                <a:schemeClr val="dk1"/>
              </a:solidFill>
              <a:latin typeface="Calibri"/>
              <a:ea typeface="Calibri"/>
              <a:cs typeface="Calibri"/>
              <a:sym typeface="Calibri"/>
            </a:endParaRPr>
          </a:p>
        </p:txBody>
      </p:sp>
      <p:sp>
        <p:nvSpPr>
          <p:cNvPr id="261" name="Google Shape;261;p8"/>
          <p:cNvSpPr/>
          <p:nvPr/>
        </p:nvSpPr>
        <p:spPr>
          <a:xfrm>
            <a:off x="338328" y="3785616"/>
            <a:ext cx="91440" cy="9144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502920" y="3639312"/>
            <a:ext cx="13716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Arial Black"/>
              <a:buNone/>
            </a:pPr>
            <a:r>
              <a:rPr b="1" i="0" lang="en-US" sz="1600" u="none" cap="none" strike="noStrike">
                <a:solidFill>
                  <a:srgbClr val="1E2761"/>
                </a:solidFill>
                <a:latin typeface="Arial Black"/>
                <a:ea typeface="Arial Black"/>
                <a:cs typeface="Arial Black"/>
                <a:sym typeface="Arial Black"/>
              </a:rPr>
              <a:t>bizarre</a:t>
            </a:r>
            <a:endParaRPr b="0" i="0" sz="1600" u="none" cap="none" strike="noStrike">
              <a:solidFill>
                <a:schemeClr val="dk1"/>
              </a:solidFill>
              <a:latin typeface="Calibri"/>
              <a:ea typeface="Calibri"/>
              <a:cs typeface="Calibri"/>
              <a:sym typeface="Calibri"/>
            </a:endParaRPr>
          </a:p>
        </p:txBody>
      </p:sp>
      <p:sp>
        <p:nvSpPr>
          <p:cNvPr id="263" name="Google Shape;263;p8"/>
          <p:cNvSpPr/>
          <p:nvPr/>
        </p:nvSpPr>
        <p:spPr>
          <a:xfrm>
            <a:off x="1874520" y="3639312"/>
            <a:ext cx="54864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0" i="1" lang="en-US" sz="1100" u="none" cap="none" strike="noStrike">
                <a:solidFill>
                  <a:srgbClr val="8AA0C9"/>
                </a:solidFill>
                <a:latin typeface="Calibri"/>
                <a:ea typeface="Calibri"/>
                <a:cs typeface="Calibri"/>
                <a:sym typeface="Calibri"/>
              </a:rPr>
              <a:t>adj.</a:t>
            </a:r>
            <a:endParaRPr b="0" i="0" sz="1100" u="none" cap="none" strike="noStrike">
              <a:solidFill>
                <a:schemeClr val="dk1"/>
              </a:solidFill>
              <a:latin typeface="Calibri"/>
              <a:ea typeface="Calibri"/>
              <a:cs typeface="Calibri"/>
              <a:sym typeface="Calibri"/>
            </a:endParaRPr>
          </a:p>
        </p:txBody>
      </p:sp>
      <p:sp>
        <p:nvSpPr>
          <p:cNvPr id="264" name="Google Shape;264;p8"/>
          <p:cNvSpPr/>
          <p:nvPr/>
        </p:nvSpPr>
        <p:spPr>
          <a:xfrm>
            <a:off x="2468880" y="3639312"/>
            <a:ext cx="27432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200"/>
              <a:buFont typeface="Calibri"/>
              <a:buNone/>
            </a:pPr>
            <a:r>
              <a:rPr b="0" i="0" lang="en-US" sz="1200" u="none" cap="none" strike="noStrike">
                <a:solidFill>
                  <a:srgbClr val="2C3A78"/>
                </a:solidFill>
                <a:latin typeface="Calibri"/>
                <a:ea typeface="Calibri"/>
                <a:cs typeface="Calibri"/>
                <a:sym typeface="Calibri"/>
              </a:rPr>
              <a:t>very strange or unusual</a:t>
            </a:r>
            <a:endParaRPr b="0" i="0" sz="1200" u="none" cap="none" strike="noStrike">
              <a:solidFill>
                <a:schemeClr val="dk1"/>
              </a:solidFill>
              <a:latin typeface="Calibri"/>
              <a:ea typeface="Calibri"/>
              <a:cs typeface="Calibri"/>
              <a:sym typeface="Calibri"/>
            </a:endParaRPr>
          </a:p>
        </p:txBody>
      </p:sp>
      <p:sp>
        <p:nvSpPr>
          <p:cNvPr id="265" name="Google Shape;265;p8"/>
          <p:cNvSpPr/>
          <p:nvPr/>
        </p:nvSpPr>
        <p:spPr>
          <a:xfrm>
            <a:off x="5257800" y="3639312"/>
            <a:ext cx="33832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"Its massiveness itself was bizarre."</a:t>
            </a:r>
            <a:endParaRPr b="0" i="0" sz="1100" u="none" cap="none" strike="noStrike">
              <a:solidFill>
                <a:schemeClr val="dk1"/>
              </a:solidFill>
              <a:latin typeface="Calibri"/>
              <a:ea typeface="Calibri"/>
              <a:cs typeface="Calibri"/>
              <a:sym typeface="Calibri"/>
            </a:endParaRPr>
          </a:p>
        </p:txBody>
      </p:sp>
      <p:sp>
        <p:nvSpPr>
          <p:cNvPr id="266" name="Google Shape;266;p8"/>
          <p:cNvSpPr/>
          <p:nvPr/>
        </p:nvSpPr>
        <p:spPr>
          <a:xfrm>
            <a:off x="338328" y="4352544"/>
            <a:ext cx="91440" cy="9144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502920" y="4206240"/>
            <a:ext cx="13716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Arial Black"/>
              <a:buNone/>
            </a:pPr>
            <a:r>
              <a:rPr b="1" i="0" lang="en-US" sz="1600" u="none" cap="none" strike="noStrike">
                <a:solidFill>
                  <a:srgbClr val="1E2761"/>
                </a:solidFill>
                <a:latin typeface="Arial Black"/>
                <a:ea typeface="Arial Black"/>
                <a:cs typeface="Arial Black"/>
                <a:sym typeface="Arial Black"/>
              </a:rPr>
              <a:t>quarry</a:t>
            </a:r>
            <a:endParaRPr b="0" i="0" sz="1600" u="none" cap="none" strike="noStrike">
              <a:solidFill>
                <a:schemeClr val="dk1"/>
              </a:solidFill>
              <a:latin typeface="Calibri"/>
              <a:ea typeface="Calibri"/>
              <a:cs typeface="Calibri"/>
              <a:sym typeface="Calibri"/>
            </a:endParaRPr>
          </a:p>
        </p:txBody>
      </p:sp>
      <p:sp>
        <p:nvSpPr>
          <p:cNvPr id="268" name="Google Shape;268;p8"/>
          <p:cNvSpPr/>
          <p:nvPr/>
        </p:nvSpPr>
        <p:spPr>
          <a:xfrm>
            <a:off x="1874520" y="4206240"/>
            <a:ext cx="54864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0" i="1" lang="en-US" sz="1100" u="none" cap="none" strike="noStrike">
                <a:solidFill>
                  <a:srgbClr val="8AA0C9"/>
                </a:solidFill>
                <a:latin typeface="Calibri"/>
                <a:ea typeface="Calibri"/>
                <a:cs typeface="Calibri"/>
                <a:sym typeface="Calibri"/>
              </a:rPr>
              <a:t>n.</a:t>
            </a:r>
            <a:endParaRPr b="0" i="0" sz="1100" u="none" cap="none" strike="noStrike">
              <a:solidFill>
                <a:schemeClr val="dk1"/>
              </a:solidFill>
              <a:latin typeface="Calibri"/>
              <a:ea typeface="Calibri"/>
              <a:cs typeface="Calibri"/>
              <a:sym typeface="Calibri"/>
            </a:endParaRPr>
          </a:p>
        </p:txBody>
      </p:sp>
      <p:sp>
        <p:nvSpPr>
          <p:cNvPr id="269" name="Google Shape;269;p8"/>
          <p:cNvSpPr/>
          <p:nvPr/>
        </p:nvSpPr>
        <p:spPr>
          <a:xfrm>
            <a:off x="2468880" y="4206240"/>
            <a:ext cx="274320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200"/>
              <a:buFont typeface="Calibri"/>
              <a:buNone/>
            </a:pPr>
            <a:r>
              <a:rPr b="0" i="0" lang="en-US" sz="1200" u="none" cap="none" strike="noStrike">
                <a:solidFill>
                  <a:srgbClr val="2C3A78"/>
                </a:solidFill>
                <a:latin typeface="Calibri"/>
                <a:ea typeface="Calibri"/>
                <a:cs typeface="Calibri"/>
                <a:sym typeface="Calibri"/>
              </a:rPr>
              <a:t>an animal being hunted</a:t>
            </a:r>
            <a:endParaRPr b="0" i="0" sz="1200" u="none" cap="none" strike="noStrike">
              <a:solidFill>
                <a:schemeClr val="dk1"/>
              </a:solidFill>
              <a:latin typeface="Calibri"/>
              <a:ea typeface="Calibri"/>
              <a:cs typeface="Calibri"/>
              <a:sym typeface="Calibri"/>
            </a:endParaRPr>
          </a:p>
        </p:txBody>
      </p:sp>
      <p:sp>
        <p:nvSpPr>
          <p:cNvPr id="270" name="Google Shape;270;p8"/>
          <p:cNvSpPr/>
          <p:nvPr/>
        </p:nvSpPr>
        <p:spPr>
          <a:xfrm>
            <a:off x="5257800" y="4206240"/>
            <a:ext cx="33832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"Rainsford realized he was the quarry."</a:t>
            </a:r>
            <a:endParaRPr b="0" i="0" sz="1100" u="none" cap="none" strike="noStrike">
              <a:solidFill>
                <a:schemeClr val="dk1"/>
              </a:solidFill>
              <a:latin typeface="Calibri"/>
              <a:ea typeface="Calibri"/>
              <a:cs typeface="Calibri"/>
              <a:sym typeface="Calibri"/>
            </a:endParaRPr>
          </a:p>
        </p:txBody>
      </p:sp>
      <p:sp>
        <p:nvSpPr>
          <p:cNvPr id="271" name="Google Shape;271;p8"/>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Copy all 5 words into your NOTES column. Underline any you don't know yet.</a:t>
            </a:r>
            <a:endParaRPr b="0" i="0" sz="1200" u="none" cap="none" strike="noStrike">
              <a:solidFill>
                <a:schemeClr val="dk1"/>
              </a:solidFill>
              <a:latin typeface="Calibri"/>
              <a:ea typeface="Calibri"/>
              <a:cs typeface="Calibri"/>
              <a:sym typeface="Calibri"/>
            </a:endParaRPr>
          </a:p>
        </p:txBody>
      </p:sp>
      <p:sp>
        <p:nvSpPr>
          <p:cNvPr id="272" name="Google Shape;272;p8"/>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8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77" name="Shape 277"/>
        <p:cNvGrpSpPr/>
        <p:nvPr/>
      </p:nvGrpSpPr>
      <p:grpSpPr>
        <a:xfrm>
          <a:off x="0" y="0"/>
          <a:ext cx="0" cy="0"/>
          <a:chOff x="0" y="0"/>
          <a:chExt cx="0" cy="0"/>
        </a:xfrm>
      </p:grpSpPr>
      <p:sp>
        <p:nvSpPr>
          <p:cNvPr id="278" name="Google Shape;278;p9"/>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Black"/>
              <a:buNone/>
            </a:pPr>
            <a:r>
              <a:rPr b="1" i="0" lang="en-US" sz="2600" u="none" cap="none" strike="noStrike">
                <a:solidFill>
                  <a:srgbClr val="FFFFFF"/>
                </a:solidFill>
                <a:latin typeface="Arial Black"/>
                <a:ea typeface="Arial Black"/>
                <a:cs typeface="Arial Black"/>
                <a:sym typeface="Arial Black"/>
              </a:rPr>
              <a:t>Passage 1 — TMDG opening</a:t>
            </a:r>
            <a:endParaRPr b="0" i="0" sz="2600" u="none" cap="none" strike="noStrike">
              <a:solidFill>
                <a:schemeClr val="dk1"/>
              </a:solidFill>
              <a:latin typeface="Calibri"/>
              <a:ea typeface="Calibri"/>
              <a:cs typeface="Calibri"/>
              <a:sym typeface="Calibri"/>
            </a:endParaRPr>
          </a:p>
        </p:txBody>
      </p:sp>
      <p:sp>
        <p:nvSpPr>
          <p:cNvPr id="279" name="Google Shape;279;p9"/>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280" name="Google Shape;280;p9"/>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10 MIN</a:t>
            </a:r>
            <a:endParaRPr b="0" i="0" sz="1400" u="none" cap="none" strike="noStrike">
              <a:solidFill>
                <a:schemeClr val="dk1"/>
              </a:solidFill>
              <a:latin typeface="Calibri"/>
              <a:ea typeface="Calibri"/>
              <a:cs typeface="Calibri"/>
              <a:sym typeface="Calibri"/>
            </a:endParaRPr>
          </a:p>
        </p:txBody>
      </p:sp>
      <p:sp>
        <p:nvSpPr>
          <p:cNvPr id="282" name="Google Shape;282;p9"/>
          <p:cNvSpPr/>
          <p:nvPr/>
        </p:nvSpPr>
        <p:spPr>
          <a:xfrm>
            <a:off x="365760" y="841248"/>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Georgia"/>
              <a:buNone/>
            </a:pPr>
            <a:r>
              <a:rPr b="0" i="1" lang="en-US" sz="1200" u="none" cap="none" strike="noStrike">
                <a:solidFill>
                  <a:srgbClr val="CADCFC"/>
                </a:solidFill>
                <a:latin typeface="Georgia"/>
                <a:ea typeface="Georgia"/>
                <a:cs typeface="Georgia"/>
                <a:sym typeface="Georgia"/>
              </a:rPr>
              <a:t>From "The Most Dangerous Game" by Richard Connell (1924, public domain)</a:t>
            </a:r>
            <a:endParaRPr b="0" i="0" sz="1200" u="none" cap="none" strike="noStrike">
              <a:solidFill>
                <a:schemeClr val="dk1"/>
              </a:solidFill>
              <a:latin typeface="Calibri"/>
              <a:ea typeface="Calibri"/>
              <a:cs typeface="Calibri"/>
              <a:sym typeface="Calibri"/>
            </a:endParaRPr>
          </a:p>
        </p:txBody>
      </p:sp>
      <p:sp>
        <p:nvSpPr>
          <p:cNvPr id="283" name="Google Shape;283;p9"/>
          <p:cNvSpPr/>
          <p:nvPr/>
        </p:nvSpPr>
        <p:spPr>
          <a:xfrm>
            <a:off x="365760" y="1207008"/>
            <a:ext cx="8412480" cy="2743200"/>
          </a:xfrm>
          <a:prstGeom prst="rect">
            <a:avLst/>
          </a:prstGeom>
          <a:solidFill>
            <a:srgbClr val="FFFFFF"/>
          </a:solidFill>
          <a:ln cap="flat" cmpd="sng" w="254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p:nvPr/>
        </p:nvSpPr>
        <p:spPr>
          <a:xfrm>
            <a:off x="594360" y="1325880"/>
            <a:ext cx="7955280" cy="251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400"/>
              <a:buFont typeface="Georgia"/>
              <a:buNone/>
            </a:pPr>
            <a:r>
              <a:rPr b="0" i="0" lang="en-US" sz="1400" u="none" cap="none" strike="noStrike">
                <a:solidFill>
                  <a:srgbClr val="1E2761"/>
                </a:solidFill>
                <a:latin typeface="Georgia"/>
                <a:ea typeface="Georgia"/>
                <a:cs typeface="Georgia"/>
                <a:sym typeface="Georgia"/>
              </a:rPr>
              <a:t>“Off there to the right — somewhere — is a large island,” said Whitney. “It’s rather a mystery —”</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E2761"/>
              </a:buClr>
              <a:buSzPts val="1400"/>
              <a:buFont typeface="Georgia"/>
              <a:buNone/>
            </a:pPr>
            <a:r>
              <a:rPr b="0" i="0" lang="en-US" sz="1400" u="none" cap="none" strike="noStrike">
                <a:solidFill>
                  <a:srgbClr val="1E2761"/>
                </a:solidFill>
                <a:latin typeface="Georgia"/>
                <a:ea typeface="Georgia"/>
                <a:cs typeface="Georgia"/>
                <a:sym typeface="Georgia"/>
              </a:rPr>
              <a:t>“What island is it?” Rainsford asked.</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E2761"/>
              </a:buClr>
              <a:buSzPts val="1400"/>
              <a:buFont typeface="Georgia"/>
              <a:buNone/>
            </a:pPr>
            <a:r>
              <a:rPr b="0" i="0" lang="en-US" sz="1400" u="none" cap="none" strike="noStrike">
                <a:solidFill>
                  <a:srgbClr val="1E2761"/>
                </a:solidFill>
                <a:latin typeface="Georgia"/>
                <a:ea typeface="Georgia"/>
                <a:cs typeface="Georgia"/>
                <a:sym typeface="Georgia"/>
              </a:rPr>
              <a:t>“The old charts call it ‘Ship-Trap Island,’” Whitney replied. “A suggestive name, isn’t it? Sailors have a curious dread of the place. I don’t know why. Some superstition —”</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E2761"/>
              </a:buClr>
              <a:buSzPts val="1400"/>
              <a:buFont typeface="Georgia"/>
              <a:buNone/>
            </a:pPr>
            <a:r>
              <a:rPr b="0" i="0" lang="en-US" sz="1400" u="none" cap="none" strike="noStrike">
                <a:solidFill>
                  <a:srgbClr val="1E2761"/>
                </a:solidFill>
                <a:latin typeface="Georgia"/>
                <a:ea typeface="Georgia"/>
                <a:cs typeface="Georgia"/>
                <a:sym typeface="Georgia"/>
              </a:rPr>
              <a:t>“Can’t see it,” said Rainsford, trying to peer through the dank tropical night that was palpable as it pressed its thick warm blackness in upon the yacht.</a:t>
            </a:r>
            <a:endParaRPr b="0" i="0" sz="1400" u="none" cap="none" strike="noStrike">
              <a:solidFill>
                <a:schemeClr val="dk1"/>
              </a:solidFill>
              <a:latin typeface="Calibri"/>
              <a:ea typeface="Calibri"/>
              <a:cs typeface="Calibri"/>
              <a:sym typeface="Calibri"/>
            </a:endParaRPr>
          </a:p>
        </p:txBody>
      </p:sp>
      <p:sp>
        <p:nvSpPr>
          <p:cNvPr id="285" name="Google Shape;285;p9"/>
          <p:cNvSpPr/>
          <p:nvPr/>
        </p:nvSpPr>
        <p:spPr>
          <a:xfrm>
            <a:off x="365760" y="4069080"/>
            <a:ext cx="8412480" cy="640080"/>
          </a:xfrm>
          <a:prstGeom prst="rect">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502920" y="4069080"/>
            <a:ext cx="8138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READ TWICE. First read: get the story. Second read with pen: BOX setting clues. UNDERLINE plot starters.</a:t>
            </a:r>
            <a:endParaRPr b="0" i="0" sz="1300" u="none" cap="none" strike="noStrike">
              <a:solidFill>
                <a:schemeClr val="dk1"/>
              </a:solidFill>
              <a:latin typeface="Calibri"/>
              <a:ea typeface="Calibri"/>
              <a:cs typeface="Calibri"/>
              <a:sym typeface="Calibri"/>
            </a:endParaRPr>
          </a:p>
        </p:txBody>
      </p:sp>
      <p:sp>
        <p:nvSpPr>
          <p:cNvPr id="287" name="Google Shape;287;p9"/>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200"/>
              <a:buFont typeface="Calibri"/>
              <a:buNone/>
            </a:pPr>
            <a:r>
              <a:rPr b="1" i="1" lang="en-US" sz="1200" u="none" cap="none" strike="noStrike">
                <a:solidFill>
                  <a:srgbClr val="F2C14E"/>
                </a:solidFill>
                <a:latin typeface="Calibri"/>
                <a:ea typeface="Calibri"/>
                <a:cs typeface="Calibri"/>
                <a:sym typeface="Calibri"/>
              </a:rPr>
              <a:t>✎ NOTES — Read passage 1 twice. Box setting clues. Underline plot starters. (Active reading = pen moving.)</a:t>
            </a:r>
            <a:endParaRPr b="0" i="0" sz="1200" u="none" cap="none" strike="noStrike">
              <a:solidFill>
                <a:schemeClr val="dk1"/>
              </a:solidFill>
              <a:latin typeface="Calibri"/>
              <a:ea typeface="Calibri"/>
              <a:cs typeface="Calibri"/>
              <a:sym typeface="Calibri"/>
            </a:endParaRPr>
          </a:p>
        </p:txBody>
      </p:sp>
      <p:sp>
        <p:nvSpPr>
          <p:cNvPr id="288" name="Google Shape;288;p9"/>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9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10"/>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295" name="Google Shape;295;p10"/>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Worked example — Passage 1</a:t>
            </a:r>
            <a:endParaRPr b="0" i="0" sz="2600" u="none" cap="none" strike="noStrike">
              <a:solidFill>
                <a:schemeClr val="dk1"/>
              </a:solidFill>
              <a:latin typeface="Calibri"/>
              <a:ea typeface="Calibri"/>
              <a:cs typeface="Calibri"/>
              <a:sym typeface="Calibri"/>
            </a:endParaRPr>
          </a:p>
        </p:txBody>
      </p:sp>
      <p:sp>
        <p:nvSpPr>
          <p:cNvPr id="296" name="Google Shape;296;p10"/>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8 MIN</a:t>
            </a:r>
            <a:endParaRPr b="0" i="0" sz="1400" u="none" cap="none" strike="noStrike">
              <a:solidFill>
                <a:schemeClr val="dk1"/>
              </a:solidFill>
              <a:latin typeface="Calibri"/>
              <a:ea typeface="Calibri"/>
              <a:cs typeface="Calibri"/>
              <a:sym typeface="Calibri"/>
            </a:endParaRPr>
          </a:p>
        </p:txBody>
      </p:sp>
      <p:sp>
        <p:nvSpPr>
          <p:cNvPr id="298" name="Google Shape;298;p10"/>
          <p:cNvSpPr/>
          <p:nvPr/>
        </p:nvSpPr>
        <p:spPr>
          <a:xfrm>
            <a:off x="365760" y="932688"/>
            <a:ext cx="233172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0"/>
          <p:cNvSpPr/>
          <p:nvPr/>
        </p:nvSpPr>
        <p:spPr>
          <a:xfrm>
            <a:off x="365760" y="932688"/>
            <a:ext cx="2331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300" name="Google Shape;300;p10"/>
          <p:cNvSpPr/>
          <p:nvPr/>
        </p:nvSpPr>
        <p:spPr>
          <a:xfrm>
            <a:off x="365760" y="1417320"/>
            <a:ext cx="8412480" cy="36576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365760" y="1417320"/>
            <a:ext cx="15544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ELEMENT</a:t>
            </a:r>
            <a:endParaRPr b="0" i="0" sz="1100" u="none" cap="none" strike="noStrike">
              <a:solidFill>
                <a:schemeClr val="dk1"/>
              </a:solidFill>
              <a:latin typeface="Calibri"/>
              <a:ea typeface="Calibri"/>
              <a:cs typeface="Calibri"/>
              <a:sym typeface="Calibri"/>
            </a:endParaRPr>
          </a:p>
        </p:txBody>
      </p:sp>
      <p:sp>
        <p:nvSpPr>
          <p:cNvPr id="302" name="Google Shape;302;p10"/>
          <p:cNvSpPr/>
          <p:nvPr/>
        </p:nvSpPr>
        <p:spPr>
          <a:xfrm>
            <a:off x="1920240" y="1417320"/>
            <a:ext cx="3657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EVIDENCE (quote from passage)</a:t>
            </a:r>
            <a:endParaRPr b="0" i="0" sz="1100" u="none" cap="none" strike="noStrike">
              <a:solidFill>
                <a:schemeClr val="dk1"/>
              </a:solidFill>
              <a:latin typeface="Calibri"/>
              <a:ea typeface="Calibri"/>
              <a:cs typeface="Calibri"/>
              <a:sym typeface="Calibri"/>
            </a:endParaRPr>
          </a:p>
        </p:txBody>
      </p:sp>
      <p:sp>
        <p:nvSpPr>
          <p:cNvPr id="303" name="Google Shape;303;p10"/>
          <p:cNvSpPr/>
          <p:nvPr/>
        </p:nvSpPr>
        <p:spPr>
          <a:xfrm>
            <a:off x="5577840" y="1417320"/>
            <a:ext cx="3200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EFFECT on reader</a:t>
            </a:r>
            <a:endParaRPr b="0" i="0" sz="1100" u="none" cap="none" strike="noStrike">
              <a:solidFill>
                <a:schemeClr val="dk1"/>
              </a:solidFill>
              <a:latin typeface="Calibri"/>
              <a:ea typeface="Calibri"/>
              <a:cs typeface="Calibri"/>
              <a:sym typeface="Calibri"/>
            </a:endParaRPr>
          </a:p>
        </p:txBody>
      </p:sp>
      <p:sp>
        <p:nvSpPr>
          <p:cNvPr id="304" name="Google Shape;304;p10"/>
          <p:cNvSpPr/>
          <p:nvPr/>
        </p:nvSpPr>
        <p:spPr>
          <a:xfrm>
            <a:off x="365760" y="1783080"/>
            <a:ext cx="1554480" cy="64008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p:nvPr/>
        </p:nvSpPr>
        <p:spPr>
          <a:xfrm>
            <a:off x="438912" y="1783080"/>
            <a:ext cx="140817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Setting</a:t>
            </a:r>
            <a:endParaRPr b="0" i="0" sz="1300" u="none" cap="none" strike="noStrike">
              <a:solidFill>
                <a:schemeClr val="dk1"/>
              </a:solidFill>
              <a:latin typeface="Calibri"/>
              <a:ea typeface="Calibri"/>
              <a:cs typeface="Calibri"/>
              <a:sym typeface="Calibri"/>
            </a:endParaRPr>
          </a:p>
        </p:txBody>
      </p:sp>
      <p:sp>
        <p:nvSpPr>
          <p:cNvPr id="306" name="Google Shape;306;p10"/>
          <p:cNvSpPr/>
          <p:nvPr/>
        </p:nvSpPr>
        <p:spPr>
          <a:xfrm>
            <a:off x="1920240" y="1783080"/>
            <a:ext cx="3657600" cy="64008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1993392" y="1783080"/>
            <a:ext cx="351129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"the dank tropical night that was palpable"</a:t>
            </a:r>
            <a:endParaRPr b="0" i="0" sz="1100" u="none" cap="none" strike="noStrike">
              <a:solidFill>
                <a:schemeClr val="dk1"/>
              </a:solidFill>
              <a:latin typeface="Calibri"/>
              <a:ea typeface="Calibri"/>
              <a:cs typeface="Calibri"/>
              <a:sym typeface="Calibri"/>
            </a:endParaRPr>
          </a:p>
        </p:txBody>
      </p:sp>
      <p:sp>
        <p:nvSpPr>
          <p:cNvPr id="308" name="Google Shape;308;p10"/>
          <p:cNvSpPr/>
          <p:nvPr/>
        </p:nvSpPr>
        <p:spPr>
          <a:xfrm>
            <a:off x="5577840" y="1783080"/>
            <a:ext cx="3200400" cy="64008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0"/>
          <p:cNvSpPr/>
          <p:nvPr/>
        </p:nvSpPr>
        <p:spPr>
          <a:xfrm>
            <a:off x="5650992" y="1783080"/>
            <a:ext cx="305409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0" lang="en-US" sz="1100" u="none" cap="none" strike="noStrike">
                <a:solidFill>
                  <a:srgbClr val="1E2761"/>
                </a:solidFill>
                <a:latin typeface="Calibri"/>
                <a:ea typeface="Calibri"/>
                <a:cs typeface="Calibri"/>
                <a:sym typeface="Calibri"/>
              </a:rPr>
              <a:t>Creates suspense; reader feels the heaviness and isolation.</a:t>
            </a:r>
            <a:endParaRPr b="0" i="0" sz="1100" u="none" cap="none" strike="noStrike">
              <a:solidFill>
                <a:schemeClr val="dk1"/>
              </a:solidFill>
              <a:latin typeface="Calibri"/>
              <a:ea typeface="Calibri"/>
              <a:cs typeface="Calibri"/>
              <a:sym typeface="Calibri"/>
            </a:endParaRPr>
          </a:p>
        </p:txBody>
      </p:sp>
      <p:sp>
        <p:nvSpPr>
          <p:cNvPr id="310" name="Google Shape;310;p10"/>
          <p:cNvSpPr/>
          <p:nvPr/>
        </p:nvSpPr>
        <p:spPr>
          <a:xfrm>
            <a:off x="365760" y="2423160"/>
            <a:ext cx="1554480" cy="64008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p:nvPr/>
        </p:nvSpPr>
        <p:spPr>
          <a:xfrm>
            <a:off x="438912" y="2423160"/>
            <a:ext cx="140817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Setting</a:t>
            </a:r>
            <a:endParaRPr b="0" i="0" sz="1300" u="none" cap="none" strike="noStrike">
              <a:solidFill>
                <a:schemeClr val="dk1"/>
              </a:solidFill>
              <a:latin typeface="Calibri"/>
              <a:ea typeface="Calibri"/>
              <a:cs typeface="Calibri"/>
              <a:sym typeface="Calibri"/>
            </a:endParaRPr>
          </a:p>
        </p:txBody>
      </p:sp>
      <p:sp>
        <p:nvSpPr>
          <p:cNvPr id="312" name="Google Shape;312;p10"/>
          <p:cNvSpPr/>
          <p:nvPr/>
        </p:nvSpPr>
        <p:spPr>
          <a:xfrm>
            <a:off x="1920240" y="2423160"/>
            <a:ext cx="3657600" cy="64008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1993392" y="2423160"/>
            <a:ext cx="351129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"Ship-Trap Island" / "a curious dread"</a:t>
            </a:r>
            <a:endParaRPr b="0" i="0" sz="1100" u="none" cap="none" strike="noStrike">
              <a:solidFill>
                <a:schemeClr val="dk1"/>
              </a:solidFill>
              <a:latin typeface="Calibri"/>
              <a:ea typeface="Calibri"/>
              <a:cs typeface="Calibri"/>
              <a:sym typeface="Calibri"/>
            </a:endParaRPr>
          </a:p>
        </p:txBody>
      </p:sp>
      <p:sp>
        <p:nvSpPr>
          <p:cNvPr id="314" name="Google Shape;314;p10"/>
          <p:cNvSpPr/>
          <p:nvPr/>
        </p:nvSpPr>
        <p:spPr>
          <a:xfrm>
            <a:off x="5577840" y="2423160"/>
            <a:ext cx="3200400" cy="64008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0"/>
          <p:cNvSpPr/>
          <p:nvPr/>
        </p:nvSpPr>
        <p:spPr>
          <a:xfrm>
            <a:off x="5650992" y="2423160"/>
            <a:ext cx="305409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0" lang="en-US" sz="1100" u="none" cap="none" strike="noStrike">
                <a:solidFill>
                  <a:srgbClr val="1E2761"/>
                </a:solidFill>
                <a:latin typeface="Calibri"/>
                <a:ea typeface="Calibri"/>
                <a:cs typeface="Calibri"/>
                <a:sym typeface="Calibri"/>
              </a:rPr>
              <a:t>Foreshadows danger; the place itself feels threatening.</a:t>
            </a:r>
            <a:endParaRPr b="0" i="0" sz="1100" u="none" cap="none" strike="noStrike">
              <a:solidFill>
                <a:schemeClr val="dk1"/>
              </a:solidFill>
              <a:latin typeface="Calibri"/>
              <a:ea typeface="Calibri"/>
              <a:cs typeface="Calibri"/>
              <a:sym typeface="Calibri"/>
            </a:endParaRPr>
          </a:p>
        </p:txBody>
      </p:sp>
      <p:sp>
        <p:nvSpPr>
          <p:cNvPr id="316" name="Google Shape;316;p10"/>
          <p:cNvSpPr/>
          <p:nvPr/>
        </p:nvSpPr>
        <p:spPr>
          <a:xfrm>
            <a:off x="365760" y="3063240"/>
            <a:ext cx="1554480" cy="64008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0"/>
          <p:cNvSpPr/>
          <p:nvPr/>
        </p:nvSpPr>
        <p:spPr>
          <a:xfrm>
            <a:off x="438912" y="3063240"/>
            <a:ext cx="140817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Plot</a:t>
            </a:r>
            <a:endParaRPr b="0" i="0" sz="1300" u="none" cap="none" strike="noStrike">
              <a:solidFill>
                <a:schemeClr val="dk1"/>
              </a:solidFill>
              <a:latin typeface="Calibri"/>
              <a:ea typeface="Calibri"/>
              <a:cs typeface="Calibri"/>
              <a:sym typeface="Calibri"/>
            </a:endParaRPr>
          </a:p>
        </p:txBody>
      </p:sp>
      <p:sp>
        <p:nvSpPr>
          <p:cNvPr id="318" name="Google Shape;318;p10"/>
          <p:cNvSpPr/>
          <p:nvPr/>
        </p:nvSpPr>
        <p:spPr>
          <a:xfrm>
            <a:off x="1920240" y="3063240"/>
            <a:ext cx="3657600" cy="64008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p:nvPr/>
        </p:nvSpPr>
        <p:spPr>
          <a:xfrm>
            <a:off x="1993392" y="3063240"/>
            <a:ext cx="351129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"Sailors have a curious dread of the place."</a:t>
            </a:r>
            <a:endParaRPr b="0" i="0" sz="1100" u="none" cap="none" strike="noStrike">
              <a:solidFill>
                <a:schemeClr val="dk1"/>
              </a:solidFill>
              <a:latin typeface="Calibri"/>
              <a:ea typeface="Calibri"/>
              <a:cs typeface="Calibri"/>
              <a:sym typeface="Calibri"/>
            </a:endParaRPr>
          </a:p>
        </p:txBody>
      </p:sp>
      <p:sp>
        <p:nvSpPr>
          <p:cNvPr id="320" name="Google Shape;320;p10"/>
          <p:cNvSpPr/>
          <p:nvPr/>
        </p:nvSpPr>
        <p:spPr>
          <a:xfrm>
            <a:off x="5577840" y="3063240"/>
            <a:ext cx="3200400" cy="64008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0"/>
          <p:cNvSpPr/>
          <p:nvPr/>
        </p:nvSpPr>
        <p:spPr>
          <a:xfrm>
            <a:off x="5650992" y="3063240"/>
            <a:ext cx="305409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0" lang="en-US" sz="1100" u="none" cap="none" strike="noStrike">
                <a:solidFill>
                  <a:srgbClr val="1E2761"/>
                </a:solidFill>
                <a:latin typeface="Calibri"/>
                <a:ea typeface="Calibri"/>
                <a:cs typeface="Calibri"/>
                <a:sym typeface="Calibri"/>
              </a:rPr>
              <a:t>Plants the central conflict — something is wrong with this island.</a:t>
            </a:r>
            <a:endParaRPr b="0" i="0" sz="1100" u="none" cap="none" strike="noStrike">
              <a:solidFill>
                <a:schemeClr val="dk1"/>
              </a:solidFill>
              <a:latin typeface="Calibri"/>
              <a:ea typeface="Calibri"/>
              <a:cs typeface="Calibri"/>
              <a:sym typeface="Calibri"/>
            </a:endParaRPr>
          </a:p>
        </p:txBody>
      </p:sp>
      <p:sp>
        <p:nvSpPr>
          <p:cNvPr id="322" name="Google Shape;322;p10"/>
          <p:cNvSpPr/>
          <p:nvPr/>
        </p:nvSpPr>
        <p:spPr>
          <a:xfrm>
            <a:off x="365760" y="3703320"/>
            <a:ext cx="1554480" cy="640080"/>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0"/>
          <p:cNvSpPr/>
          <p:nvPr/>
        </p:nvSpPr>
        <p:spPr>
          <a:xfrm>
            <a:off x="438912" y="3703320"/>
            <a:ext cx="140817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300"/>
              <a:buFont typeface="Calibri"/>
              <a:buNone/>
            </a:pPr>
            <a:r>
              <a:rPr b="1" i="0" lang="en-US" sz="1300" u="none" cap="none" strike="noStrike">
                <a:solidFill>
                  <a:srgbClr val="8AA0C9"/>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24" name="Google Shape;324;p10"/>
          <p:cNvSpPr/>
          <p:nvPr/>
        </p:nvSpPr>
        <p:spPr>
          <a:xfrm>
            <a:off x="1920240" y="3703320"/>
            <a:ext cx="3657600" cy="640080"/>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
          <p:cNvSpPr/>
          <p:nvPr/>
        </p:nvSpPr>
        <p:spPr>
          <a:xfrm>
            <a:off x="1993392" y="3703320"/>
            <a:ext cx="351129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Georgia"/>
              <a:buNone/>
            </a:pPr>
            <a:r>
              <a:rPr b="0" i="1" lang="en-US" sz="1100" u="none" cap="none" strike="noStrike">
                <a:solidFill>
                  <a:srgbClr val="8AA0C9"/>
                </a:solidFill>
                <a:latin typeface="Georgia"/>
                <a:ea typeface="Georgia"/>
                <a:cs typeface="Georgia"/>
                <a:sym typeface="Georgia"/>
              </a:rPr>
              <a:t>(your turn — find one more from the passage)</a:t>
            </a:r>
            <a:endParaRPr b="0" i="0" sz="1100" u="none" cap="none" strike="noStrike">
              <a:solidFill>
                <a:schemeClr val="dk1"/>
              </a:solidFill>
              <a:latin typeface="Calibri"/>
              <a:ea typeface="Calibri"/>
              <a:cs typeface="Calibri"/>
              <a:sym typeface="Calibri"/>
            </a:endParaRPr>
          </a:p>
        </p:txBody>
      </p:sp>
      <p:sp>
        <p:nvSpPr>
          <p:cNvPr id="326" name="Google Shape;326;p10"/>
          <p:cNvSpPr/>
          <p:nvPr/>
        </p:nvSpPr>
        <p:spPr>
          <a:xfrm>
            <a:off x="5577840" y="3703320"/>
            <a:ext cx="3200400" cy="640080"/>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p:nvPr/>
        </p:nvSpPr>
        <p:spPr>
          <a:xfrm>
            <a:off x="5650992" y="3703320"/>
            <a:ext cx="3054096"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0" i="0" lang="en-US" sz="1100" u="none" cap="none" strike="noStrike">
                <a:solidFill>
                  <a:srgbClr val="8AA0C9"/>
                </a:solidFill>
                <a:latin typeface="Calibri"/>
                <a:ea typeface="Calibri"/>
                <a:cs typeface="Calibri"/>
                <a:sym typeface="Calibri"/>
              </a:rPr>
              <a:t>(your turn — explain its effect)</a:t>
            </a:r>
            <a:endParaRPr b="0" i="0" sz="1100" u="none" cap="none" strike="noStrike">
              <a:solidFill>
                <a:schemeClr val="dk1"/>
              </a:solidFill>
              <a:latin typeface="Calibri"/>
              <a:ea typeface="Calibri"/>
              <a:cs typeface="Calibri"/>
              <a:sym typeface="Calibri"/>
            </a:endParaRPr>
          </a:p>
        </p:txBody>
      </p:sp>
      <p:sp>
        <p:nvSpPr>
          <p:cNvPr id="328" name="Google Shape;328;p10"/>
          <p:cNvSpPr/>
          <p:nvPr/>
        </p:nvSpPr>
        <p:spPr>
          <a:xfrm>
            <a:off x="365760" y="438912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200"/>
              <a:buFont typeface="Calibri"/>
              <a:buNone/>
            </a:pPr>
            <a:r>
              <a:rPr b="0" i="1" lang="en-US" sz="1200" u="none" cap="none" strike="noStrike">
                <a:solidFill>
                  <a:srgbClr val="2C3A78"/>
                </a:solidFill>
                <a:latin typeface="Calibri"/>
                <a:ea typeface="Calibri"/>
                <a:cs typeface="Calibri"/>
                <a:sym typeface="Calibri"/>
              </a:rPr>
              <a:t>I'll model the first 3 rows. You add row 4 from anything else you boxed/underlined.</a:t>
            </a:r>
            <a:endParaRPr b="0" i="0" sz="1200" u="none" cap="none" strike="noStrike">
              <a:solidFill>
                <a:schemeClr val="dk1"/>
              </a:solidFill>
              <a:latin typeface="Calibri"/>
              <a:ea typeface="Calibri"/>
              <a:cs typeface="Calibri"/>
              <a:sym typeface="Calibri"/>
            </a:endParaRPr>
          </a:p>
        </p:txBody>
      </p:sp>
      <p:sp>
        <p:nvSpPr>
          <p:cNvPr id="329" name="Google Shape;329;p10"/>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Copy this 3-column table. Add row 4 with your own evidence + effect.</a:t>
            </a:r>
            <a:endParaRPr b="0" i="0" sz="1200" u="none" cap="none" strike="noStrike">
              <a:solidFill>
                <a:schemeClr val="dk1"/>
              </a:solidFill>
              <a:latin typeface="Calibri"/>
              <a:ea typeface="Calibri"/>
              <a:cs typeface="Calibri"/>
              <a:sym typeface="Calibri"/>
            </a:endParaRPr>
          </a:p>
        </p:txBody>
      </p:sp>
      <p:sp>
        <p:nvSpPr>
          <p:cNvPr id="330" name="Google Shape;330;p10"/>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10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C14E"/>
        </a:solidFill>
      </p:bgPr>
    </p:bg>
    <p:spTree>
      <p:nvGrpSpPr>
        <p:cNvPr id="335" name="Shape 335"/>
        <p:cNvGrpSpPr/>
        <p:nvPr/>
      </p:nvGrpSpPr>
      <p:grpSpPr>
        <a:xfrm>
          <a:off x="0" y="0"/>
          <a:ext cx="0" cy="0"/>
          <a:chOff x="0" y="0"/>
          <a:chExt cx="0" cy="0"/>
        </a:xfrm>
      </p:grpSpPr>
      <p:sp>
        <p:nvSpPr>
          <p:cNvPr id="336" name="Google Shape;336;p11"/>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337" name="Google Shape;337;p11"/>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TURN &amp; TALK</a:t>
            </a:r>
            <a:endParaRPr b="0" i="0" sz="2600" u="none" cap="none" strike="noStrike">
              <a:solidFill>
                <a:schemeClr val="dk1"/>
              </a:solidFill>
              <a:latin typeface="Calibri"/>
              <a:ea typeface="Calibri"/>
              <a:cs typeface="Calibri"/>
              <a:sym typeface="Calibri"/>
            </a:endParaRPr>
          </a:p>
        </p:txBody>
      </p:sp>
      <p:sp>
        <p:nvSpPr>
          <p:cNvPr id="338" name="Google Shape;338;p11"/>
          <p:cNvSpPr/>
          <p:nvPr/>
        </p:nvSpPr>
        <p:spPr>
          <a:xfrm>
            <a:off x="7543800" y="274320"/>
            <a:ext cx="1234440" cy="384048"/>
          </a:xfrm>
          <a:prstGeom prst="roundRect">
            <a:avLst>
              <a:gd fmla="val 50000"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400"/>
              <a:buFont typeface="Arial Black"/>
              <a:buNone/>
            </a:pPr>
            <a:r>
              <a:rPr b="1" i="0" lang="en-US" sz="1400" u="none" cap="none" strike="noStrike">
                <a:solidFill>
                  <a:srgbClr val="F2C14E"/>
                </a:solidFill>
                <a:latin typeface="Arial Black"/>
                <a:ea typeface="Arial Black"/>
                <a:cs typeface="Arial Black"/>
                <a:sym typeface="Arial Black"/>
              </a:rPr>
              <a:t>3 MIN</a:t>
            </a:r>
            <a:endParaRPr b="0" i="0" sz="1400" u="none" cap="none" strike="noStrike">
              <a:solidFill>
                <a:schemeClr val="dk1"/>
              </a:solidFill>
              <a:latin typeface="Calibri"/>
              <a:ea typeface="Calibri"/>
              <a:cs typeface="Calibri"/>
              <a:sym typeface="Calibri"/>
            </a:endParaRPr>
          </a:p>
        </p:txBody>
      </p:sp>
      <p:sp>
        <p:nvSpPr>
          <p:cNvPr id="340" name="Google Shape;340;p11"/>
          <p:cNvSpPr/>
          <p:nvPr/>
        </p:nvSpPr>
        <p:spPr>
          <a:xfrm>
            <a:off x="640080" y="1463040"/>
            <a:ext cx="786384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200"/>
              <a:buFont typeface="Arial Black"/>
              <a:buNone/>
            </a:pPr>
            <a:r>
              <a:rPr b="1" i="0" lang="en-US" sz="3200" u="none" cap="none" strike="noStrike">
                <a:solidFill>
                  <a:srgbClr val="1E2761"/>
                </a:solidFill>
                <a:latin typeface="Arial Black"/>
                <a:ea typeface="Arial Black"/>
                <a:cs typeface="Arial Black"/>
                <a:sym typeface="Arial Black"/>
              </a:rPr>
              <a:t>Which setting clue creates the strongest mood — and why?</a:t>
            </a:r>
            <a:endParaRPr b="0" i="0" sz="3200" u="none" cap="none" strike="noStrike">
              <a:solidFill>
                <a:schemeClr val="dk1"/>
              </a:solidFill>
              <a:latin typeface="Calibri"/>
              <a:ea typeface="Calibri"/>
              <a:cs typeface="Calibri"/>
              <a:sym typeface="Calibri"/>
            </a:endParaRPr>
          </a:p>
        </p:txBody>
      </p:sp>
      <p:sp>
        <p:nvSpPr>
          <p:cNvPr id="341" name="Google Shape;341;p11"/>
          <p:cNvSpPr/>
          <p:nvPr/>
        </p:nvSpPr>
        <p:spPr>
          <a:xfrm>
            <a:off x="1371600" y="3108960"/>
            <a:ext cx="6400800" cy="128016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1"/>
          <p:cNvSpPr/>
          <p:nvPr/>
        </p:nvSpPr>
        <p:spPr>
          <a:xfrm>
            <a:off x="1554480" y="3200400"/>
            <a:ext cx="603504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300"/>
              <a:buFont typeface="Calibri"/>
              <a:buNone/>
            </a:pPr>
            <a:r>
              <a:rPr b="1" i="0" lang="en-US" sz="1300" u="none" cap="none" strike="noStrike">
                <a:solidFill>
                  <a:srgbClr val="F2C14E"/>
                </a:solidFill>
                <a:latin typeface="Calibri"/>
                <a:ea typeface="Calibri"/>
                <a:cs typeface="Calibri"/>
                <a:sym typeface="Calibri"/>
              </a:rPr>
              <a:t>STRUCTURE:</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  · 90 sec — Partner A explains. Partner B listens.</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  · 90 sec — Switch. Partner B explains. Partner A listens.</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F2C14E"/>
              </a:buClr>
              <a:buSzPts val="1300"/>
              <a:buFont typeface="Calibri"/>
              <a:buNone/>
            </a:pPr>
            <a:r>
              <a:rPr b="0" i="1" lang="en-US" sz="1300" u="none" cap="none" strike="noStrike">
                <a:solidFill>
                  <a:srgbClr val="F2C14E"/>
                </a:solidFill>
                <a:latin typeface="Calibri"/>
                <a:ea typeface="Calibri"/>
                <a:cs typeface="Calibri"/>
                <a:sym typeface="Calibri"/>
              </a:rPr>
              <a:t>  · Use a vocab word from the anchor in your answer.</a:t>
            </a:r>
            <a:endParaRPr b="0" i="0" sz="1300" u="none" cap="none" strike="noStrike">
              <a:solidFill>
                <a:schemeClr val="dk1"/>
              </a:solidFill>
              <a:latin typeface="Calibri"/>
              <a:ea typeface="Calibri"/>
              <a:cs typeface="Calibri"/>
              <a:sym typeface="Calibri"/>
            </a:endParaRPr>
          </a:p>
        </p:txBody>
      </p:sp>
      <p:sp>
        <p:nvSpPr>
          <p:cNvPr id="343" name="Google Shape;343;p11"/>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1" lang="en-US" sz="1200" u="none" cap="none" strike="noStrike">
                <a:solidFill>
                  <a:srgbClr val="1E2761"/>
                </a:solidFill>
                <a:latin typeface="Calibri"/>
                <a:ea typeface="Calibri"/>
                <a:cs typeface="Calibri"/>
                <a:sym typeface="Calibri"/>
              </a:rPr>
              <a:t>✎ No notes required — but listen for ideas you'll use later.</a:t>
            </a:r>
            <a:endParaRPr b="0" i="0" sz="1200" u="none" cap="none" strike="noStrike">
              <a:solidFill>
                <a:schemeClr val="dk1"/>
              </a:solidFill>
              <a:latin typeface="Calibri"/>
              <a:ea typeface="Calibri"/>
              <a:cs typeface="Calibri"/>
              <a:sym typeface="Calibri"/>
            </a:endParaRPr>
          </a:p>
        </p:txBody>
      </p:sp>
      <p:sp>
        <p:nvSpPr>
          <p:cNvPr id="344" name="Google Shape;344;p11"/>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3A78"/>
              </a:buClr>
              <a:buSzPts val="900"/>
              <a:buFont typeface="Calibri"/>
              <a:buNone/>
            </a:pPr>
            <a:r>
              <a:rPr b="0" i="0" lang="en-US" sz="900" u="none" cap="none" strike="noStrike">
                <a:solidFill>
                  <a:srgbClr val="2C3A78"/>
                </a:solidFill>
                <a:latin typeface="Calibri"/>
                <a:ea typeface="Calibri"/>
                <a:cs typeface="Calibri"/>
                <a:sym typeface="Calibri"/>
              </a:rPr>
              <a:t>11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49" name="Shape 349"/>
        <p:cNvGrpSpPr/>
        <p:nvPr/>
      </p:nvGrpSpPr>
      <p:grpSpPr>
        <a:xfrm>
          <a:off x="0" y="0"/>
          <a:ext cx="0" cy="0"/>
          <a:chOff x="0" y="0"/>
          <a:chExt cx="0" cy="0"/>
        </a:xfrm>
      </p:grpSpPr>
      <p:sp>
        <p:nvSpPr>
          <p:cNvPr id="350" name="Google Shape;350;p12"/>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Black"/>
              <a:buNone/>
            </a:pPr>
            <a:r>
              <a:rPr b="1" i="0" lang="en-US" sz="2600" u="none" cap="none" strike="noStrike">
                <a:solidFill>
                  <a:srgbClr val="FFFFFF"/>
                </a:solidFill>
                <a:latin typeface="Arial Black"/>
                <a:ea typeface="Arial Black"/>
                <a:cs typeface="Arial Black"/>
                <a:sym typeface="Arial Black"/>
              </a:rPr>
              <a:t>Passage 2 — Overboard</a:t>
            </a:r>
            <a:endParaRPr b="0" i="0" sz="2600" u="none" cap="none" strike="noStrike">
              <a:solidFill>
                <a:schemeClr val="dk1"/>
              </a:solidFill>
              <a:latin typeface="Calibri"/>
              <a:ea typeface="Calibri"/>
              <a:cs typeface="Calibri"/>
              <a:sym typeface="Calibri"/>
            </a:endParaRPr>
          </a:p>
        </p:txBody>
      </p:sp>
      <p:sp>
        <p:nvSpPr>
          <p:cNvPr id="351" name="Google Shape;351;p12"/>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352" name="Google Shape;352;p12"/>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10 MIN</a:t>
            </a:r>
            <a:endParaRPr b="0" i="0" sz="1400" u="none" cap="none" strike="noStrike">
              <a:solidFill>
                <a:schemeClr val="dk1"/>
              </a:solidFill>
              <a:latin typeface="Calibri"/>
              <a:ea typeface="Calibri"/>
              <a:cs typeface="Calibri"/>
              <a:sym typeface="Calibri"/>
            </a:endParaRPr>
          </a:p>
        </p:txBody>
      </p:sp>
      <p:sp>
        <p:nvSpPr>
          <p:cNvPr id="354" name="Google Shape;354;p12"/>
          <p:cNvSpPr/>
          <p:nvPr/>
        </p:nvSpPr>
        <p:spPr>
          <a:xfrm>
            <a:off x="365760" y="841248"/>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Georgia"/>
              <a:buNone/>
            </a:pPr>
            <a:r>
              <a:rPr b="0" i="1" lang="en-US" sz="1200" u="none" cap="none" strike="noStrike">
                <a:solidFill>
                  <a:srgbClr val="CADCFC"/>
                </a:solidFill>
                <a:latin typeface="Georgia"/>
                <a:ea typeface="Georgia"/>
                <a:cs typeface="Georgia"/>
                <a:sym typeface="Georgia"/>
              </a:rPr>
              <a:t>From "The Most Dangerous Game" by Richard Connell (1924, public domain)</a:t>
            </a:r>
            <a:endParaRPr b="0" i="0" sz="1200" u="none" cap="none" strike="noStrike">
              <a:solidFill>
                <a:schemeClr val="dk1"/>
              </a:solidFill>
              <a:latin typeface="Calibri"/>
              <a:ea typeface="Calibri"/>
              <a:cs typeface="Calibri"/>
              <a:sym typeface="Calibri"/>
            </a:endParaRPr>
          </a:p>
        </p:txBody>
      </p:sp>
      <p:sp>
        <p:nvSpPr>
          <p:cNvPr id="355" name="Google Shape;355;p12"/>
          <p:cNvSpPr/>
          <p:nvPr/>
        </p:nvSpPr>
        <p:spPr>
          <a:xfrm>
            <a:off x="365760" y="1207008"/>
            <a:ext cx="8412480" cy="2743200"/>
          </a:xfrm>
          <a:prstGeom prst="rect">
            <a:avLst/>
          </a:prstGeom>
          <a:solidFill>
            <a:srgbClr val="FFFFFF"/>
          </a:solidFill>
          <a:ln cap="flat" cmpd="sng" w="254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594360" y="1325880"/>
            <a:ext cx="7955280" cy="251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400"/>
              <a:buFont typeface="Georgia"/>
              <a:buNone/>
            </a:pPr>
            <a:r>
              <a:rPr b="0" i="0" lang="en-US" sz="1400" u="none" cap="none" strike="noStrike">
                <a:solidFill>
                  <a:srgbClr val="1E2761"/>
                </a:solidFill>
                <a:latin typeface="Georgia"/>
                <a:ea typeface="Georgia"/>
                <a:cs typeface="Georgia"/>
                <a:sym typeface="Georgia"/>
              </a:rPr>
              <a:t>There was a smashing sound; he was thrown into the sea. The cry was pinched off short as the bloodwarm waters of the Caribbean Sea closed over his head. He struggled up to the surface and tried to cry out, but the wash from the speeding yacht slapped him in the face and the salt water in his open mouth made him gag and strangle. Desperately he struck out with strong strokes after the receding lights of the yacht, but he stopped before he had swum fifty feet. A certain coolness had come to him; it was not the first time he had been in a tight place.</a:t>
            </a:r>
            <a:endParaRPr b="0" i="0" sz="1400" u="none" cap="none" strike="noStrike">
              <a:solidFill>
                <a:schemeClr val="dk1"/>
              </a:solidFill>
              <a:latin typeface="Calibri"/>
              <a:ea typeface="Calibri"/>
              <a:cs typeface="Calibri"/>
              <a:sym typeface="Calibri"/>
            </a:endParaRPr>
          </a:p>
        </p:txBody>
      </p:sp>
      <p:sp>
        <p:nvSpPr>
          <p:cNvPr id="357" name="Google Shape;357;p12"/>
          <p:cNvSpPr/>
          <p:nvPr/>
        </p:nvSpPr>
        <p:spPr>
          <a:xfrm>
            <a:off x="365760" y="4069080"/>
            <a:ext cx="8412480" cy="640080"/>
          </a:xfrm>
          <a:prstGeom prst="rect">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a:off x="502920" y="4069080"/>
            <a:ext cx="8138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GUIDED PRACTICE: Build the same 3-column table (Element / Evidence / Effect). Fill 3 rows. We check together.</a:t>
            </a:r>
            <a:endParaRPr b="0" i="0" sz="1300" u="none" cap="none" strike="noStrike">
              <a:solidFill>
                <a:schemeClr val="dk1"/>
              </a:solidFill>
              <a:latin typeface="Calibri"/>
              <a:ea typeface="Calibri"/>
              <a:cs typeface="Calibri"/>
              <a:sym typeface="Calibri"/>
            </a:endParaRPr>
          </a:p>
        </p:txBody>
      </p:sp>
      <p:sp>
        <p:nvSpPr>
          <p:cNvPr id="359" name="Google Shape;359;p12"/>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200"/>
              <a:buFont typeface="Calibri"/>
              <a:buNone/>
            </a:pPr>
            <a:r>
              <a:rPr b="1" i="1" lang="en-US" sz="1200" u="none" cap="none" strike="noStrike">
                <a:solidFill>
                  <a:srgbClr val="F2C14E"/>
                </a:solidFill>
                <a:latin typeface="Calibri"/>
                <a:ea typeface="Calibri"/>
                <a:cs typeface="Calibri"/>
                <a:sym typeface="Calibri"/>
              </a:rPr>
              <a:t>✎ NOTES — 3 rows minimum. Element + direct quote + effect. (You have 8 min — start now.)</a:t>
            </a:r>
            <a:endParaRPr b="0" i="0" sz="1200" u="none" cap="none" strike="noStrike">
              <a:solidFill>
                <a:schemeClr val="dk1"/>
              </a:solidFill>
              <a:latin typeface="Calibri"/>
              <a:ea typeface="Calibri"/>
              <a:cs typeface="Calibri"/>
              <a:sym typeface="Calibri"/>
            </a:endParaRPr>
          </a:p>
        </p:txBody>
      </p:sp>
      <p:sp>
        <p:nvSpPr>
          <p:cNvPr id="360" name="Google Shape;360;p12"/>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12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13"/>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367" name="Google Shape;367;p13"/>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Check your Passage 2 annotations</a:t>
            </a:r>
            <a:endParaRPr b="0" i="0" sz="2600" u="none" cap="none" strike="noStrike">
              <a:solidFill>
                <a:schemeClr val="dk1"/>
              </a:solidFill>
              <a:latin typeface="Calibri"/>
              <a:ea typeface="Calibri"/>
              <a:cs typeface="Calibri"/>
              <a:sym typeface="Calibri"/>
            </a:endParaRPr>
          </a:p>
        </p:txBody>
      </p:sp>
      <p:sp>
        <p:nvSpPr>
          <p:cNvPr id="368" name="Google Shape;368;p13"/>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3"/>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4 MIN</a:t>
            </a:r>
            <a:endParaRPr b="0" i="0" sz="1400" u="none" cap="none" strike="noStrike">
              <a:solidFill>
                <a:schemeClr val="dk1"/>
              </a:solidFill>
              <a:latin typeface="Calibri"/>
              <a:ea typeface="Calibri"/>
              <a:cs typeface="Calibri"/>
              <a:sym typeface="Calibri"/>
            </a:endParaRPr>
          </a:p>
        </p:txBody>
      </p:sp>
      <p:sp>
        <p:nvSpPr>
          <p:cNvPr id="370" name="Google Shape;370;p13"/>
          <p:cNvSpPr/>
          <p:nvPr/>
        </p:nvSpPr>
        <p:spPr>
          <a:xfrm>
            <a:off x="365760" y="932688"/>
            <a:ext cx="233172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p:nvPr/>
        </p:nvSpPr>
        <p:spPr>
          <a:xfrm>
            <a:off x="365760" y="932688"/>
            <a:ext cx="2331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372" name="Google Shape;372;p13"/>
          <p:cNvSpPr/>
          <p:nvPr/>
        </p:nvSpPr>
        <p:spPr>
          <a:xfrm>
            <a:off x="365760" y="141732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ANSWER KEY — your table should look something like this:</a:t>
            </a:r>
            <a:endParaRPr b="0" i="0" sz="1200" u="none" cap="none" strike="noStrike">
              <a:solidFill>
                <a:schemeClr val="dk1"/>
              </a:solidFill>
              <a:latin typeface="Calibri"/>
              <a:ea typeface="Calibri"/>
              <a:cs typeface="Calibri"/>
              <a:sym typeface="Calibri"/>
            </a:endParaRPr>
          </a:p>
        </p:txBody>
      </p:sp>
      <p:sp>
        <p:nvSpPr>
          <p:cNvPr id="373" name="Google Shape;373;p13"/>
          <p:cNvSpPr/>
          <p:nvPr/>
        </p:nvSpPr>
        <p:spPr>
          <a:xfrm>
            <a:off x="365760" y="1783080"/>
            <a:ext cx="8412480" cy="329184"/>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365760" y="1783080"/>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ELEMENT</a:t>
            </a:r>
            <a:endParaRPr b="0" i="0" sz="1100" u="none" cap="none" strike="noStrike">
              <a:solidFill>
                <a:schemeClr val="dk1"/>
              </a:solidFill>
              <a:latin typeface="Calibri"/>
              <a:ea typeface="Calibri"/>
              <a:cs typeface="Calibri"/>
              <a:sym typeface="Calibri"/>
            </a:endParaRPr>
          </a:p>
        </p:txBody>
      </p:sp>
      <p:sp>
        <p:nvSpPr>
          <p:cNvPr id="375" name="Google Shape;375;p13"/>
          <p:cNvSpPr/>
          <p:nvPr/>
        </p:nvSpPr>
        <p:spPr>
          <a:xfrm>
            <a:off x="1828800" y="1783080"/>
            <a:ext cx="3749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EVIDENCE</a:t>
            </a:r>
            <a:endParaRPr b="0" i="0" sz="1100" u="none" cap="none" strike="noStrike">
              <a:solidFill>
                <a:schemeClr val="dk1"/>
              </a:solidFill>
              <a:latin typeface="Calibri"/>
              <a:ea typeface="Calibri"/>
              <a:cs typeface="Calibri"/>
              <a:sym typeface="Calibri"/>
            </a:endParaRPr>
          </a:p>
        </p:txBody>
      </p:sp>
      <p:sp>
        <p:nvSpPr>
          <p:cNvPr id="376" name="Google Shape;376;p13"/>
          <p:cNvSpPr/>
          <p:nvPr/>
        </p:nvSpPr>
        <p:spPr>
          <a:xfrm>
            <a:off x="5577840" y="1783080"/>
            <a:ext cx="32004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EFFECT</a:t>
            </a:r>
            <a:endParaRPr b="0" i="0" sz="1100" u="none" cap="none" strike="noStrike">
              <a:solidFill>
                <a:schemeClr val="dk1"/>
              </a:solidFill>
              <a:latin typeface="Calibri"/>
              <a:ea typeface="Calibri"/>
              <a:cs typeface="Calibri"/>
              <a:sym typeface="Calibri"/>
            </a:endParaRPr>
          </a:p>
        </p:txBody>
      </p:sp>
      <p:sp>
        <p:nvSpPr>
          <p:cNvPr id="377" name="Google Shape;377;p13"/>
          <p:cNvSpPr/>
          <p:nvPr/>
        </p:nvSpPr>
        <p:spPr>
          <a:xfrm>
            <a:off x="365760" y="2112264"/>
            <a:ext cx="1463040" cy="59436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3"/>
          <p:cNvSpPr/>
          <p:nvPr/>
        </p:nvSpPr>
        <p:spPr>
          <a:xfrm>
            <a:off x="438912" y="2112264"/>
            <a:ext cx="1316736"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Plot</a:t>
            </a:r>
            <a:endParaRPr b="0" i="0" sz="1300" u="none" cap="none" strike="noStrike">
              <a:solidFill>
                <a:schemeClr val="dk1"/>
              </a:solidFill>
              <a:latin typeface="Calibri"/>
              <a:ea typeface="Calibri"/>
              <a:cs typeface="Calibri"/>
              <a:sym typeface="Calibri"/>
            </a:endParaRPr>
          </a:p>
        </p:txBody>
      </p:sp>
      <p:sp>
        <p:nvSpPr>
          <p:cNvPr id="379" name="Google Shape;379;p13"/>
          <p:cNvSpPr/>
          <p:nvPr/>
        </p:nvSpPr>
        <p:spPr>
          <a:xfrm>
            <a:off x="1828800" y="2112264"/>
            <a:ext cx="3749040" cy="59436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1901952" y="2112264"/>
            <a:ext cx="3602736"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"he was thrown into the sea"</a:t>
            </a:r>
            <a:endParaRPr b="0" i="0" sz="1100" u="none" cap="none" strike="noStrike">
              <a:solidFill>
                <a:schemeClr val="dk1"/>
              </a:solidFill>
              <a:latin typeface="Calibri"/>
              <a:ea typeface="Calibri"/>
              <a:cs typeface="Calibri"/>
              <a:sym typeface="Calibri"/>
            </a:endParaRPr>
          </a:p>
        </p:txBody>
      </p:sp>
      <p:sp>
        <p:nvSpPr>
          <p:cNvPr id="381" name="Google Shape;381;p13"/>
          <p:cNvSpPr/>
          <p:nvPr/>
        </p:nvSpPr>
        <p:spPr>
          <a:xfrm>
            <a:off x="5577840" y="2112264"/>
            <a:ext cx="3200400" cy="59436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3"/>
          <p:cNvSpPr/>
          <p:nvPr/>
        </p:nvSpPr>
        <p:spPr>
          <a:xfrm>
            <a:off x="5650992" y="2112264"/>
            <a:ext cx="3054096"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0" lang="en-US" sz="1100" u="none" cap="none" strike="noStrike">
                <a:solidFill>
                  <a:srgbClr val="1E2761"/>
                </a:solidFill>
                <a:latin typeface="Calibri"/>
                <a:ea typeface="Calibri"/>
                <a:cs typeface="Calibri"/>
                <a:sym typeface="Calibri"/>
              </a:rPr>
              <a:t>Inciting incident — Rainsford is now isolated from civilization.</a:t>
            </a:r>
            <a:endParaRPr b="0" i="0" sz="1100" u="none" cap="none" strike="noStrike">
              <a:solidFill>
                <a:schemeClr val="dk1"/>
              </a:solidFill>
              <a:latin typeface="Calibri"/>
              <a:ea typeface="Calibri"/>
              <a:cs typeface="Calibri"/>
              <a:sym typeface="Calibri"/>
            </a:endParaRPr>
          </a:p>
        </p:txBody>
      </p:sp>
      <p:sp>
        <p:nvSpPr>
          <p:cNvPr id="383" name="Google Shape;383;p13"/>
          <p:cNvSpPr/>
          <p:nvPr/>
        </p:nvSpPr>
        <p:spPr>
          <a:xfrm>
            <a:off x="365760" y="2706624"/>
            <a:ext cx="1463040" cy="59436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438912" y="2706624"/>
            <a:ext cx="1316736"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Setting</a:t>
            </a:r>
            <a:endParaRPr b="0" i="0" sz="1300" u="none" cap="none" strike="noStrike">
              <a:solidFill>
                <a:schemeClr val="dk1"/>
              </a:solidFill>
              <a:latin typeface="Calibri"/>
              <a:ea typeface="Calibri"/>
              <a:cs typeface="Calibri"/>
              <a:sym typeface="Calibri"/>
            </a:endParaRPr>
          </a:p>
        </p:txBody>
      </p:sp>
      <p:sp>
        <p:nvSpPr>
          <p:cNvPr id="385" name="Google Shape;385;p13"/>
          <p:cNvSpPr/>
          <p:nvPr/>
        </p:nvSpPr>
        <p:spPr>
          <a:xfrm>
            <a:off x="1828800" y="2706624"/>
            <a:ext cx="3749040" cy="59436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3"/>
          <p:cNvSpPr/>
          <p:nvPr/>
        </p:nvSpPr>
        <p:spPr>
          <a:xfrm>
            <a:off x="1901952" y="2706624"/>
            <a:ext cx="3602736"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"bloodwarm waters of the Caribbean Sea"</a:t>
            </a:r>
            <a:endParaRPr b="0" i="0" sz="1100" u="none" cap="none" strike="noStrike">
              <a:solidFill>
                <a:schemeClr val="dk1"/>
              </a:solidFill>
              <a:latin typeface="Calibri"/>
              <a:ea typeface="Calibri"/>
              <a:cs typeface="Calibri"/>
              <a:sym typeface="Calibri"/>
            </a:endParaRPr>
          </a:p>
        </p:txBody>
      </p:sp>
      <p:sp>
        <p:nvSpPr>
          <p:cNvPr id="387" name="Google Shape;387;p13"/>
          <p:cNvSpPr/>
          <p:nvPr/>
        </p:nvSpPr>
        <p:spPr>
          <a:xfrm>
            <a:off x="5577840" y="2706624"/>
            <a:ext cx="3200400" cy="59436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3"/>
          <p:cNvSpPr/>
          <p:nvPr/>
        </p:nvSpPr>
        <p:spPr>
          <a:xfrm>
            <a:off x="5650992" y="2706624"/>
            <a:ext cx="3054096"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0" lang="en-US" sz="1100" u="none" cap="none" strike="noStrike">
                <a:solidFill>
                  <a:srgbClr val="1E2761"/>
                </a:solidFill>
                <a:latin typeface="Calibri"/>
                <a:ea typeface="Calibri"/>
                <a:cs typeface="Calibri"/>
                <a:sym typeface="Calibri"/>
              </a:rPr>
              <a:t>"Bloodwarm" foreshadows violence; setting echoes danger.</a:t>
            </a:r>
            <a:endParaRPr b="0" i="0" sz="1100" u="none" cap="none" strike="noStrike">
              <a:solidFill>
                <a:schemeClr val="dk1"/>
              </a:solidFill>
              <a:latin typeface="Calibri"/>
              <a:ea typeface="Calibri"/>
              <a:cs typeface="Calibri"/>
              <a:sym typeface="Calibri"/>
            </a:endParaRPr>
          </a:p>
        </p:txBody>
      </p:sp>
      <p:sp>
        <p:nvSpPr>
          <p:cNvPr id="389" name="Google Shape;389;p13"/>
          <p:cNvSpPr/>
          <p:nvPr/>
        </p:nvSpPr>
        <p:spPr>
          <a:xfrm>
            <a:off x="365760" y="3300984"/>
            <a:ext cx="1463040" cy="59436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438912" y="3300984"/>
            <a:ext cx="1316736"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Plot</a:t>
            </a:r>
            <a:endParaRPr b="0" i="0" sz="1300" u="none" cap="none" strike="noStrike">
              <a:solidFill>
                <a:schemeClr val="dk1"/>
              </a:solidFill>
              <a:latin typeface="Calibri"/>
              <a:ea typeface="Calibri"/>
              <a:cs typeface="Calibri"/>
              <a:sym typeface="Calibri"/>
            </a:endParaRPr>
          </a:p>
        </p:txBody>
      </p:sp>
      <p:sp>
        <p:nvSpPr>
          <p:cNvPr id="391" name="Google Shape;391;p13"/>
          <p:cNvSpPr/>
          <p:nvPr/>
        </p:nvSpPr>
        <p:spPr>
          <a:xfrm>
            <a:off x="1828800" y="3300984"/>
            <a:ext cx="3749040" cy="59436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1901952" y="3300984"/>
            <a:ext cx="3602736"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Georgia"/>
              <a:buNone/>
            </a:pPr>
            <a:r>
              <a:rPr b="0" i="1" lang="en-US" sz="1100" u="none" cap="none" strike="noStrike">
                <a:solidFill>
                  <a:srgbClr val="1E2761"/>
                </a:solidFill>
                <a:latin typeface="Georgia"/>
                <a:ea typeface="Georgia"/>
                <a:cs typeface="Georgia"/>
                <a:sym typeface="Georgia"/>
              </a:rPr>
              <a:t>"he stopped before he had swum fifty feet"</a:t>
            </a:r>
            <a:endParaRPr b="0" i="0" sz="1100" u="none" cap="none" strike="noStrike">
              <a:solidFill>
                <a:schemeClr val="dk1"/>
              </a:solidFill>
              <a:latin typeface="Calibri"/>
              <a:ea typeface="Calibri"/>
              <a:cs typeface="Calibri"/>
              <a:sym typeface="Calibri"/>
            </a:endParaRPr>
          </a:p>
        </p:txBody>
      </p:sp>
      <p:sp>
        <p:nvSpPr>
          <p:cNvPr id="393" name="Google Shape;393;p13"/>
          <p:cNvSpPr/>
          <p:nvPr/>
        </p:nvSpPr>
        <p:spPr>
          <a:xfrm>
            <a:off x="5577840" y="3300984"/>
            <a:ext cx="3200400" cy="59436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3"/>
          <p:cNvSpPr/>
          <p:nvPr/>
        </p:nvSpPr>
        <p:spPr>
          <a:xfrm>
            <a:off x="5650992" y="3300984"/>
            <a:ext cx="3054096"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0" lang="en-US" sz="1100" u="none" cap="none" strike="noStrike">
                <a:solidFill>
                  <a:srgbClr val="1E2761"/>
                </a:solidFill>
                <a:latin typeface="Calibri"/>
                <a:ea typeface="Calibri"/>
                <a:cs typeface="Calibri"/>
                <a:sym typeface="Calibri"/>
              </a:rPr>
              <a:t>Rising action — Rainsford accepts his situation; conflict is set.</a:t>
            </a:r>
            <a:endParaRPr b="0" i="0" sz="1100" u="none" cap="none" strike="noStrike">
              <a:solidFill>
                <a:schemeClr val="dk1"/>
              </a:solidFill>
              <a:latin typeface="Calibri"/>
              <a:ea typeface="Calibri"/>
              <a:cs typeface="Calibri"/>
              <a:sym typeface="Calibri"/>
            </a:endParaRPr>
          </a:p>
        </p:txBody>
      </p:sp>
      <p:sp>
        <p:nvSpPr>
          <p:cNvPr id="395" name="Google Shape;395;p13"/>
          <p:cNvSpPr/>
          <p:nvPr/>
        </p:nvSpPr>
        <p:spPr>
          <a:xfrm>
            <a:off x="365760" y="4032504"/>
            <a:ext cx="8412480" cy="5486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3"/>
          <p:cNvSpPr/>
          <p:nvPr/>
        </p:nvSpPr>
        <p:spPr>
          <a:xfrm>
            <a:off x="502920" y="4032504"/>
            <a:ext cx="8138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300"/>
              <a:buFont typeface="Calibri"/>
              <a:buNone/>
            </a:pPr>
            <a:r>
              <a:rPr b="1" i="0" lang="en-US" sz="1300" u="none" cap="none" strike="noStrike">
                <a:solidFill>
                  <a:srgbClr val="F2C14E"/>
                </a:solidFill>
                <a:latin typeface="Calibri"/>
                <a:ea typeface="Calibri"/>
                <a:cs typeface="Calibri"/>
                <a:sym typeface="Calibri"/>
              </a:rPr>
              <a:t>✓ MARK YOUR WORK: Anything you missed, add in a different color pen so you can see what to study.</a:t>
            </a:r>
            <a:endParaRPr b="0" i="0" sz="1300" u="none" cap="none" strike="noStrike">
              <a:solidFill>
                <a:schemeClr val="dk1"/>
              </a:solidFill>
              <a:latin typeface="Calibri"/>
              <a:ea typeface="Calibri"/>
              <a:cs typeface="Calibri"/>
              <a:sym typeface="Calibri"/>
            </a:endParaRPr>
          </a:p>
        </p:txBody>
      </p:sp>
      <p:sp>
        <p:nvSpPr>
          <p:cNvPr id="397" name="Google Shape;397;p13"/>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Mark anything you missed in green/red pen. Don't erase — see what to study.</a:t>
            </a:r>
            <a:endParaRPr b="0" i="0" sz="1200" u="none" cap="none" strike="noStrike">
              <a:solidFill>
                <a:schemeClr val="dk1"/>
              </a:solidFill>
              <a:latin typeface="Calibri"/>
              <a:ea typeface="Calibri"/>
              <a:cs typeface="Calibri"/>
              <a:sym typeface="Calibri"/>
            </a:endParaRPr>
          </a:p>
        </p:txBody>
      </p:sp>
      <p:sp>
        <p:nvSpPr>
          <p:cNvPr id="398" name="Google Shape;398;p13"/>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13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03" name="Shape 403"/>
        <p:cNvGrpSpPr/>
        <p:nvPr/>
      </p:nvGrpSpPr>
      <p:grpSpPr>
        <a:xfrm>
          <a:off x="0" y="0"/>
          <a:ext cx="0" cy="0"/>
          <a:chOff x="0" y="0"/>
          <a:chExt cx="0" cy="0"/>
        </a:xfrm>
      </p:grpSpPr>
      <p:sp>
        <p:nvSpPr>
          <p:cNvPr id="404" name="Google Shape;404;p14"/>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Black"/>
              <a:buNone/>
            </a:pPr>
            <a:r>
              <a:rPr b="1" i="0" lang="en-US" sz="2600" u="none" cap="none" strike="noStrike">
                <a:solidFill>
                  <a:srgbClr val="FFFFFF"/>
                </a:solidFill>
                <a:latin typeface="Arial Black"/>
                <a:ea typeface="Arial Black"/>
                <a:cs typeface="Arial Black"/>
                <a:sym typeface="Arial Black"/>
              </a:rPr>
              <a:t>Passage 3 — INDEPENDENT</a:t>
            </a:r>
            <a:endParaRPr b="0" i="0" sz="2600" u="none" cap="none" strike="noStrike">
              <a:solidFill>
                <a:schemeClr val="dk1"/>
              </a:solidFill>
              <a:latin typeface="Calibri"/>
              <a:ea typeface="Calibri"/>
              <a:cs typeface="Calibri"/>
              <a:sym typeface="Calibri"/>
            </a:endParaRPr>
          </a:p>
        </p:txBody>
      </p:sp>
      <p:sp>
        <p:nvSpPr>
          <p:cNvPr id="405" name="Google Shape;405;p14"/>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406" name="Google Shape;406;p14"/>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10 MIN</a:t>
            </a:r>
            <a:endParaRPr b="0" i="0" sz="1400" u="none" cap="none" strike="noStrike">
              <a:solidFill>
                <a:schemeClr val="dk1"/>
              </a:solidFill>
              <a:latin typeface="Calibri"/>
              <a:ea typeface="Calibri"/>
              <a:cs typeface="Calibri"/>
              <a:sym typeface="Calibri"/>
            </a:endParaRPr>
          </a:p>
        </p:txBody>
      </p:sp>
      <p:sp>
        <p:nvSpPr>
          <p:cNvPr id="408" name="Google Shape;408;p14"/>
          <p:cNvSpPr/>
          <p:nvPr/>
        </p:nvSpPr>
        <p:spPr>
          <a:xfrm>
            <a:off x="365760" y="841248"/>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Georgia"/>
              <a:buNone/>
            </a:pPr>
            <a:r>
              <a:rPr b="0" i="1" lang="en-US" sz="1200" u="none" cap="none" strike="noStrike">
                <a:solidFill>
                  <a:srgbClr val="CADCFC"/>
                </a:solidFill>
                <a:latin typeface="Georgia"/>
                <a:ea typeface="Georgia"/>
                <a:cs typeface="Georgia"/>
                <a:sym typeface="Georgia"/>
              </a:rPr>
              <a:t>From "The Most Dangerous Game" by Richard Connell (1924, public domain)</a:t>
            </a:r>
            <a:endParaRPr b="0" i="0" sz="1200" u="none" cap="none" strike="noStrike">
              <a:solidFill>
                <a:schemeClr val="dk1"/>
              </a:solidFill>
              <a:latin typeface="Calibri"/>
              <a:ea typeface="Calibri"/>
              <a:cs typeface="Calibri"/>
              <a:sym typeface="Calibri"/>
            </a:endParaRPr>
          </a:p>
        </p:txBody>
      </p:sp>
      <p:sp>
        <p:nvSpPr>
          <p:cNvPr id="409" name="Google Shape;409;p14"/>
          <p:cNvSpPr/>
          <p:nvPr/>
        </p:nvSpPr>
        <p:spPr>
          <a:xfrm>
            <a:off x="365760" y="1207008"/>
            <a:ext cx="8412480" cy="2743200"/>
          </a:xfrm>
          <a:prstGeom prst="rect">
            <a:avLst/>
          </a:prstGeom>
          <a:solidFill>
            <a:srgbClr val="FFFFFF"/>
          </a:solidFill>
          <a:ln cap="flat" cmpd="sng" w="254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p:nvPr/>
        </p:nvSpPr>
        <p:spPr>
          <a:xfrm>
            <a:off x="594360" y="1325880"/>
            <a:ext cx="7955280" cy="251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400"/>
              <a:buFont typeface="Georgia"/>
              <a:buNone/>
            </a:pPr>
            <a:r>
              <a:rPr b="0" i="0" lang="en-US" sz="1400" u="none" cap="none" strike="noStrike">
                <a:solidFill>
                  <a:srgbClr val="1E2761"/>
                </a:solidFill>
                <a:latin typeface="Georgia"/>
                <a:ea typeface="Georgia"/>
                <a:cs typeface="Georgia"/>
                <a:sym typeface="Georgia"/>
              </a:rPr>
              <a:t>His eyes made out the shadowy outlines of a palatial chateau; it was set on a high bluff, and on three sides of it cliffs dived down to where the sea licked greedy lips in the shadows. He saw a tall spiked iron gate. The stone steps were real enough; the massive door with a leering gargoyle for a knocker was real enough; yet about it all hung an air of unreality. He lifted the knocker, and it creaked up stiffly, as if it had never before been used. He let it fall, and it startled him with its booming loudness.</a:t>
            </a:r>
            <a:endParaRPr b="0" i="0" sz="1400" u="none" cap="none" strike="noStrike">
              <a:solidFill>
                <a:schemeClr val="dk1"/>
              </a:solidFill>
              <a:latin typeface="Calibri"/>
              <a:ea typeface="Calibri"/>
              <a:cs typeface="Calibri"/>
              <a:sym typeface="Calibri"/>
            </a:endParaRPr>
          </a:p>
        </p:txBody>
      </p:sp>
      <p:sp>
        <p:nvSpPr>
          <p:cNvPr id="411" name="Google Shape;411;p14"/>
          <p:cNvSpPr/>
          <p:nvPr/>
        </p:nvSpPr>
        <p:spPr>
          <a:xfrm>
            <a:off x="365760" y="4069080"/>
            <a:ext cx="8412480" cy="640080"/>
          </a:xfrm>
          <a:prstGeom prst="rect">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4"/>
          <p:cNvSpPr/>
          <p:nvPr/>
        </p:nvSpPr>
        <p:spPr>
          <a:xfrm>
            <a:off x="502920" y="4069080"/>
            <a:ext cx="8138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INDEPENDENT — Build the 3-column table on your own. 4 ROWS MINIMUM. No partner, no looking at slide 10/13 keys.</a:t>
            </a:r>
            <a:endParaRPr b="0" i="0" sz="1300" u="none" cap="none" strike="noStrike">
              <a:solidFill>
                <a:schemeClr val="dk1"/>
              </a:solidFill>
              <a:latin typeface="Calibri"/>
              <a:ea typeface="Calibri"/>
              <a:cs typeface="Calibri"/>
              <a:sym typeface="Calibri"/>
            </a:endParaRPr>
          </a:p>
        </p:txBody>
      </p:sp>
      <p:sp>
        <p:nvSpPr>
          <p:cNvPr id="413" name="Google Shape;413;p14"/>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200"/>
              <a:buFont typeface="Calibri"/>
              <a:buNone/>
            </a:pPr>
            <a:r>
              <a:rPr b="1" i="1" lang="en-US" sz="1200" u="none" cap="none" strike="noStrike">
                <a:solidFill>
                  <a:srgbClr val="F2C14E"/>
                </a:solidFill>
                <a:latin typeface="Calibri"/>
                <a:ea typeface="Calibri"/>
                <a:cs typeface="Calibri"/>
                <a:sym typeface="Calibri"/>
              </a:rPr>
              <a:t>✎ NOTES — Independent work. 4 rows. Element + direct quote (with quote marks) + effect. Begin.</a:t>
            </a:r>
            <a:endParaRPr b="0" i="0" sz="1200" u="none" cap="none" strike="noStrike">
              <a:solidFill>
                <a:schemeClr val="dk1"/>
              </a:solidFill>
              <a:latin typeface="Calibri"/>
              <a:ea typeface="Calibri"/>
              <a:cs typeface="Calibri"/>
              <a:sym typeface="Calibri"/>
            </a:endParaRPr>
          </a:p>
        </p:txBody>
      </p:sp>
      <p:sp>
        <p:nvSpPr>
          <p:cNvPr id="414" name="Google Shape;414;p14"/>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14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C14E"/>
        </a:solidFill>
      </p:bgPr>
    </p:bg>
    <p:spTree>
      <p:nvGrpSpPr>
        <p:cNvPr id="419" name="Shape 419"/>
        <p:cNvGrpSpPr/>
        <p:nvPr/>
      </p:nvGrpSpPr>
      <p:grpSpPr>
        <a:xfrm>
          <a:off x="0" y="0"/>
          <a:ext cx="0" cy="0"/>
          <a:chOff x="0" y="0"/>
          <a:chExt cx="0" cy="0"/>
        </a:xfrm>
      </p:grpSpPr>
      <p:sp>
        <p:nvSpPr>
          <p:cNvPr id="420" name="Google Shape;420;p15"/>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421" name="Google Shape;421;p15"/>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STOP &amp; SHARE</a:t>
            </a:r>
            <a:endParaRPr b="0" i="0" sz="2600" u="none" cap="none" strike="noStrike">
              <a:solidFill>
                <a:schemeClr val="dk1"/>
              </a:solidFill>
              <a:latin typeface="Calibri"/>
              <a:ea typeface="Calibri"/>
              <a:cs typeface="Calibri"/>
              <a:sym typeface="Calibri"/>
            </a:endParaRPr>
          </a:p>
        </p:txBody>
      </p:sp>
      <p:sp>
        <p:nvSpPr>
          <p:cNvPr id="422" name="Google Shape;422;p15"/>
          <p:cNvSpPr/>
          <p:nvPr/>
        </p:nvSpPr>
        <p:spPr>
          <a:xfrm>
            <a:off x="7543800" y="274320"/>
            <a:ext cx="1234440" cy="384048"/>
          </a:xfrm>
          <a:prstGeom prst="roundRect">
            <a:avLst>
              <a:gd fmla="val 50000"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5"/>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400"/>
              <a:buFont typeface="Arial Black"/>
              <a:buNone/>
            </a:pPr>
            <a:r>
              <a:rPr b="1" i="0" lang="en-US" sz="1400" u="none" cap="none" strike="noStrike">
                <a:solidFill>
                  <a:srgbClr val="F2C14E"/>
                </a:solidFill>
                <a:latin typeface="Arial Black"/>
                <a:ea typeface="Arial Black"/>
                <a:cs typeface="Arial Black"/>
                <a:sym typeface="Arial Black"/>
              </a:rPr>
              <a:t>4 MIN</a:t>
            </a:r>
            <a:endParaRPr b="0" i="0" sz="1400" u="none" cap="none" strike="noStrike">
              <a:solidFill>
                <a:schemeClr val="dk1"/>
              </a:solidFill>
              <a:latin typeface="Calibri"/>
              <a:ea typeface="Calibri"/>
              <a:cs typeface="Calibri"/>
              <a:sym typeface="Calibri"/>
            </a:endParaRPr>
          </a:p>
        </p:txBody>
      </p:sp>
      <p:sp>
        <p:nvSpPr>
          <p:cNvPr id="424" name="Google Shape;424;p15"/>
          <p:cNvSpPr/>
          <p:nvPr/>
        </p:nvSpPr>
        <p:spPr>
          <a:xfrm>
            <a:off x="640080" y="1280160"/>
            <a:ext cx="7863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400"/>
              <a:buFont typeface="Arial Black"/>
              <a:buNone/>
            </a:pPr>
            <a:r>
              <a:rPr b="1" i="0" lang="en-US" sz="2400" u="none" cap="none" strike="noStrike">
                <a:solidFill>
                  <a:srgbClr val="1E2761"/>
                </a:solidFill>
                <a:latin typeface="Arial Black"/>
                <a:ea typeface="Arial Black"/>
                <a:cs typeface="Arial Black"/>
                <a:sym typeface="Arial Black"/>
              </a:rPr>
              <a:t>Trade journals with your shoulder partner.</a:t>
            </a:r>
            <a:endParaRPr b="0" i="0" sz="2400" u="none" cap="none" strike="noStrike">
              <a:solidFill>
                <a:schemeClr val="dk1"/>
              </a:solidFill>
              <a:latin typeface="Calibri"/>
              <a:ea typeface="Calibri"/>
              <a:cs typeface="Calibri"/>
              <a:sym typeface="Calibri"/>
            </a:endParaRPr>
          </a:p>
        </p:txBody>
      </p:sp>
      <p:sp>
        <p:nvSpPr>
          <p:cNvPr id="425" name="Google Shape;425;p15"/>
          <p:cNvSpPr/>
          <p:nvPr/>
        </p:nvSpPr>
        <p:spPr>
          <a:xfrm>
            <a:off x="1371600" y="2103120"/>
            <a:ext cx="6400800" cy="22860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a:off x="1554480" y="2194560"/>
            <a:ext cx="6035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300"/>
              <a:buFont typeface="Arial Black"/>
              <a:buNone/>
            </a:pPr>
            <a:r>
              <a:rPr b="1" i="0" lang="en-US" sz="1300" u="none" cap="none" strike="noStrike">
                <a:solidFill>
                  <a:srgbClr val="F2C14E"/>
                </a:solidFill>
                <a:latin typeface="Arial Black"/>
                <a:ea typeface="Arial Black"/>
                <a:cs typeface="Arial Black"/>
                <a:sym typeface="Arial Black"/>
              </a:rPr>
              <a:t>CHECKLIST — use this on your partner's page:</a:t>
            </a:r>
            <a:endParaRPr b="0" i="0" sz="1300" u="none" cap="none" strike="noStrike">
              <a:solidFill>
                <a:schemeClr val="dk1"/>
              </a:solidFill>
              <a:latin typeface="Calibri"/>
              <a:ea typeface="Calibri"/>
              <a:cs typeface="Calibri"/>
              <a:sym typeface="Calibri"/>
            </a:endParaRPr>
          </a:p>
        </p:txBody>
      </p:sp>
      <p:sp>
        <p:nvSpPr>
          <p:cNvPr id="427" name="Google Shape;427;p15"/>
          <p:cNvSpPr/>
          <p:nvPr/>
        </p:nvSpPr>
        <p:spPr>
          <a:xfrm>
            <a:off x="1737360" y="2606040"/>
            <a:ext cx="585216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4 rows minimum?</a:t>
            </a:r>
            <a:endParaRPr b="0" i="0" sz="16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Direct quotes (with quote marks)?</a:t>
            </a:r>
            <a:endParaRPr b="0" i="0" sz="16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Effect explained — not just element identified?</a:t>
            </a:r>
            <a:endParaRPr b="0" i="0" sz="16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At least 1 vocab word from slide 8 used?</a:t>
            </a:r>
            <a:endParaRPr b="0" i="0" sz="1600" u="none" cap="none" strike="noStrike">
              <a:solidFill>
                <a:schemeClr val="dk1"/>
              </a:solidFill>
              <a:latin typeface="Calibri"/>
              <a:ea typeface="Calibri"/>
              <a:cs typeface="Calibri"/>
              <a:sym typeface="Calibri"/>
            </a:endParaRPr>
          </a:p>
        </p:txBody>
      </p:sp>
      <p:sp>
        <p:nvSpPr>
          <p:cNvPr id="428" name="Google Shape;428;p15"/>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1" lang="en-US" sz="1200" u="none" cap="none" strike="noStrike">
                <a:solidFill>
                  <a:srgbClr val="1E2761"/>
                </a:solidFill>
                <a:latin typeface="Calibri"/>
                <a:ea typeface="Calibri"/>
                <a:cs typeface="Calibri"/>
                <a:sym typeface="Calibri"/>
              </a:rPr>
              <a:t>✎ On your partner's page, add ONE row you'd add. Then trade back.</a:t>
            </a:r>
            <a:endParaRPr b="0" i="0" sz="1200" u="none" cap="none" strike="noStrike">
              <a:solidFill>
                <a:schemeClr val="dk1"/>
              </a:solidFill>
              <a:latin typeface="Calibri"/>
              <a:ea typeface="Calibri"/>
              <a:cs typeface="Calibri"/>
              <a:sym typeface="Calibri"/>
            </a:endParaRPr>
          </a:p>
        </p:txBody>
      </p:sp>
      <p:sp>
        <p:nvSpPr>
          <p:cNvPr id="429" name="Google Shape;429;p15"/>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3A78"/>
              </a:buClr>
              <a:buSzPts val="900"/>
              <a:buFont typeface="Calibri"/>
              <a:buNone/>
            </a:pPr>
            <a:r>
              <a:rPr b="0" i="0" lang="en-US" sz="900" u="none" cap="none" strike="noStrike">
                <a:solidFill>
                  <a:srgbClr val="2C3A78"/>
                </a:solidFill>
                <a:latin typeface="Calibri"/>
                <a:ea typeface="Calibri"/>
                <a:cs typeface="Calibri"/>
                <a:sym typeface="Calibri"/>
              </a:rPr>
              <a:t>15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16"/>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436" name="Google Shape;436;p16"/>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What IS a cue column?</a:t>
            </a:r>
            <a:endParaRPr b="0" i="0" sz="2600" u="none" cap="none" strike="noStrike">
              <a:solidFill>
                <a:schemeClr val="dk1"/>
              </a:solidFill>
              <a:latin typeface="Calibri"/>
              <a:ea typeface="Calibri"/>
              <a:cs typeface="Calibri"/>
              <a:sym typeface="Calibri"/>
            </a:endParaRPr>
          </a:p>
        </p:txBody>
      </p:sp>
      <p:sp>
        <p:nvSpPr>
          <p:cNvPr id="437" name="Google Shape;437;p16"/>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3 MIN</a:t>
            </a:r>
            <a:endParaRPr b="0" i="0" sz="1400" u="none" cap="none" strike="noStrike">
              <a:solidFill>
                <a:schemeClr val="dk1"/>
              </a:solidFill>
              <a:latin typeface="Calibri"/>
              <a:ea typeface="Calibri"/>
              <a:cs typeface="Calibri"/>
              <a:sym typeface="Calibri"/>
            </a:endParaRPr>
          </a:p>
        </p:txBody>
      </p:sp>
      <p:sp>
        <p:nvSpPr>
          <p:cNvPr id="439" name="Google Shape;439;p16"/>
          <p:cNvSpPr/>
          <p:nvPr/>
        </p:nvSpPr>
        <p:spPr>
          <a:xfrm>
            <a:off x="365760" y="932688"/>
            <a:ext cx="2148840" cy="292608"/>
          </a:xfrm>
          <a:prstGeom prst="rect">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6"/>
          <p:cNvSpPr/>
          <p:nvPr/>
        </p:nvSpPr>
        <p:spPr>
          <a:xfrm>
            <a:off x="365760" y="932688"/>
            <a:ext cx="2148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 CUE COLUMN (left)</a:t>
            </a:r>
            <a:endParaRPr b="0" i="0" sz="1100" u="none" cap="none" strike="noStrike">
              <a:solidFill>
                <a:schemeClr val="dk1"/>
              </a:solidFill>
              <a:latin typeface="Calibri"/>
              <a:ea typeface="Calibri"/>
              <a:cs typeface="Calibri"/>
              <a:sym typeface="Calibri"/>
            </a:endParaRPr>
          </a:p>
        </p:txBody>
      </p:sp>
      <p:sp>
        <p:nvSpPr>
          <p:cNvPr id="441" name="Google Shape;441;p16"/>
          <p:cNvSpPr/>
          <p:nvPr/>
        </p:nvSpPr>
        <p:spPr>
          <a:xfrm>
            <a:off x="365760" y="1417320"/>
            <a:ext cx="8412480" cy="7772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a:off x="502920" y="1417320"/>
            <a:ext cx="8138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Georgia"/>
              <a:buNone/>
            </a:pPr>
            <a:r>
              <a:rPr b="0" i="1" lang="en-US" sz="2200" u="none" cap="none" strike="noStrike">
                <a:solidFill>
                  <a:srgbClr val="FFFFFF"/>
                </a:solidFill>
                <a:latin typeface="Georgia"/>
                <a:ea typeface="Georgia"/>
                <a:cs typeface="Georgia"/>
                <a:sym typeface="Georgia"/>
              </a:rPr>
              <a:t>Cue questions are the </a:t>
            </a:r>
            <a:r>
              <a:rPr b="1" i="1" lang="en-US" sz="2200" u="none" cap="none" strike="noStrike">
                <a:solidFill>
                  <a:srgbClr val="F2C14E"/>
                </a:solidFill>
                <a:latin typeface="Georgia"/>
                <a:ea typeface="Georgia"/>
                <a:cs typeface="Georgia"/>
                <a:sym typeface="Georgia"/>
              </a:rPr>
              <a:t>QUESTIONS </a:t>
            </a:r>
            <a:r>
              <a:rPr b="0" i="1" lang="en-US" sz="2200" u="none" cap="none" strike="noStrike">
                <a:solidFill>
                  <a:srgbClr val="FFFFFF"/>
                </a:solidFill>
                <a:latin typeface="Georgia"/>
                <a:ea typeface="Georgia"/>
                <a:cs typeface="Georgia"/>
                <a:sym typeface="Georgia"/>
              </a:rPr>
              <a:t>your notes already </a:t>
            </a:r>
            <a:r>
              <a:rPr b="1" i="1" lang="en-US" sz="2200" u="none" cap="none" strike="noStrike">
                <a:solidFill>
                  <a:srgbClr val="F2C14E"/>
                </a:solidFill>
                <a:latin typeface="Georgia"/>
                <a:ea typeface="Georgia"/>
                <a:cs typeface="Georgia"/>
                <a:sym typeface="Georgia"/>
              </a:rPr>
              <a:t>ANSWER</a:t>
            </a:r>
            <a:r>
              <a:rPr b="0" i="1" lang="en-US" sz="2200" u="none" cap="none" strike="noStrike">
                <a:solidFill>
                  <a:srgbClr val="FFFFFF"/>
                </a:solidFill>
                <a:latin typeface="Georgia"/>
                <a:ea typeface="Georgia"/>
                <a:cs typeface="Georgia"/>
                <a:sym typeface="Georgia"/>
              </a:rPr>
              <a:t>.</a:t>
            </a:r>
            <a:endParaRPr b="0" i="0" sz="2200" u="none" cap="none" strike="noStrike">
              <a:solidFill>
                <a:schemeClr val="dk1"/>
              </a:solidFill>
              <a:latin typeface="Calibri"/>
              <a:ea typeface="Calibri"/>
              <a:cs typeface="Calibri"/>
              <a:sym typeface="Calibri"/>
            </a:endParaRPr>
          </a:p>
        </p:txBody>
      </p:sp>
      <p:sp>
        <p:nvSpPr>
          <p:cNvPr id="443" name="Google Shape;443;p16"/>
          <p:cNvSpPr/>
          <p:nvPr/>
        </p:nvSpPr>
        <p:spPr>
          <a:xfrm>
            <a:off x="1463040" y="2423160"/>
            <a:ext cx="6217920" cy="1783080"/>
          </a:xfrm>
          <a:prstGeom prst="rect">
            <a:avLst/>
          </a:prstGeom>
          <a:solidFill>
            <a:srgbClr val="FFFFFF"/>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6"/>
          <p:cNvSpPr/>
          <p:nvPr/>
        </p:nvSpPr>
        <p:spPr>
          <a:xfrm>
            <a:off x="1463040" y="2423160"/>
            <a:ext cx="2072640" cy="1783080"/>
          </a:xfrm>
          <a:prstGeom prst="rect">
            <a:avLst/>
          </a:prstGeom>
          <a:solidFill>
            <a:srgbClr val="F2C14E">
              <a:alpha val="40000"/>
            </a:srgbClr>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p:nvPr/>
        </p:nvSpPr>
        <p:spPr>
          <a:xfrm>
            <a:off x="1463040" y="2560320"/>
            <a:ext cx="2072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00"/>
              <a:buFont typeface="Arial Black"/>
              <a:buNone/>
            </a:pPr>
            <a:r>
              <a:rPr b="1" i="0" lang="en-US" sz="1800" u="none" cap="none" strike="noStrike">
                <a:solidFill>
                  <a:srgbClr val="1E2761"/>
                </a:solidFill>
                <a:latin typeface="Arial Black"/>
                <a:ea typeface="Arial Black"/>
                <a:cs typeface="Arial Black"/>
                <a:sym typeface="Arial Black"/>
              </a:rPr>
              <a:t>CUE</a:t>
            </a:r>
            <a:endParaRPr b="0" i="0" sz="1800" u="none" cap="none" strike="noStrike">
              <a:solidFill>
                <a:schemeClr val="dk1"/>
              </a:solidFill>
              <a:latin typeface="Calibri"/>
              <a:ea typeface="Calibri"/>
              <a:cs typeface="Calibri"/>
              <a:sym typeface="Calibri"/>
            </a:endParaRPr>
          </a:p>
        </p:txBody>
      </p:sp>
      <p:sp>
        <p:nvSpPr>
          <p:cNvPr id="446" name="Google Shape;446;p16"/>
          <p:cNvSpPr/>
          <p:nvPr/>
        </p:nvSpPr>
        <p:spPr>
          <a:xfrm>
            <a:off x="1463040" y="2926080"/>
            <a:ext cx="2072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1100"/>
              <a:buFont typeface="Calibri"/>
              <a:buNone/>
            </a:pPr>
            <a:r>
              <a:rPr b="0" i="1" lang="en-US" sz="1100" u="none" cap="none" strike="noStrike">
                <a:solidFill>
                  <a:srgbClr val="2C3A78"/>
                </a:solidFill>
                <a:latin typeface="Calibri"/>
                <a:ea typeface="Calibri"/>
                <a:cs typeface="Calibri"/>
                <a:sym typeface="Calibri"/>
              </a:rPr>
              <a:t>(empty for now)</a:t>
            </a:r>
            <a:endParaRPr b="0" i="0" sz="1100" u="none" cap="none" strike="noStrike">
              <a:solidFill>
                <a:schemeClr val="dk1"/>
              </a:solidFill>
              <a:latin typeface="Calibri"/>
              <a:ea typeface="Calibri"/>
              <a:cs typeface="Calibri"/>
              <a:sym typeface="Calibri"/>
            </a:endParaRPr>
          </a:p>
        </p:txBody>
      </p:sp>
      <p:sp>
        <p:nvSpPr>
          <p:cNvPr id="447" name="Google Shape;447;p16"/>
          <p:cNvSpPr/>
          <p:nvPr/>
        </p:nvSpPr>
        <p:spPr>
          <a:xfrm>
            <a:off x="3535680" y="2560320"/>
            <a:ext cx="4145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00"/>
              <a:buFont typeface="Arial Black"/>
              <a:buNone/>
            </a:pPr>
            <a:r>
              <a:rPr b="1" i="0" lang="en-US" sz="1800" u="none" cap="none" strike="noStrike">
                <a:solidFill>
                  <a:srgbClr val="1E2761"/>
                </a:solidFill>
                <a:latin typeface="Arial Black"/>
                <a:ea typeface="Arial Black"/>
                <a:cs typeface="Arial Black"/>
                <a:sym typeface="Arial Black"/>
              </a:rPr>
              <a:t>NOTES</a:t>
            </a:r>
            <a:endParaRPr b="0" i="0" sz="1800" u="none" cap="none" strike="noStrike">
              <a:solidFill>
                <a:schemeClr val="dk1"/>
              </a:solidFill>
              <a:latin typeface="Calibri"/>
              <a:ea typeface="Calibri"/>
              <a:cs typeface="Calibri"/>
              <a:sym typeface="Calibri"/>
            </a:endParaRPr>
          </a:p>
        </p:txBody>
      </p:sp>
      <p:sp>
        <p:nvSpPr>
          <p:cNvPr id="448" name="Google Shape;448;p16"/>
          <p:cNvSpPr/>
          <p:nvPr/>
        </p:nvSpPr>
        <p:spPr>
          <a:xfrm>
            <a:off x="3535680" y="2926080"/>
            <a:ext cx="41452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A78"/>
              </a:buClr>
              <a:buSzPts val="1100"/>
              <a:buFont typeface="Calibri"/>
              <a:buNone/>
            </a:pPr>
            <a:r>
              <a:rPr b="0" i="1" lang="en-US" sz="1100" u="none" cap="none" strike="noStrike">
                <a:solidFill>
                  <a:srgbClr val="2C3A78"/>
                </a:solidFill>
                <a:latin typeface="Calibri"/>
                <a:ea typeface="Calibri"/>
                <a:cs typeface="Calibri"/>
                <a:sym typeface="Calibri"/>
              </a:rPr>
              <a:t>(filled — definitions, evidence, vocab)</a:t>
            </a:r>
            <a:endParaRPr b="0" i="0" sz="1100" u="none" cap="none" strike="noStrike">
              <a:solidFill>
                <a:schemeClr val="dk1"/>
              </a:solidFill>
              <a:latin typeface="Calibri"/>
              <a:ea typeface="Calibri"/>
              <a:cs typeface="Calibri"/>
              <a:sym typeface="Calibri"/>
            </a:endParaRPr>
          </a:p>
        </p:txBody>
      </p:sp>
      <p:cxnSp>
        <p:nvCxnSpPr>
          <p:cNvPr id="449" name="Google Shape;449;p16"/>
          <p:cNvCxnSpPr/>
          <p:nvPr/>
        </p:nvCxnSpPr>
        <p:spPr>
          <a:xfrm rot="10800000">
            <a:off x="2895600" y="3566160"/>
            <a:ext cx="914400" cy="0"/>
          </a:xfrm>
          <a:prstGeom prst="straightConnector1">
            <a:avLst/>
          </a:prstGeom>
          <a:noFill/>
          <a:ln cap="flat" cmpd="sng" w="50800">
            <a:solidFill>
              <a:srgbClr val="F2C14E"/>
            </a:solidFill>
            <a:prstDash val="solid"/>
            <a:round/>
            <a:headEnd len="sm" w="sm" type="none"/>
            <a:tailEnd len="med" w="med" type="triangle"/>
          </a:ln>
        </p:spPr>
      </p:cxnSp>
      <p:sp>
        <p:nvSpPr>
          <p:cNvPr id="450" name="Google Shape;450;p16"/>
          <p:cNvSpPr/>
          <p:nvPr/>
        </p:nvSpPr>
        <p:spPr>
          <a:xfrm>
            <a:off x="2621280" y="3749040"/>
            <a:ext cx="1280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200"/>
              <a:buFont typeface="Arial Black"/>
              <a:buNone/>
            </a:pPr>
            <a:r>
              <a:rPr b="1" i="0" lang="en-US" sz="1200" u="none" cap="none" strike="noStrike">
                <a:solidFill>
                  <a:srgbClr val="F2C14E"/>
                </a:solidFill>
                <a:latin typeface="Arial Black"/>
                <a:ea typeface="Arial Black"/>
                <a:cs typeface="Arial Black"/>
                <a:sym typeface="Arial Black"/>
              </a:rPr>
              <a:t>FEED →</a:t>
            </a:r>
            <a:endParaRPr b="0" i="0" sz="1200" u="none" cap="none" strike="noStrike">
              <a:solidFill>
                <a:schemeClr val="dk1"/>
              </a:solidFill>
              <a:latin typeface="Calibri"/>
              <a:ea typeface="Calibri"/>
              <a:cs typeface="Calibri"/>
              <a:sym typeface="Calibri"/>
            </a:endParaRPr>
          </a:p>
        </p:txBody>
      </p:sp>
      <p:sp>
        <p:nvSpPr>
          <p:cNvPr id="451" name="Google Shape;451;p16"/>
          <p:cNvSpPr/>
          <p:nvPr/>
        </p:nvSpPr>
        <p:spPr>
          <a:xfrm>
            <a:off x="365760" y="4370832"/>
            <a:ext cx="8412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Calibri"/>
              <a:buNone/>
            </a:pPr>
            <a:r>
              <a:rPr b="1" i="1" lang="en-US" sz="1400" u="none" cap="none" strike="noStrike">
                <a:solidFill>
                  <a:srgbClr val="1E2761"/>
                </a:solidFill>
                <a:latin typeface="Calibri"/>
                <a:ea typeface="Calibri"/>
                <a:cs typeface="Calibri"/>
                <a:sym typeface="Calibri"/>
              </a:rPr>
              <a:t>You wrote the answers (notes). Now you'll write the questions (cues).</a:t>
            </a:r>
            <a:endParaRPr b="0" i="0" sz="1400" u="none" cap="none" strike="noStrike">
              <a:solidFill>
                <a:schemeClr val="dk1"/>
              </a:solidFill>
              <a:latin typeface="Calibri"/>
              <a:ea typeface="Calibri"/>
              <a:cs typeface="Calibri"/>
              <a:sym typeface="Calibri"/>
            </a:endParaRPr>
          </a:p>
        </p:txBody>
      </p:sp>
      <p:sp>
        <p:nvSpPr>
          <p:cNvPr id="452" name="Google Shape;452;p16"/>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Label your CUE COLUMN now. Draw the FEED arrow between the columns.</a:t>
            </a:r>
            <a:endParaRPr b="0" i="0" sz="1200" u="none" cap="none" strike="noStrike">
              <a:solidFill>
                <a:schemeClr val="dk1"/>
              </a:solidFill>
              <a:latin typeface="Calibri"/>
              <a:ea typeface="Calibri"/>
              <a:cs typeface="Calibri"/>
              <a:sym typeface="Calibri"/>
            </a:endParaRPr>
          </a:p>
        </p:txBody>
      </p:sp>
      <p:sp>
        <p:nvSpPr>
          <p:cNvPr id="453" name="Google Shape;453;p16"/>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16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17"/>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460" name="Google Shape;460;p17"/>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What makes a cue question GOOD?</a:t>
            </a:r>
            <a:endParaRPr b="0" i="0" sz="2600" u="none" cap="none" strike="noStrike">
              <a:solidFill>
                <a:schemeClr val="dk1"/>
              </a:solidFill>
              <a:latin typeface="Calibri"/>
              <a:ea typeface="Calibri"/>
              <a:cs typeface="Calibri"/>
              <a:sym typeface="Calibri"/>
            </a:endParaRPr>
          </a:p>
        </p:txBody>
      </p:sp>
      <p:sp>
        <p:nvSpPr>
          <p:cNvPr id="461" name="Google Shape;461;p17"/>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7"/>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4 MIN</a:t>
            </a:r>
            <a:endParaRPr b="0" i="0" sz="1400" u="none" cap="none" strike="noStrike">
              <a:solidFill>
                <a:schemeClr val="dk1"/>
              </a:solidFill>
              <a:latin typeface="Calibri"/>
              <a:ea typeface="Calibri"/>
              <a:cs typeface="Calibri"/>
              <a:sym typeface="Calibri"/>
            </a:endParaRPr>
          </a:p>
        </p:txBody>
      </p:sp>
      <p:sp>
        <p:nvSpPr>
          <p:cNvPr id="463" name="Google Shape;463;p17"/>
          <p:cNvSpPr/>
          <p:nvPr/>
        </p:nvSpPr>
        <p:spPr>
          <a:xfrm>
            <a:off x="365760" y="932688"/>
            <a:ext cx="2148840" cy="292608"/>
          </a:xfrm>
          <a:prstGeom prst="rect">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7"/>
          <p:cNvSpPr/>
          <p:nvPr/>
        </p:nvSpPr>
        <p:spPr>
          <a:xfrm>
            <a:off x="365760" y="932688"/>
            <a:ext cx="2148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 CUE COLUMN (left)</a:t>
            </a:r>
            <a:endParaRPr b="0" i="0" sz="1100" u="none" cap="none" strike="noStrike">
              <a:solidFill>
                <a:schemeClr val="dk1"/>
              </a:solidFill>
              <a:latin typeface="Calibri"/>
              <a:ea typeface="Calibri"/>
              <a:cs typeface="Calibri"/>
              <a:sym typeface="Calibri"/>
            </a:endParaRPr>
          </a:p>
        </p:txBody>
      </p:sp>
      <p:sp>
        <p:nvSpPr>
          <p:cNvPr id="465" name="Google Shape;465;p17"/>
          <p:cNvSpPr/>
          <p:nvPr/>
        </p:nvSpPr>
        <p:spPr>
          <a:xfrm>
            <a:off x="365760" y="1417320"/>
            <a:ext cx="4114800" cy="457200"/>
          </a:xfrm>
          <a:prstGeom prst="rect">
            <a:avLst/>
          </a:prstGeom>
          <a:solidFill>
            <a:srgbClr val="8B2D2D"/>
          </a:solidFill>
          <a:ln cap="flat" cmpd="sng" w="12700">
            <a:solidFill>
              <a:srgbClr val="8B2D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7"/>
          <p:cNvSpPr/>
          <p:nvPr/>
        </p:nvSpPr>
        <p:spPr>
          <a:xfrm>
            <a:off x="365760" y="1417320"/>
            <a:ext cx="4114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Black"/>
              <a:buNone/>
            </a:pPr>
            <a:r>
              <a:rPr b="1" i="0" lang="en-US" sz="1400" u="none" cap="none" strike="noStrike">
                <a:solidFill>
                  <a:srgbClr val="FFFFFF"/>
                </a:solidFill>
                <a:latin typeface="Arial Black"/>
                <a:ea typeface="Arial Black"/>
                <a:cs typeface="Arial Black"/>
                <a:sym typeface="Arial Black"/>
              </a:rPr>
              <a:t>✗  BAD CUE QUESTIONS</a:t>
            </a:r>
            <a:endParaRPr b="0" i="0" sz="1400" u="none" cap="none" strike="noStrike">
              <a:solidFill>
                <a:schemeClr val="dk1"/>
              </a:solidFill>
              <a:latin typeface="Calibri"/>
              <a:ea typeface="Calibri"/>
              <a:cs typeface="Calibri"/>
              <a:sym typeface="Calibri"/>
            </a:endParaRPr>
          </a:p>
        </p:txBody>
      </p:sp>
      <p:sp>
        <p:nvSpPr>
          <p:cNvPr id="467" name="Google Shape;467;p17"/>
          <p:cNvSpPr/>
          <p:nvPr/>
        </p:nvSpPr>
        <p:spPr>
          <a:xfrm>
            <a:off x="365760" y="1874520"/>
            <a:ext cx="4114800" cy="2286000"/>
          </a:xfrm>
          <a:prstGeom prst="rect">
            <a:avLst/>
          </a:prstGeom>
          <a:solidFill>
            <a:srgbClr val="FAEAEA"/>
          </a:solidFill>
          <a:ln cap="flat" cmpd="sng" w="9525">
            <a:solidFill>
              <a:srgbClr val="8B2D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7"/>
          <p:cNvSpPr/>
          <p:nvPr/>
        </p:nvSpPr>
        <p:spPr>
          <a:xfrm>
            <a:off x="548640" y="2011680"/>
            <a:ext cx="374904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00"/>
              <a:buFont typeface="Georgia"/>
              <a:buNone/>
            </a:pPr>
            <a:r>
              <a:rPr b="0" i="1" lang="en-US" sz="1300" u="none" cap="none" strike="noStrike">
                <a:solidFill>
                  <a:srgbClr val="1E2761"/>
                </a:solidFill>
                <a:latin typeface="Georgia"/>
                <a:ea typeface="Georgia"/>
                <a:cs typeface="Georgia"/>
                <a:sym typeface="Georgia"/>
              </a:rPr>
              <a:t>"What is setting?"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B2D2D"/>
              </a:buClr>
              <a:buSzPts val="1000"/>
              <a:buFont typeface="Calibri"/>
              <a:buNone/>
            </a:pPr>
            <a:r>
              <a:rPr b="0" i="0" lang="en-US" sz="1000" u="none" cap="none" strike="noStrike">
                <a:solidFill>
                  <a:srgbClr val="8B2D2D"/>
                </a:solidFill>
                <a:latin typeface="Calibri"/>
                <a:ea typeface="Calibri"/>
                <a:cs typeface="Calibri"/>
                <a:sym typeface="Calibri"/>
              </a:rPr>
              <a:t>→ definition recall (one fact)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300"/>
              <a:buFont typeface="Georgia"/>
              <a:buNone/>
            </a:pPr>
            <a:r>
              <a:rPr b="0" i="1" lang="en-US" sz="1300" u="none" cap="none" strike="noStrike">
                <a:solidFill>
                  <a:srgbClr val="1E2761"/>
                </a:solidFill>
                <a:latin typeface="Georgia"/>
                <a:ea typeface="Georgia"/>
                <a:cs typeface="Georgia"/>
                <a:sym typeface="Georgia"/>
              </a:rPr>
              <a:t>"Where does TMDG take place?"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B2D2D"/>
              </a:buClr>
              <a:buSzPts val="1000"/>
              <a:buFont typeface="Calibri"/>
              <a:buNone/>
            </a:pPr>
            <a:r>
              <a:rPr b="0" i="0" lang="en-US" sz="1000" u="none" cap="none" strike="noStrike">
                <a:solidFill>
                  <a:srgbClr val="8B2D2D"/>
                </a:solidFill>
                <a:latin typeface="Calibri"/>
                <a:ea typeface="Calibri"/>
                <a:cs typeface="Calibri"/>
                <a:sym typeface="Calibri"/>
              </a:rPr>
              <a:t>→ one-word answer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300"/>
              <a:buFont typeface="Georgia"/>
              <a:buNone/>
            </a:pPr>
            <a:r>
              <a:rPr b="0" i="1" lang="en-US" sz="1300" u="none" cap="none" strike="noStrike">
                <a:solidFill>
                  <a:srgbClr val="1E2761"/>
                </a:solidFill>
                <a:latin typeface="Georgia"/>
                <a:ea typeface="Georgia"/>
                <a:cs typeface="Georgia"/>
                <a:sym typeface="Georgia"/>
              </a:rPr>
              <a:t>"Who wrote TMDG?"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B2D2D"/>
              </a:buClr>
              <a:buSzPts val="1000"/>
              <a:buFont typeface="Calibri"/>
              <a:buNone/>
            </a:pPr>
            <a:r>
              <a:rPr b="0" i="0" lang="en-US" sz="1000" u="none" cap="none" strike="noStrike">
                <a:solidFill>
                  <a:srgbClr val="8B2D2D"/>
                </a:solidFill>
                <a:latin typeface="Calibri"/>
                <a:ea typeface="Calibri"/>
                <a:cs typeface="Calibri"/>
                <a:sym typeface="Calibri"/>
              </a:rPr>
              <a:t>→ answer isn't in your notes</a:t>
            </a:r>
            <a:endParaRPr b="0" i="0" sz="1300" u="none" cap="none" strike="noStrike">
              <a:solidFill>
                <a:schemeClr val="dk1"/>
              </a:solidFill>
              <a:latin typeface="Calibri"/>
              <a:ea typeface="Calibri"/>
              <a:cs typeface="Calibri"/>
              <a:sym typeface="Calibri"/>
            </a:endParaRPr>
          </a:p>
        </p:txBody>
      </p:sp>
      <p:sp>
        <p:nvSpPr>
          <p:cNvPr id="469" name="Google Shape;469;p17"/>
          <p:cNvSpPr/>
          <p:nvPr/>
        </p:nvSpPr>
        <p:spPr>
          <a:xfrm>
            <a:off x="4663440" y="1417320"/>
            <a:ext cx="4114800" cy="4572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7"/>
          <p:cNvSpPr/>
          <p:nvPr/>
        </p:nvSpPr>
        <p:spPr>
          <a:xfrm>
            <a:off x="4663440" y="1417320"/>
            <a:ext cx="4114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400"/>
              <a:buFont typeface="Arial Black"/>
              <a:buNone/>
            </a:pPr>
            <a:r>
              <a:rPr b="1" i="0" lang="en-US" sz="1400" u="none" cap="none" strike="noStrike">
                <a:solidFill>
                  <a:srgbClr val="F2C14E"/>
                </a:solidFill>
                <a:latin typeface="Arial Black"/>
                <a:ea typeface="Arial Black"/>
                <a:cs typeface="Arial Black"/>
                <a:sym typeface="Arial Black"/>
              </a:rPr>
              <a:t>✓  GOOD CUE QUESTIONS</a:t>
            </a:r>
            <a:endParaRPr b="0" i="0" sz="1400" u="none" cap="none" strike="noStrike">
              <a:solidFill>
                <a:schemeClr val="dk1"/>
              </a:solidFill>
              <a:latin typeface="Calibri"/>
              <a:ea typeface="Calibri"/>
              <a:cs typeface="Calibri"/>
              <a:sym typeface="Calibri"/>
            </a:endParaRPr>
          </a:p>
        </p:txBody>
      </p:sp>
      <p:sp>
        <p:nvSpPr>
          <p:cNvPr id="471" name="Google Shape;471;p17"/>
          <p:cNvSpPr/>
          <p:nvPr/>
        </p:nvSpPr>
        <p:spPr>
          <a:xfrm>
            <a:off x="4663440" y="1874520"/>
            <a:ext cx="4114800" cy="228600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7"/>
          <p:cNvSpPr/>
          <p:nvPr/>
        </p:nvSpPr>
        <p:spPr>
          <a:xfrm>
            <a:off x="4846320" y="2011680"/>
            <a:ext cx="374904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00"/>
              <a:buFont typeface="Georgia"/>
              <a:buNone/>
            </a:pPr>
            <a:r>
              <a:rPr b="0" i="1" lang="en-US" sz="1300" u="none" cap="none" strike="noStrike">
                <a:solidFill>
                  <a:srgbClr val="1E2761"/>
                </a:solidFill>
                <a:latin typeface="Georgia"/>
                <a:ea typeface="Georgia"/>
                <a:cs typeface="Georgia"/>
                <a:sym typeface="Georgia"/>
              </a:rPr>
              <a:t>"How does Connell use setting to create dread?"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C6D14"/>
              </a:buClr>
              <a:buSzPts val="1000"/>
              <a:buFont typeface="Calibri"/>
              <a:buNone/>
            </a:pPr>
            <a:r>
              <a:rPr b="0" i="0" lang="en-US" sz="1000" u="none" cap="none" strike="noStrike">
                <a:solidFill>
                  <a:srgbClr val="8C6D14"/>
                </a:solidFill>
                <a:latin typeface="Calibri"/>
                <a:ea typeface="Calibri"/>
                <a:cs typeface="Calibri"/>
                <a:sym typeface="Calibri"/>
              </a:rPr>
              <a:t>→ forces you to re-read your notes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300"/>
              <a:buFont typeface="Georgia"/>
              <a:buNone/>
            </a:pPr>
            <a:r>
              <a:rPr b="0" i="1" lang="en-US" sz="1300" u="none" cap="none" strike="noStrike">
                <a:solidFill>
                  <a:srgbClr val="1E2761"/>
                </a:solidFill>
                <a:latin typeface="Georgia"/>
                <a:ea typeface="Georgia"/>
                <a:cs typeface="Georgia"/>
                <a:sym typeface="Georgia"/>
              </a:rPr>
              <a:t>"Why is the chateau described as 'leering'?"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C6D14"/>
              </a:buClr>
              <a:buSzPts val="1000"/>
              <a:buFont typeface="Calibri"/>
              <a:buNone/>
            </a:pPr>
            <a:r>
              <a:rPr b="0" i="0" lang="en-US" sz="1000" u="none" cap="none" strike="noStrike">
                <a:solidFill>
                  <a:srgbClr val="8C6D14"/>
                </a:solidFill>
                <a:latin typeface="Calibri"/>
                <a:ea typeface="Calibri"/>
                <a:cs typeface="Calibri"/>
                <a:sym typeface="Calibri"/>
              </a:rPr>
              <a:t>→ asks for an explanation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300"/>
              <a:buFont typeface="Georgia"/>
              <a:buNone/>
            </a:pPr>
            <a:r>
              <a:rPr b="0" i="1" lang="en-US" sz="1300" u="none" cap="none" strike="noStrike">
                <a:solidFill>
                  <a:srgbClr val="1E2761"/>
                </a:solidFill>
                <a:latin typeface="Georgia"/>
                <a:ea typeface="Georgia"/>
                <a:cs typeface="Georgia"/>
                <a:sym typeface="Georgia"/>
              </a:rPr>
              <a:t>"What's the inciting incident in TMDG?"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C6D14"/>
              </a:buClr>
              <a:buSzPts val="1000"/>
              <a:buFont typeface="Calibri"/>
              <a:buNone/>
            </a:pPr>
            <a:r>
              <a:rPr b="0" i="0" lang="en-US" sz="1000" u="none" cap="none" strike="noStrike">
                <a:solidFill>
                  <a:srgbClr val="8C6D14"/>
                </a:solidFill>
                <a:latin typeface="Calibri"/>
                <a:ea typeface="Calibri"/>
                <a:cs typeface="Calibri"/>
                <a:sym typeface="Calibri"/>
              </a:rPr>
              <a:t>→ answer is in your notes</a:t>
            </a:r>
            <a:endParaRPr b="0" i="0" sz="1300" u="none" cap="none" strike="noStrike">
              <a:solidFill>
                <a:schemeClr val="dk1"/>
              </a:solidFill>
              <a:latin typeface="Calibri"/>
              <a:ea typeface="Calibri"/>
              <a:cs typeface="Calibri"/>
              <a:sym typeface="Calibri"/>
            </a:endParaRPr>
          </a:p>
        </p:txBody>
      </p:sp>
      <p:sp>
        <p:nvSpPr>
          <p:cNvPr id="473" name="Google Shape;473;p17"/>
          <p:cNvSpPr/>
          <p:nvPr/>
        </p:nvSpPr>
        <p:spPr>
          <a:xfrm>
            <a:off x="365760" y="4251960"/>
            <a:ext cx="8412480" cy="502920"/>
          </a:xfrm>
          <a:prstGeom prst="rect">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7"/>
          <p:cNvSpPr/>
          <p:nvPr/>
        </p:nvSpPr>
        <p:spPr>
          <a:xfrm>
            <a:off x="502920" y="4251960"/>
            <a:ext cx="81381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THE RULE:  </a:t>
            </a:r>
            <a:r>
              <a:rPr b="0" i="0" lang="en-US" sz="1400" u="none" cap="none" strike="noStrike">
                <a:solidFill>
                  <a:srgbClr val="1E2761"/>
                </a:solidFill>
                <a:latin typeface="Calibri"/>
                <a:ea typeface="Calibri"/>
                <a:cs typeface="Calibri"/>
                <a:sym typeface="Calibri"/>
              </a:rPr>
              <a:t>A good cue question forces you to </a:t>
            </a:r>
            <a:r>
              <a:rPr b="1" i="0" lang="en-US" sz="1400" u="none" cap="none" strike="noStrike">
                <a:solidFill>
                  <a:srgbClr val="1E2761"/>
                </a:solidFill>
                <a:latin typeface="Calibri"/>
                <a:ea typeface="Calibri"/>
                <a:cs typeface="Calibri"/>
                <a:sym typeface="Calibri"/>
              </a:rPr>
              <a:t>RE-READ </a:t>
            </a:r>
            <a:r>
              <a:rPr b="0" i="0" lang="en-US" sz="1400" u="none" cap="none" strike="noStrike">
                <a:solidFill>
                  <a:srgbClr val="1E2761"/>
                </a:solidFill>
                <a:latin typeface="Calibri"/>
                <a:ea typeface="Calibri"/>
                <a:cs typeface="Calibri"/>
                <a:sym typeface="Calibri"/>
              </a:rPr>
              <a:t>your notes to answer it.</a:t>
            </a:r>
            <a:endParaRPr b="0" i="0" sz="1400" u="none" cap="none" strike="noStrike">
              <a:solidFill>
                <a:schemeClr val="dk1"/>
              </a:solidFill>
              <a:latin typeface="Calibri"/>
              <a:ea typeface="Calibri"/>
              <a:cs typeface="Calibri"/>
              <a:sym typeface="Calibri"/>
            </a:endParaRPr>
          </a:p>
        </p:txBody>
      </p:sp>
      <p:sp>
        <p:nvSpPr>
          <p:cNvPr id="475" name="Google Shape;475;p17"/>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Copy 1 BAD and 1 GOOD example into your CUE COLUMN as reference.</a:t>
            </a:r>
            <a:endParaRPr b="0" i="0" sz="1200" u="none" cap="none" strike="noStrike">
              <a:solidFill>
                <a:schemeClr val="dk1"/>
              </a:solidFill>
              <a:latin typeface="Calibri"/>
              <a:ea typeface="Calibri"/>
              <a:cs typeface="Calibri"/>
              <a:sym typeface="Calibri"/>
            </a:endParaRPr>
          </a:p>
        </p:txBody>
      </p:sp>
      <p:sp>
        <p:nvSpPr>
          <p:cNvPr id="476" name="Google Shape;476;p17"/>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17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18"/>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483" name="Google Shape;483;p18"/>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Cue column — I'll model. You watch.</a:t>
            </a:r>
            <a:endParaRPr b="0" i="0" sz="2600" u="none" cap="none" strike="noStrike">
              <a:solidFill>
                <a:schemeClr val="dk1"/>
              </a:solidFill>
              <a:latin typeface="Calibri"/>
              <a:ea typeface="Calibri"/>
              <a:cs typeface="Calibri"/>
              <a:sym typeface="Calibri"/>
            </a:endParaRPr>
          </a:p>
        </p:txBody>
      </p:sp>
      <p:sp>
        <p:nvSpPr>
          <p:cNvPr id="484" name="Google Shape;484;p18"/>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8"/>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5 MIN</a:t>
            </a:r>
            <a:endParaRPr b="0" i="0" sz="1400" u="none" cap="none" strike="noStrike">
              <a:solidFill>
                <a:schemeClr val="dk1"/>
              </a:solidFill>
              <a:latin typeface="Calibri"/>
              <a:ea typeface="Calibri"/>
              <a:cs typeface="Calibri"/>
              <a:sym typeface="Calibri"/>
            </a:endParaRPr>
          </a:p>
        </p:txBody>
      </p:sp>
      <p:sp>
        <p:nvSpPr>
          <p:cNvPr id="486" name="Google Shape;486;p18"/>
          <p:cNvSpPr/>
          <p:nvPr/>
        </p:nvSpPr>
        <p:spPr>
          <a:xfrm>
            <a:off x="365760" y="932688"/>
            <a:ext cx="2148840" cy="292608"/>
          </a:xfrm>
          <a:prstGeom prst="rect">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8"/>
          <p:cNvSpPr/>
          <p:nvPr/>
        </p:nvSpPr>
        <p:spPr>
          <a:xfrm>
            <a:off x="365760" y="932688"/>
            <a:ext cx="2148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 CUE COLUMN (left)</a:t>
            </a:r>
            <a:endParaRPr b="0" i="0" sz="1100" u="none" cap="none" strike="noStrike">
              <a:solidFill>
                <a:schemeClr val="dk1"/>
              </a:solidFill>
              <a:latin typeface="Calibri"/>
              <a:ea typeface="Calibri"/>
              <a:cs typeface="Calibri"/>
              <a:sym typeface="Calibri"/>
            </a:endParaRPr>
          </a:p>
        </p:txBody>
      </p:sp>
      <p:sp>
        <p:nvSpPr>
          <p:cNvPr id="488" name="Google Shape;488;p18"/>
          <p:cNvSpPr/>
          <p:nvPr/>
        </p:nvSpPr>
        <p:spPr>
          <a:xfrm>
            <a:off x="365760" y="1417320"/>
            <a:ext cx="2743200" cy="320040"/>
          </a:xfrm>
          <a:prstGeom prst="rect">
            <a:avLst/>
          </a:prstGeom>
          <a:solidFill>
            <a:srgbClr val="F2C14E"/>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8"/>
          <p:cNvSpPr/>
          <p:nvPr/>
        </p:nvSpPr>
        <p:spPr>
          <a:xfrm>
            <a:off x="365760" y="1417320"/>
            <a:ext cx="2743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CUE QUESTION (left column)</a:t>
            </a:r>
            <a:endParaRPr b="0" i="0" sz="1100" u="none" cap="none" strike="noStrike">
              <a:solidFill>
                <a:schemeClr val="dk1"/>
              </a:solidFill>
              <a:latin typeface="Calibri"/>
              <a:ea typeface="Calibri"/>
              <a:cs typeface="Calibri"/>
              <a:sym typeface="Calibri"/>
            </a:endParaRPr>
          </a:p>
        </p:txBody>
      </p:sp>
      <p:sp>
        <p:nvSpPr>
          <p:cNvPr id="490" name="Google Shape;490;p18"/>
          <p:cNvSpPr/>
          <p:nvPr/>
        </p:nvSpPr>
        <p:spPr>
          <a:xfrm>
            <a:off x="3108960" y="1417320"/>
            <a:ext cx="5669280"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8"/>
          <p:cNvSpPr/>
          <p:nvPr/>
        </p:nvSpPr>
        <p:spPr>
          <a:xfrm>
            <a:off x="3108960" y="1417320"/>
            <a:ext cx="56692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CORRESPONDING NOTE (right column)</a:t>
            </a:r>
            <a:endParaRPr b="0" i="0" sz="1100" u="none" cap="none" strike="noStrike">
              <a:solidFill>
                <a:schemeClr val="dk1"/>
              </a:solidFill>
              <a:latin typeface="Calibri"/>
              <a:ea typeface="Calibri"/>
              <a:cs typeface="Calibri"/>
              <a:sym typeface="Calibri"/>
            </a:endParaRPr>
          </a:p>
        </p:txBody>
      </p:sp>
      <p:sp>
        <p:nvSpPr>
          <p:cNvPr id="492" name="Google Shape;492;p18"/>
          <p:cNvSpPr/>
          <p:nvPr/>
        </p:nvSpPr>
        <p:spPr>
          <a:xfrm>
            <a:off x="365760" y="1783080"/>
            <a:ext cx="2743200" cy="77724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8"/>
          <p:cNvSpPr/>
          <p:nvPr/>
        </p:nvSpPr>
        <p:spPr>
          <a:xfrm>
            <a:off x="457200" y="1783080"/>
            <a:ext cx="25603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1" lang="en-US" sz="1100" u="none" cap="none" strike="noStrike">
                <a:solidFill>
                  <a:srgbClr val="1E2761"/>
                </a:solidFill>
                <a:latin typeface="Calibri"/>
                <a:ea typeface="Calibri"/>
                <a:cs typeface="Calibri"/>
                <a:sym typeface="Calibri"/>
              </a:rPr>
              <a:t>How does Connell create a sense of dread in the opening?</a:t>
            </a:r>
            <a:endParaRPr b="0" i="0" sz="1100" u="none" cap="none" strike="noStrike">
              <a:solidFill>
                <a:schemeClr val="dk1"/>
              </a:solidFill>
              <a:latin typeface="Calibri"/>
              <a:ea typeface="Calibri"/>
              <a:cs typeface="Calibri"/>
              <a:sym typeface="Calibri"/>
            </a:endParaRPr>
          </a:p>
        </p:txBody>
      </p:sp>
      <p:sp>
        <p:nvSpPr>
          <p:cNvPr id="494" name="Google Shape;494;p18"/>
          <p:cNvSpPr/>
          <p:nvPr/>
        </p:nvSpPr>
        <p:spPr>
          <a:xfrm>
            <a:off x="3108960" y="1783080"/>
            <a:ext cx="5669280" cy="777240"/>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8"/>
          <p:cNvSpPr/>
          <p:nvPr/>
        </p:nvSpPr>
        <p:spPr>
          <a:xfrm>
            <a:off x="3200400" y="1783080"/>
            <a:ext cx="5486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Setting: "dank tropical night... palpable" → suspense; isolation.</a:t>
            </a:r>
            <a:endParaRPr b="0" i="0" sz="1100" u="none" cap="none" strike="noStrike">
              <a:solidFill>
                <a:schemeClr val="dk1"/>
              </a:solidFill>
              <a:latin typeface="Calibri"/>
              <a:ea typeface="Calibri"/>
              <a:cs typeface="Calibri"/>
              <a:sym typeface="Calibri"/>
            </a:endParaRPr>
          </a:p>
        </p:txBody>
      </p:sp>
      <p:sp>
        <p:nvSpPr>
          <p:cNvPr id="496" name="Google Shape;496;p18"/>
          <p:cNvSpPr/>
          <p:nvPr/>
        </p:nvSpPr>
        <p:spPr>
          <a:xfrm>
            <a:off x="365760" y="2560320"/>
            <a:ext cx="2743200" cy="77724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8"/>
          <p:cNvSpPr/>
          <p:nvPr/>
        </p:nvSpPr>
        <p:spPr>
          <a:xfrm>
            <a:off x="457200" y="2560320"/>
            <a:ext cx="25603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1" lang="en-US" sz="1100" u="none" cap="none" strike="noStrike">
                <a:solidFill>
                  <a:srgbClr val="1E2761"/>
                </a:solidFill>
                <a:latin typeface="Calibri"/>
                <a:ea typeface="Calibri"/>
                <a:cs typeface="Calibri"/>
                <a:sym typeface="Calibri"/>
              </a:rPr>
              <a:t>What's the inciting incident in TMDG?</a:t>
            </a:r>
            <a:endParaRPr b="0" i="0" sz="1100" u="none" cap="none" strike="noStrike">
              <a:solidFill>
                <a:schemeClr val="dk1"/>
              </a:solidFill>
              <a:latin typeface="Calibri"/>
              <a:ea typeface="Calibri"/>
              <a:cs typeface="Calibri"/>
              <a:sym typeface="Calibri"/>
            </a:endParaRPr>
          </a:p>
        </p:txBody>
      </p:sp>
      <p:sp>
        <p:nvSpPr>
          <p:cNvPr id="498" name="Google Shape;498;p18"/>
          <p:cNvSpPr/>
          <p:nvPr/>
        </p:nvSpPr>
        <p:spPr>
          <a:xfrm>
            <a:off x="3108960" y="2560320"/>
            <a:ext cx="5669280" cy="777240"/>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8"/>
          <p:cNvSpPr/>
          <p:nvPr/>
        </p:nvSpPr>
        <p:spPr>
          <a:xfrm>
            <a:off x="3200400" y="2560320"/>
            <a:ext cx="5486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Plot: "he was thrown into the sea" → Rainsford is isolated from civilization.</a:t>
            </a:r>
            <a:endParaRPr b="0" i="0" sz="1100" u="none" cap="none" strike="noStrike">
              <a:solidFill>
                <a:schemeClr val="dk1"/>
              </a:solidFill>
              <a:latin typeface="Calibri"/>
              <a:ea typeface="Calibri"/>
              <a:cs typeface="Calibri"/>
              <a:sym typeface="Calibri"/>
            </a:endParaRPr>
          </a:p>
        </p:txBody>
      </p:sp>
      <p:sp>
        <p:nvSpPr>
          <p:cNvPr id="500" name="Google Shape;500;p18"/>
          <p:cNvSpPr/>
          <p:nvPr/>
        </p:nvSpPr>
        <p:spPr>
          <a:xfrm>
            <a:off x="365760" y="3337560"/>
            <a:ext cx="2743200" cy="777240"/>
          </a:xfrm>
          <a:prstGeom prst="rect">
            <a:avLst/>
          </a:prstGeom>
          <a:solidFill>
            <a:srgbClr val="FFF8E1"/>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8"/>
          <p:cNvSpPr/>
          <p:nvPr/>
        </p:nvSpPr>
        <p:spPr>
          <a:xfrm>
            <a:off x="457200" y="3337560"/>
            <a:ext cx="25603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1" lang="en-US" sz="1100" u="none" cap="none" strike="noStrike">
                <a:solidFill>
                  <a:srgbClr val="1E2761"/>
                </a:solidFill>
                <a:latin typeface="Calibri"/>
                <a:ea typeface="Calibri"/>
                <a:cs typeface="Calibri"/>
                <a:sym typeface="Calibri"/>
              </a:rPr>
              <a:t>Why does the chateau feel ominous?</a:t>
            </a:r>
            <a:endParaRPr b="0" i="0" sz="1100" u="none" cap="none" strike="noStrike">
              <a:solidFill>
                <a:schemeClr val="dk1"/>
              </a:solidFill>
              <a:latin typeface="Calibri"/>
              <a:ea typeface="Calibri"/>
              <a:cs typeface="Calibri"/>
              <a:sym typeface="Calibri"/>
            </a:endParaRPr>
          </a:p>
        </p:txBody>
      </p:sp>
      <p:sp>
        <p:nvSpPr>
          <p:cNvPr id="502" name="Google Shape;502;p18"/>
          <p:cNvSpPr/>
          <p:nvPr/>
        </p:nvSpPr>
        <p:spPr>
          <a:xfrm>
            <a:off x="3108960" y="3337560"/>
            <a:ext cx="5669280" cy="777240"/>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8"/>
          <p:cNvSpPr/>
          <p:nvPr/>
        </p:nvSpPr>
        <p:spPr>
          <a:xfrm>
            <a:off x="3200400" y="3337560"/>
            <a:ext cx="5486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A78"/>
              </a:buClr>
              <a:buSzPts val="1100"/>
              <a:buFont typeface="Calibri"/>
              <a:buNone/>
            </a:pPr>
            <a:r>
              <a:rPr b="0" i="0" lang="en-US" sz="1100" u="none" cap="none" strike="noStrike">
                <a:solidFill>
                  <a:srgbClr val="2C3A78"/>
                </a:solidFill>
                <a:latin typeface="Calibri"/>
                <a:ea typeface="Calibri"/>
                <a:cs typeface="Calibri"/>
                <a:sym typeface="Calibri"/>
              </a:rPr>
              <a:t>Setting: "sea licked greedy lips" + "leering gargoyle" → personification = threat.</a:t>
            </a:r>
            <a:endParaRPr b="0" i="0" sz="1100" u="none" cap="none" strike="noStrike">
              <a:solidFill>
                <a:schemeClr val="dk1"/>
              </a:solidFill>
              <a:latin typeface="Calibri"/>
              <a:ea typeface="Calibri"/>
              <a:cs typeface="Calibri"/>
              <a:sym typeface="Calibri"/>
            </a:endParaRPr>
          </a:p>
        </p:txBody>
      </p:sp>
      <p:sp>
        <p:nvSpPr>
          <p:cNvPr id="504" name="Google Shape;504;p18"/>
          <p:cNvSpPr/>
          <p:nvPr/>
        </p:nvSpPr>
        <p:spPr>
          <a:xfrm>
            <a:off x="365760" y="4206240"/>
            <a:ext cx="8412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1" lang="en-US" sz="1200" u="none" cap="none" strike="noStrike">
                <a:solidFill>
                  <a:srgbClr val="1E2761"/>
                </a:solidFill>
                <a:latin typeface="Calibri"/>
                <a:ea typeface="Calibri"/>
                <a:cs typeface="Calibri"/>
                <a:sym typeface="Calibri"/>
              </a:rPr>
              <a:t>KEY: a good cue question can ONLY be answered by reading the matching note.</a:t>
            </a:r>
            <a:endParaRPr b="0" i="0" sz="1200" u="none" cap="none" strike="noStrike">
              <a:solidFill>
                <a:schemeClr val="dk1"/>
              </a:solidFill>
              <a:latin typeface="Calibri"/>
              <a:ea typeface="Calibri"/>
              <a:cs typeface="Calibri"/>
              <a:sym typeface="Calibri"/>
            </a:endParaRPr>
          </a:p>
        </p:txBody>
      </p:sp>
      <p:sp>
        <p:nvSpPr>
          <p:cNvPr id="505" name="Google Shape;505;p18"/>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Watch how each CUE matches a NOTE. You'll do this yourself next slide.</a:t>
            </a:r>
            <a:endParaRPr b="0" i="0" sz="1200" u="none" cap="none" strike="noStrike">
              <a:solidFill>
                <a:schemeClr val="dk1"/>
              </a:solidFill>
              <a:latin typeface="Calibri"/>
              <a:ea typeface="Calibri"/>
              <a:cs typeface="Calibri"/>
              <a:sym typeface="Calibri"/>
            </a:endParaRPr>
          </a:p>
        </p:txBody>
      </p:sp>
      <p:sp>
        <p:nvSpPr>
          <p:cNvPr id="506" name="Google Shape;506;p18"/>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18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p19"/>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513" name="Google Shape;513;p19"/>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Now YOU write 5 cue questions</a:t>
            </a:r>
            <a:endParaRPr b="0" i="0" sz="2600" u="none" cap="none" strike="noStrike">
              <a:solidFill>
                <a:schemeClr val="dk1"/>
              </a:solidFill>
              <a:latin typeface="Calibri"/>
              <a:ea typeface="Calibri"/>
              <a:cs typeface="Calibri"/>
              <a:sym typeface="Calibri"/>
            </a:endParaRPr>
          </a:p>
        </p:txBody>
      </p:sp>
      <p:sp>
        <p:nvSpPr>
          <p:cNvPr id="514" name="Google Shape;514;p19"/>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9"/>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6 MIN</a:t>
            </a:r>
            <a:endParaRPr b="0" i="0" sz="1400" u="none" cap="none" strike="noStrike">
              <a:solidFill>
                <a:schemeClr val="dk1"/>
              </a:solidFill>
              <a:latin typeface="Calibri"/>
              <a:ea typeface="Calibri"/>
              <a:cs typeface="Calibri"/>
              <a:sym typeface="Calibri"/>
            </a:endParaRPr>
          </a:p>
        </p:txBody>
      </p:sp>
      <p:sp>
        <p:nvSpPr>
          <p:cNvPr id="516" name="Google Shape;516;p19"/>
          <p:cNvSpPr/>
          <p:nvPr/>
        </p:nvSpPr>
        <p:spPr>
          <a:xfrm>
            <a:off x="365760" y="932688"/>
            <a:ext cx="2148840" cy="292608"/>
          </a:xfrm>
          <a:prstGeom prst="rect">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9"/>
          <p:cNvSpPr/>
          <p:nvPr/>
        </p:nvSpPr>
        <p:spPr>
          <a:xfrm>
            <a:off x="365760" y="932688"/>
            <a:ext cx="2148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 CUE COLUMN (left)</a:t>
            </a:r>
            <a:endParaRPr b="0" i="0" sz="1100" u="none" cap="none" strike="noStrike">
              <a:solidFill>
                <a:schemeClr val="dk1"/>
              </a:solidFill>
              <a:latin typeface="Calibri"/>
              <a:ea typeface="Calibri"/>
              <a:cs typeface="Calibri"/>
              <a:sym typeface="Calibri"/>
            </a:endParaRPr>
          </a:p>
        </p:txBody>
      </p:sp>
      <p:sp>
        <p:nvSpPr>
          <p:cNvPr id="518" name="Google Shape;518;p19"/>
          <p:cNvSpPr/>
          <p:nvPr/>
        </p:nvSpPr>
        <p:spPr>
          <a:xfrm>
            <a:off x="365760" y="141732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USE THESE STEMS. Each question must match a note you already wrote:</a:t>
            </a:r>
            <a:endParaRPr b="0" i="0" sz="1200" u="none" cap="none" strike="noStrike">
              <a:solidFill>
                <a:schemeClr val="dk1"/>
              </a:solidFill>
              <a:latin typeface="Calibri"/>
              <a:ea typeface="Calibri"/>
              <a:cs typeface="Calibri"/>
              <a:sym typeface="Calibri"/>
            </a:endParaRPr>
          </a:p>
        </p:txBody>
      </p:sp>
      <p:sp>
        <p:nvSpPr>
          <p:cNvPr id="519" name="Google Shape;519;p19"/>
          <p:cNvSpPr/>
          <p:nvPr/>
        </p:nvSpPr>
        <p:spPr>
          <a:xfrm>
            <a:off x="457200" y="1828800"/>
            <a:ext cx="8229600" cy="384048"/>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9"/>
          <p:cNvSpPr/>
          <p:nvPr/>
        </p:nvSpPr>
        <p:spPr>
          <a:xfrm>
            <a:off x="566928" y="1901952"/>
            <a:ext cx="237744" cy="237744"/>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9"/>
          <p:cNvSpPr/>
          <p:nvPr/>
        </p:nvSpPr>
        <p:spPr>
          <a:xfrm>
            <a:off x="566928" y="190195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1</a:t>
            </a:r>
            <a:endParaRPr b="0" i="0" sz="1100" u="none" cap="none" strike="noStrike">
              <a:solidFill>
                <a:schemeClr val="dk1"/>
              </a:solidFill>
              <a:latin typeface="Calibri"/>
              <a:ea typeface="Calibri"/>
              <a:cs typeface="Calibri"/>
              <a:sym typeface="Calibri"/>
            </a:endParaRPr>
          </a:p>
        </p:txBody>
      </p:sp>
      <p:sp>
        <p:nvSpPr>
          <p:cNvPr id="522" name="Google Shape;522;p19"/>
          <p:cNvSpPr/>
          <p:nvPr/>
        </p:nvSpPr>
        <p:spPr>
          <a:xfrm>
            <a:off x="914400" y="182880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1" lang="en-US" sz="1400" u="none" cap="none" strike="noStrike">
                <a:solidFill>
                  <a:srgbClr val="1E2761"/>
                </a:solidFill>
                <a:latin typeface="Calibri"/>
                <a:ea typeface="Calibri"/>
                <a:cs typeface="Calibri"/>
                <a:sym typeface="Calibri"/>
              </a:rPr>
              <a:t>How does ___ create ___?</a:t>
            </a:r>
            <a:endParaRPr b="0" i="0" sz="1400" u="none" cap="none" strike="noStrike">
              <a:solidFill>
                <a:schemeClr val="dk1"/>
              </a:solidFill>
              <a:latin typeface="Calibri"/>
              <a:ea typeface="Calibri"/>
              <a:cs typeface="Calibri"/>
              <a:sym typeface="Calibri"/>
            </a:endParaRPr>
          </a:p>
        </p:txBody>
      </p:sp>
      <p:sp>
        <p:nvSpPr>
          <p:cNvPr id="523" name="Google Shape;523;p19"/>
          <p:cNvSpPr/>
          <p:nvPr/>
        </p:nvSpPr>
        <p:spPr>
          <a:xfrm>
            <a:off x="457200" y="2286000"/>
            <a:ext cx="8229600" cy="384048"/>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9"/>
          <p:cNvSpPr/>
          <p:nvPr/>
        </p:nvSpPr>
        <p:spPr>
          <a:xfrm>
            <a:off x="566928" y="2359152"/>
            <a:ext cx="237744" cy="237744"/>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9"/>
          <p:cNvSpPr/>
          <p:nvPr/>
        </p:nvSpPr>
        <p:spPr>
          <a:xfrm>
            <a:off x="566928" y="235915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2</a:t>
            </a:r>
            <a:endParaRPr b="0" i="0" sz="1100" u="none" cap="none" strike="noStrike">
              <a:solidFill>
                <a:schemeClr val="dk1"/>
              </a:solidFill>
              <a:latin typeface="Calibri"/>
              <a:ea typeface="Calibri"/>
              <a:cs typeface="Calibri"/>
              <a:sym typeface="Calibri"/>
            </a:endParaRPr>
          </a:p>
        </p:txBody>
      </p:sp>
      <p:sp>
        <p:nvSpPr>
          <p:cNvPr id="526" name="Google Shape;526;p19"/>
          <p:cNvSpPr/>
          <p:nvPr/>
        </p:nvSpPr>
        <p:spPr>
          <a:xfrm>
            <a:off x="914400" y="228600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1" lang="en-US" sz="1400" u="none" cap="none" strike="noStrike">
                <a:solidFill>
                  <a:srgbClr val="1E2761"/>
                </a:solidFill>
                <a:latin typeface="Calibri"/>
                <a:ea typeface="Calibri"/>
                <a:cs typeface="Calibri"/>
                <a:sym typeface="Calibri"/>
              </a:rPr>
              <a:t>Why did Connell choose ___?</a:t>
            </a:r>
            <a:endParaRPr b="0" i="0" sz="1400" u="none" cap="none" strike="noStrike">
              <a:solidFill>
                <a:schemeClr val="dk1"/>
              </a:solidFill>
              <a:latin typeface="Calibri"/>
              <a:ea typeface="Calibri"/>
              <a:cs typeface="Calibri"/>
              <a:sym typeface="Calibri"/>
            </a:endParaRPr>
          </a:p>
        </p:txBody>
      </p:sp>
      <p:sp>
        <p:nvSpPr>
          <p:cNvPr id="527" name="Google Shape;527;p19"/>
          <p:cNvSpPr/>
          <p:nvPr/>
        </p:nvSpPr>
        <p:spPr>
          <a:xfrm>
            <a:off x="457200" y="2743200"/>
            <a:ext cx="8229600" cy="384048"/>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9"/>
          <p:cNvSpPr/>
          <p:nvPr/>
        </p:nvSpPr>
        <p:spPr>
          <a:xfrm>
            <a:off x="566928" y="2816352"/>
            <a:ext cx="237744" cy="237744"/>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9"/>
          <p:cNvSpPr/>
          <p:nvPr/>
        </p:nvSpPr>
        <p:spPr>
          <a:xfrm>
            <a:off x="566928" y="281635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3</a:t>
            </a:r>
            <a:endParaRPr b="0" i="0" sz="1100" u="none" cap="none" strike="noStrike">
              <a:solidFill>
                <a:schemeClr val="dk1"/>
              </a:solidFill>
              <a:latin typeface="Calibri"/>
              <a:ea typeface="Calibri"/>
              <a:cs typeface="Calibri"/>
              <a:sym typeface="Calibri"/>
            </a:endParaRPr>
          </a:p>
        </p:txBody>
      </p:sp>
      <p:sp>
        <p:nvSpPr>
          <p:cNvPr id="530" name="Google Shape;530;p19"/>
          <p:cNvSpPr/>
          <p:nvPr/>
        </p:nvSpPr>
        <p:spPr>
          <a:xfrm>
            <a:off x="914400" y="274320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1" lang="en-US" sz="1400" u="none" cap="none" strike="noStrike">
                <a:solidFill>
                  <a:srgbClr val="1E2761"/>
                </a:solidFill>
                <a:latin typeface="Calibri"/>
                <a:ea typeface="Calibri"/>
                <a:cs typeface="Calibri"/>
                <a:sym typeface="Calibri"/>
              </a:rPr>
              <a:t>What effect does ___ have on the reader?</a:t>
            </a:r>
            <a:endParaRPr b="0" i="0" sz="1400" u="none" cap="none" strike="noStrike">
              <a:solidFill>
                <a:schemeClr val="dk1"/>
              </a:solidFill>
              <a:latin typeface="Calibri"/>
              <a:ea typeface="Calibri"/>
              <a:cs typeface="Calibri"/>
              <a:sym typeface="Calibri"/>
            </a:endParaRPr>
          </a:p>
        </p:txBody>
      </p:sp>
      <p:sp>
        <p:nvSpPr>
          <p:cNvPr id="531" name="Google Shape;531;p19"/>
          <p:cNvSpPr/>
          <p:nvPr/>
        </p:nvSpPr>
        <p:spPr>
          <a:xfrm>
            <a:off x="457200" y="3200400"/>
            <a:ext cx="8229600" cy="384048"/>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9"/>
          <p:cNvSpPr/>
          <p:nvPr/>
        </p:nvSpPr>
        <p:spPr>
          <a:xfrm>
            <a:off x="566928" y="3273552"/>
            <a:ext cx="237744" cy="237744"/>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9"/>
          <p:cNvSpPr/>
          <p:nvPr/>
        </p:nvSpPr>
        <p:spPr>
          <a:xfrm>
            <a:off x="566928" y="327355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4</a:t>
            </a:r>
            <a:endParaRPr b="0" i="0" sz="1100" u="none" cap="none" strike="noStrike">
              <a:solidFill>
                <a:schemeClr val="dk1"/>
              </a:solidFill>
              <a:latin typeface="Calibri"/>
              <a:ea typeface="Calibri"/>
              <a:cs typeface="Calibri"/>
              <a:sym typeface="Calibri"/>
            </a:endParaRPr>
          </a:p>
        </p:txBody>
      </p:sp>
      <p:sp>
        <p:nvSpPr>
          <p:cNvPr id="534" name="Google Shape;534;p19"/>
          <p:cNvSpPr/>
          <p:nvPr/>
        </p:nvSpPr>
        <p:spPr>
          <a:xfrm>
            <a:off x="914400" y="320040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1" lang="en-US" sz="1400" u="none" cap="none" strike="noStrike">
                <a:solidFill>
                  <a:srgbClr val="1E2761"/>
                </a:solidFill>
                <a:latin typeface="Calibri"/>
                <a:ea typeface="Calibri"/>
                <a:cs typeface="Calibri"/>
                <a:sym typeface="Calibri"/>
              </a:rPr>
              <a:t>What's the difference between ___ and ___?</a:t>
            </a:r>
            <a:endParaRPr b="0" i="0" sz="1400" u="none" cap="none" strike="noStrike">
              <a:solidFill>
                <a:schemeClr val="dk1"/>
              </a:solidFill>
              <a:latin typeface="Calibri"/>
              <a:ea typeface="Calibri"/>
              <a:cs typeface="Calibri"/>
              <a:sym typeface="Calibri"/>
            </a:endParaRPr>
          </a:p>
        </p:txBody>
      </p:sp>
      <p:sp>
        <p:nvSpPr>
          <p:cNvPr id="535" name="Google Shape;535;p19"/>
          <p:cNvSpPr/>
          <p:nvPr/>
        </p:nvSpPr>
        <p:spPr>
          <a:xfrm>
            <a:off x="457200" y="3657600"/>
            <a:ext cx="8229600" cy="384048"/>
          </a:xfrm>
          <a:prstGeom prst="rect">
            <a:avLst/>
          </a:prstGeom>
          <a:solidFill>
            <a:srgbClr val="FFF8E1"/>
          </a:solidFill>
          <a:ln cap="flat" cmpd="sng" w="9525">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9"/>
          <p:cNvSpPr/>
          <p:nvPr/>
        </p:nvSpPr>
        <p:spPr>
          <a:xfrm>
            <a:off x="566928" y="3730752"/>
            <a:ext cx="237744" cy="237744"/>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9"/>
          <p:cNvSpPr/>
          <p:nvPr/>
        </p:nvSpPr>
        <p:spPr>
          <a:xfrm>
            <a:off x="566928" y="373075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Arial Black"/>
              <a:buNone/>
            </a:pPr>
            <a:r>
              <a:rPr b="1" i="0" lang="en-US" sz="1100" u="none" cap="none" strike="noStrike">
                <a:solidFill>
                  <a:srgbClr val="1E2761"/>
                </a:solidFill>
                <a:latin typeface="Arial Black"/>
                <a:ea typeface="Arial Black"/>
                <a:cs typeface="Arial Black"/>
                <a:sym typeface="Arial Black"/>
              </a:rPr>
              <a:t>5</a:t>
            </a:r>
            <a:endParaRPr b="0" i="0" sz="1100" u="none" cap="none" strike="noStrike">
              <a:solidFill>
                <a:schemeClr val="dk1"/>
              </a:solidFill>
              <a:latin typeface="Calibri"/>
              <a:ea typeface="Calibri"/>
              <a:cs typeface="Calibri"/>
              <a:sym typeface="Calibri"/>
            </a:endParaRPr>
          </a:p>
        </p:txBody>
      </p:sp>
      <p:sp>
        <p:nvSpPr>
          <p:cNvPr id="538" name="Google Shape;538;p19"/>
          <p:cNvSpPr/>
          <p:nvPr/>
        </p:nvSpPr>
        <p:spPr>
          <a:xfrm>
            <a:off x="914400" y="365760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1" lang="en-US" sz="1400" u="none" cap="none" strike="noStrike">
                <a:solidFill>
                  <a:srgbClr val="1E2761"/>
                </a:solidFill>
                <a:latin typeface="Calibri"/>
                <a:ea typeface="Calibri"/>
                <a:cs typeface="Calibri"/>
                <a:sym typeface="Calibri"/>
              </a:rPr>
              <a:t>What evidence shows that ___?</a:t>
            </a:r>
            <a:endParaRPr b="0" i="0" sz="1400" u="none" cap="none" strike="noStrike">
              <a:solidFill>
                <a:schemeClr val="dk1"/>
              </a:solidFill>
              <a:latin typeface="Calibri"/>
              <a:ea typeface="Calibri"/>
              <a:cs typeface="Calibri"/>
              <a:sym typeface="Calibri"/>
            </a:endParaRPr>
          </a:p>
        </p:txBody>
      </p:sp>
      <p:sp>
        <p:nvSpPr>
          <p:cNvPr id="539" name="Google Shape;539;p19"/>
          <p:cNvSpPr/>
          <p:nvPr/>
        </p:nvSpPr>
        <p:spPr>
          <a:xfrm>
            <a:off x="365760" y="416052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Bonus: at least ONE question must use a vocab word from slide 8.</a:t>
            </a:r>
            <a:endParaRPr b="0" i="0" sz="1200" u="none" cap="none" strike="noStrike">
              <a:solidFill>
                <a:schemeClr val="dk1"/>
              </a:solidFill>
              <a:latin typeface="Calibri"/>
              <a:ea typeface="Calibri"/>
              <a:cs typeface="Calibri"/>
              <a:sym typeface="Calibri"/>
            </a:endParaRPr>
          </a:p>
        </p:txBody>
      </p:sp>
      <p:sp>
        <p:nvSpPr>
          <p:cNvPr id="540" name="Google Shape;540;p19"/>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Write 5 questions in the LEFT column. They must match notes you've already written.</a:t>
            </a:r>
            <a:endParaRPr b="0" i="0" sz="1200" u="none" cap="none" strike="noStrike">
              <a:solidFill>
                <a:schemeClr val="dk1"/>
              </a:solidFill>
              <a:latin typeface="Calibri"/>
              <a:ea typeface="Calibri"/>
              <a:cs typeface="Calibri"/>
              <a:sym typeface="Calibri"/>
            </a:endParaRPr>
          </a:p>
        </p:txBody>
      </p:sp>
      <p:sp>
        <p:nvSpPr>
          <p:cNvPr id="541" name="Google Shape;541;p19"/>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19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6" name="Shape 546"/>
        <p:cNvGrpSpPr/>
        <p:nvPr/>
      </p:nvGrpSpPr>
      <p:grpSpPr>
        <a:xfrm>
          <a:off x="0" y="0"/>
          <a:ext cx="0" cy="0"/>
          <a:chOff x="0" y="0"/>
          <a:chExt cx="0" cy="0"/>
        </a:xfrm>
      </p:grpSpPr>
      <p:sp>
        <p:nvSpPr>
          <p:cNvPr id="547" name="Google Shape;547;p20"/>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548" name="Google Shape;548;p20"/>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Write the summary (bottom box)</a:t>
            </a:r>
            <a:endParaRPr b="0" i="0" sz="2600" u="none" cap="none" strike="noStrike">
              <a:solidFill>
                <a:schemeClr val="dk1"/>
              </a:solidFill>
              <a:latin typeface="Calibri"/>
              <a:ea typeface="Calibri"/>
              <a:cs typeface="Calibri"/>
              <a:sym typeface="Calibri"/>
            </a:endParaRPr>
          </a:p>
        </p:txBody>
      </p:sp>
      <p:sp>
        <p:nvSpPr>
          <p:cNvPr id="549" name="Google Shape;549;p20"/>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0"/>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4 MIN</a:t>
            </a:r>
            <a:endParaRPr b="0" i="0" sz="1400" u="none" cap="none" strike="noStrike">
              <a:solidFill>
                <a:schemeClr val="dk1"/>
              </a:solidFill>
              <a:latin typeface="Calibri"/>
              <a:ea typeface="Calibri"/>
              <a:cs typeface="Calibri"/>
              <a:sym typeface="Calibri"/>
            </a:endParaRPr>
          </a:p>
        </p:txBody>
      </p:sp>
      <p:sp>
        <p:nvSpPr>
          <p:cNvPr id="551" name="Google Shape;551;p20"/>
          <p:cNvSpPr/>
          <p:nvPr/>
        </p:nvSpPr>
        <p:spPr>
          <a:xfrm>
            <a:off x="365760" y="932688"/>
            <a:ext cx="2103120" cy="292608"/>
          </a:xfrm>
          <a:prstGeom prst="rect">
            <a:avLst/>
          </a:prstGeom>
          <a:solidFill>
            <a:srgbClr val="2C3A78"/>
          </a:solidFill>
          <a:ln cap="flat" cmpd="sng" w="12700">
            <a:solidFill>
              <a:srgbClr val="2C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0"/>
          <p:cNvSpPr/>
          <p:nvPr/>
        </p:nvSpPr>
        <p:spPr>
          <a:xfrm>
            <a:off x="365760" y="932688"/>
            <a:ext cx="21031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Black"/>
              <a:buNone/>
            </a:pPr>
            <a:r>
              <a:rPr b="1" i="0" lang="en-US" sz="1100" u="none" cap="none" strike="noStrike">
                <a:solidFill>
                  <a:srgbClr val="FFFFFF"/>
                </a:solidFill>
                <a:latin typeface="Arial Black"/>
                <a:ea typeface="Arial Black"/>
                <a:cs typeface="Arial Black"/>
                <a:sym typeface="Arial Black"/>
              </a:rPr>
              <a:t>✎ SUMMARY (bottom)</a:t>
            </a:r>
            <a:endParaRPr b="0" i="0" sz="1100" u="none" cap="none" strike="noStrike">
              <a:solidFill>
                <a:schemeClr val="dk1"/>
              </a:solidFill>
              <a:latin typeface="Calibri"/>
              <a:ea typeface="Calibri"/>
              <a:cs typeface="Calibri"/>
              <a:sym typeface="Calibri"/>
            </a:endParaRPr>
          </a:p>
        </p:txBody>
      </p:sp>
      <p:sp>
        <p:nvSpPr>
          <p:cNvPr id="553" name="Google Shape;553;p20"/>
          <p:cNvSpPr/>
          <p:nvPr/>
        </p:nvSpPr>
        <p:spPr>
          <a:xfrm>
            <a:off x="365760" y="1417320"/>
            <a:ext cx="8412480" cy="1554480"/>
          </a:xfrm>
          <a:prstGeom prst="rect">
            <a:avLst/>
          </a:prstGeom>
          <a:solidFill>
            <a:srgbClr val="2C3A78"/>
          </a:solidFill>
          <a:ln cap="flat" cmpd="sng" w="12700">
            <a:solidFill>
              <a:srgbClr val="2C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0"/>
          <p:cNvSpPr/>
          <p:nvPr/>
        </p:nvSpPr>
        <p:spPr>
          <a:xfrm>
            <a:off x="502920" y="150876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100"/>
              <a:buFont typeface="Calibri"/>
              <a:buNone/>
            </a:pPr>
            <a:r>
              <a:rPr b="1" i="0" lang="en-US" sz="1100" u="none" cap="none" strike="noStrike">
                <a:solidFill>
                  <a:srgbClr val="F2C14E"/>
                </a:solidFill>
                <a:latin typeface="Calibri"/>
                <a:ea typeface="Calibri"/>
                <a:cs typeface="Calibri"/>
                <a:sym typeface="Calibri"/>
              </a:rPr>
              <a:t>USE THIS FRAME</a:t>
            </a:r>
            <a:endParaRPr b="0" i="0" sz="1100" u="none" cap="none" strike="noStrike">
              <a:solidFill>
                <a:schemeClr val="dk1"/>
              </a:solidFill>
              <a:latin typeface="Calibri"/>
              <a:ea typeface="Calibri"/>
              <a:cs typeface="Calibri"/>
              <a:sym typeface="Calibri"/>
            </a:endParaRPr>
          </a:p>
        </p:txBody>
      </p:sp>
      <p:sp>
        <p:nvSpPr>
          <p:cNvPr id="555" name="Google Shape;555;p20"/>
          <p:cNvSpPr/>
          <p:nvPr/>
        </p:nvSpPr>
        <p:spPr>
          <a:xfrm>
            <a:off x="502920" y="1783080"/>
            <a:ext cx="813816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0" i="1" lang="en-US" sz="1600" u="none" cap="none" strike="noStrike">
                <a:solidFill>
                  <a:srgbClr val="FFFFFF"/>
                </a:solidFill>
                <a:latin typeface="Georgia"/>
                <a:ea typeface="Georgia"/>
                <a:cs typeface="Georgia"/>
                <a:sym typeface="Georgia"/>
              </a:rPr>
              <a:t>In the opening of “The Most Dangerous Game,” Connell uses </a:t>
            </a:r>
            <a:r>
              <a:rPr b="1" i="1" lang="en-US" sz="1600" u="none" cap="none" strike="noStrike">
                <a:solidFill>
                  <a:srgbClr val="F2C14E"/>
                </a:solidFill>
                <a:latin typeface="Georgia"/>
                <a:ea typeface="Georgia"/>
                <a:cs typeface="Georgia"/>
                <a:sym typeface="Georgia"/>
              </a:rPr>
              <a:t>______ </a:t>
            </a:r>
            <a:r>
              <a:rPr b="0" i="1" lang="en-US" sz="1600" u="none" cap="none" strike="noStrike">
                <a:solidFill>
                  <a:srgbClr val="FFFFFF"/>
                </a:solidFill>
                <a:latin typeface="Georgia"/>
                <a:ea typeface="Georgia"/>
                <a:cs typeface="Georgia"/>
                <a:sym typeface="Georgia"/>
              </a:rPr>
              <a:t>and </a:t>
            </a:r>
            <a:r>
              <a:rPr b="1" i="1" lang="en-US" sz="1600" u="none" cap="none" strike="noStrike">
                <a:solidFill>
                  <a:srgbClr val="F2C14E"/>
                </a:solidFill>
                <a:latin typeface="Georgia"/>
                <a:ea typeface="Georgia"/>
                <a:cs typeface="Georgia"/>
                <a:sym typeface="Georgia"/>
              </a:rPr>
              <a:t>______ </a:t>
            </a:r>
            <a:r>
              <a:rPr b="0" i="1" lang="en-US" sz="1600" u="none" cap="none" strike="noStrike">
                <a:solidFill>
                  <a:srgbClr val="FFFFFF"/>
                </a:solidFill>
                <a:latin typeface="Georgia"/>
                <a:ea typeface="Georgia"/>
                <a:cs typeface="Georgia"/>
                <a:sym typeface="Georgia"/>
              </a:rPr>
              <a:t>to create a </a:t>
            </a:r>
            <a:r>
              <a:rPr b="1" i="1" lang="en-US" sz="1600" u="none" cap="none" strike="noStrike">
                <a:solidFill>
                  <a:srgbClr val="F2C14E"/>
                </a:solidFill>
                <a:latin typeface="Georgia"/>
                <a:ea typeface="Georgia"/>
                <a:cs typeface="Georgia"/>
                <a:sym typeface="Georgia"/>
              </a:rPr>
              <a:t>______ </a:t>
            </a:r>
            <a:r>
              <a:rPr b="0" i="1" lang="en-US" sz="1600" u="none" cap="none" strike="noStrike">
                <a:solidFill>
                  <a:srgbClr val="FFFFFF"/>
                </a:solidFill>
                <a:latin typeface="Georgia"/>
                <a:ea typeface="Georgia"/>
                <a:cs typeface="Georgia"/>
                <a:sym typeface="Georgia"/>
              </a:rPr>
              <a:t>mood that </a:t>
            </a:r>
            <a:r>
              <a:rPr b="1" i="1" lang="en-US" sz="1600" u="none" cap="none" strike="noStrike">
                <a:solidFill>
                  <a:srgbClr val="F2C14E"/>
                </a:solidFill>
                <a:latin typeface="Georgia"/>
                <a:ea typeface="Georgia"/>
                <a:cs typeface="Georgia"/>
                <a:sym typeface="Georgia"/>
              </a:rPr>
              <a:t>______.</a:t>
            </a:r>
            <a:endParaRPr b="0" i="0" sz="1600" u="none" cap="none" strike="noStrike">
              <a:solidFill>
                <a:schemeClr val="dk1"/>
              </a:solidFill>
              <a:latin typeface="Calibri"/>
              <a:ea typeface="Calibri"/>
              <a:cs typeface="Calibri"/>
              <a:sym typeface="Calibri"/>
            </a:endParaRPr>
          </a:p>
        </p:txBody>
      </p:sp>
      <p:sp>
        <p:nvSpPr>
          <p:cNvPr id="556" name="Google Shape;556;p20"/>
          <p:cNvSpPr/>
          <p:nvPr/>
        </p:nvSpPr>
        <p:spPr>
          <a:xfrm>
            <a:off x="365760" y="315468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1" i="0" lang="en-US" sz="1100" u="none" cap="none" strike="noStrike">
                <a:solidFill>
                  <a:srgbClr val="8AA0C9"/>
                </a:solidFill>
                <a:latin typeface="Calibri"/>
                <a:ea typeface="Calibri"/>
                <a:cs typeface="Calibri"/>
                <a:sym typeface="Calibri"/>
              </a:rPr>
              <a:t>REQUIREMENTS:</a:t>
            </a:r>
            <a:endParaRPr b="0" i="0" sz="1100" u="none" cap="none" strike="noStrike">
              <a:solidFill>
                <a:schemeClr val="dk1"/>
              </a:solidFill>
              <a:latin typeface="Calibri"/>
              <a:ea typeface="Calibri"/>
              <a:cs typeface="Calibri"/>
              <a:sym typeface="Calibri"/>
            </a:endParaRPr>
          </a:p>
        </p:txBody>
      </p:sp>
      <p:sp>
        <p:nvSpPr>
          <p:cNvPr id="557" name="Google Shape;557;p20"/>
          <p:cNvSpPr/>
          <p:nvPr/>
        </p:nvSpPr>
        <p:spPr>
          <a:xfrm>
            <a:off x="365760" y="3429000"/>
            <a:ext cx="8412480" cy="12801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2761"/>
              </a:buClr>
              <a:buSzPts val="1400"/>
              <a:buFont typeface="Calibri"/>
              <a:buChar char="•"/>
            </a:pPr>
            <a:r>
              <a:rPr b="0" i="0" lang="en-US" sz="1400" u="none" cap="none" strike="noStrike">
                <a:solidFill>
                  <a:srgbClr val="1E2761"/>
                </a:solidFill>
                <a:latin typeface="Calibri"/>
                <a:ea typeface="Calibri"/>
                <a:cs typeface="Calibri"/>
                <a:sym typeface="Calibri"/>
              </a:rPr>
              <a:t>2–3 sentences in your own words.</a:t>
            </a:r>
            <a:endParaRPr b="0" i="0" sz="14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400"/>
              <a:buFont typeface="Calibri"/>
              <a:buChar char="•"/>
            </a:pPr>
            <a:r>
              <a:rPr b="0" i="0" lang="en-US" sz="1400" u="none" cap="none" strike="noStrike">
                <a:solidFill>
                  <a:srgbClr val="1E2761"/>
                </a:solidFill>
                <a:latin typeface="Calibri"/>
                <a:ea typeface="Calibri"/>
                <a:cs typeface="Calibri"/>
                <a:sym typeface="Calibri"/>
              </a:rPr>
              <a:t>Must use at least 1 vocab word from slide 8 (palpable, indolently, tangible, bizarre, quarry).</a:t>
            </a:r>
            <a:endParaRPr b="0" i="0" sz="14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400"/>
              <a:buFont typeface="Calibri"/>
              <a:buChar char="•"/>
            </a:pPr>
            <a:r>
              <a:rPr b="0" i="0" lang="en-US" sz="1400" u="none" cap="none" strike="noStrike">
                <a:solidFill>
                  <a:srgbClr val="1E2761"/>
                </a:solidFill>
                <a:latin typeface="Calibri"/>
                <a:ea typeface="Calibri"/>
                <a:cs typeface="Calibri"/>
                <a:sym typeface="Calibri"/>
              </a:rPr>
              <a:t>Reference at least 1 element (setting OR plot).</a:t>
            </a:r>
            <a:endParaRPr b="0" i="0" sz="1400" u="none" cap="none" strike="noStrike">
              <a:solidFill>
                <a:schemeClr val="dk1"/>
              </a:solidFill>
              <a:latin typeface="Calibri"/>
              <a:ea typeface="Calibri"/>
              <a:cs typeface="Calibri"/>
              <a:sym typeface="Calibri"/>
            </a:endParaRPr>
          </a:p>
        </p:txBody>
      </p:sp>
      <p:sp>
        <p:nvSpPr>
          <p:cNvPr id="558" name="Google Shape;558;p20"/>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Write 2-3 sentences in the SUMMARY box. Use 1 vocab word. Underline it.</a:t>
            </a:r>
            <a:endParaRPr b="0" i="0" sz="1200" u="none" cap="none" strike="noStrike">
              <a:solidFill>
                <a:schemeClr val="dk1"/>
              </a:solidFill>
              <a:latin typeface="Calibri"/>
              <a:ea typeface="Calibri"/>
              <a:cs typeface="Calibri"/>
              <a:sym typeface="Calibri"/>
            </a:endParaRPr>
          </a:p>
        </p:txBody>
      </p:sp>
      <p:sp>
        <p:nvSpPr>
          <p:cNvPr id="559" name="Google Shape;559;p20"/>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20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4" name="Shape 564"/>
        <p:cNvGrpSpPr/>
        <p:nvPr/>
      </p:nvGrpSpPr>
      <p:grpSpPr>
        <a:xfrm>
          <a:off x="0" y="0"/>
          <a:ext cx="0" cy="0"/>
          <a:chOff x="0" y="0"/>
          <a:chExt cx="0" cy="0"/>
        </a:xfrm>
      </p:grpSpPr>
      <p:sp>
        <p:nvSpPr>
          <p:cNvPr id="565" name="Google Shape;565;p21"/>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566" name="Google Shape;566;p21"/>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Self-check before exit ticket</a:t>
            </a:r>
            <a:endParaRPr b="0" i="0" sz="2600" u="none" cap="none" strike="noStrike">
              <a:solidFill>
                <a:schemeClr val="dk1"/>
              </a:solidFill>
              <a:latin typeface="Calibri"/>
              <a:ea typeface="Calibri"/>
              <a:cs typeface="Calibri"/>
              <a:sym typeface="Calibri"/>
            </a:endParaRPr>
          </a:p>
        </p:txBody>
      </p:sp>
      <p:sp>
        <p:nvSpPr>
          <p:cNvPr id="567" name="Google Shape;567;p21"/>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1"/>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3 MIN</a:t>
            </a:r>
            <a:endParaRPr b="0" i="0" sz="1400" u="none" cap="none" strike="noStrike">
              <a:solidFill>
                <a:schemeClr val="dk1"/>
              </a:solidFill>
              <a:latin typeface="Calibri"/>
              <a:ea typeface="Calibri"/>
              <a:cs typeface="Calibri"/>
              <a:sym typeface="Calibri"/>
            </a:endParaRPr>
          </a:p>
        </p:txBody>
      </p:sp>
      <p:sp>
        <p:nvSpPr>
          <p:cNvPr id="569" name="Google Shape;569;p21"/>
          <p:cNvSpPr/>
          <p:nvPr/>
        </p:nvSpPr>
        <p:spPr>
          <a:xfrm>
            <a:off x="365760" y="932688"/>
            <a:ext cx="233172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1"/>
          <p:cNvSpPr/>
          <p:nvPr/>
        </p:nvSpPr>
        <p:spPr>
          <a:xfrm>
            <a:off x="365760" y="932688"/>
            <a:ext cx="2331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571" name="Google Shape;571;p21"/>
          <p:cNvSpPr/>
          <p:nvPr/>
        </p:nvSpPr>
        <p:spPr>
          <a:xfrm>
            <a:off x="365760" y="1417320"/>
            <a:ext cx="8412480" cy="384048"/>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1"/>
          <p:cNvSpPr/>
          <p:nvPr/>
        </p:nvSpPr>
        <p:spPr>
          <a:xfrm>
            <a:off x="457200" y="1490472"/>
            <a:ext cx="256032" cy="256032"/>
          </a:xfrm>
          <a:prstGeom prst="rect">
            <a:avLst/>
          </a:prstGeom>
          <a:solidFill>
            <a:srgbClr val="FFFFFF"/>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1"/>
          <p:cNvSpPr/>
          <p:nvPr/>
        </p:nvSpPr>
        <p:spPr>
          <a:xfrm>
            <a:off x="822960" y="1417320"/>
            <a:ext cx="7863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Cornell layout drawn — 3 zones visible</a:t>
            </a:r>
            <a:endParaRPr b="0" i="0" sz="1300" u="none" cap="none" strike="noStrike">
              <a:solidFill>
                <a:schemeClr val="dk1"/>
              </a:solidFill>
              <a:latin typeface="Calibri"/>
              <a:ea typeface="Calibri"/>
              <a:cs typeface="Calibri"/>
              <a:sym typeface="Calibri"/>
            </a:endParaRPr>
          </a:p>
        </p:txBody>
      </p:sp>
      <p:sp>
        <p:nvSpPr>
          <p:cNvPr id="574" name="Google Shape;574;p21"/>
          <p:cNvSpPr/>
          <p:nvPr/>
        </p:nvSpPr>
        <p:spPr>
          <a:xfrm>
            <a:off x="365760" y="1874520"/>
            <a:ext cx="8412480" cy="384048"/>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a:off x="457200" y="1947672"/>
            <a:ext cx="256032" cy="256032"/>
          </a:xfrm>
          <a:prstGeom prst="rect">
            <a:avLst/>
          </a:prstGeom>
          <a:solidFill>
            <a:srgbClr val="FFFFFF"/>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1"/>
          <p:cNvSpPr/>
          <p:nvPr/>
        </p:nvSpPr>
        <p:spPr>
          <a:xfrm>
            <a:off x="822960" y="1874520"/>
            <a:ext cx="7863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Standard code at top right: ELA.9.R.1.1</a:t>
            </a:r>
            <a:endParaRPr b="0" i="0" sz="1300" u="none" cap="none" strike="noStrike">
              <a:solidFill>
                <a:schemeClr val="dk1"/>
              </a:solidFill>
              <a:latin typeface="Calibri"/>
              <a:ea typeface="Calibri"/>
              <a:cs typeface="Calibri"/>
              <a:sym typeface="Calibri"/>
            </a:endParaRPr>
          </a:p>
        </p:txBody>
      </p:sp>
      <p:sp>
        <p:nvSpPr>
          <p:cNvPr id="577" name="Google Shape;577;p21"/>
          <p:cNvSpPr/>
          <p:nvPr/>
        </p:nvSpPr>
        <p:spPr>
          <a:xfrm>
            <a:off x="365760" y="2331720"/>
            <a:ext cx="8412480" cy="384048"/>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1"/>
          <p:cNvSpPr/>
          <p:nvPr/>
        </p:nvSpPr>
        <p:spPr>
          <a:xfrm>
            <a:off x="457200" y="2404872"/>
            <a:ext cx="256032" cy="256032"/>
          </a:xfrm>
          <a:prstGeom prst="rect">
            <a:avLst/>
          </a:prstGeom>
          <a:solidFill>
            <a:srgbClr val="FFFFFF"/>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1"/>
          <p:cNvSpPr/>
          <p:nvPr/>
        </p:nvSpPr>
        <p:spPr>
          <a:xfrm>
            <a:off x="822960" y="2331720"/>
            <a:ext cx="7863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Notes column filled for slides 3, 4, 5, 6, 7, 8, 10, 12, 14</a:t>
            </a:r>
            <a:endParaRPr b="0" i="0" sz="1300" u="none" cap="none" strike="noStrike">
              <a:solidFill>
                <a:schemeClr val="dk1"/>
              </a:solidFill>
              <a:latin typeface="Calibri"/>
              <a:ea typeface="Calibri"/>
              <a:cs typeface="Calibri"/>
              <a:sym typeface="Calibri"/>
            </a:endParaRPr>
          </a:p>
        </p:txBody>
      </p:sp>
      <p:sp>
        <p:nvSpPr>
          <p:cNvPr id="580" name="Google Shape;580;p21"/>
          <p:cNvSpPr/>
          <p:nvPr/>
        </p:nvSpPr>
        <p:spPr>
          <a:xfrm>
            <a:off x="365760" y="2788920"/>
            <a:ext cx="8412480" cy="384048"/>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1"/>
          <p:cNvSpPr/>
          <p:nvPr/>
        </p:nvSpPr>
        <p:spPr>
          <a:xfrm>
            <a:off x="457200" y="2862072"/>
            <a:ext cx="256032" cy="256032"/>
          </a:xfrm>
          <a:prstGeom prst="rect">
            <a:avLst/>
          </a:prstGeom>
          <a:solidFill>
            <a:srgbClr val="FFFFFF"/>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1"/>
          <p:cNvSpPr/>
          <p:nvPr/>
        </p:nvSpPr>
        <p:spPr>
          <a:xfrm>
            <a:off x="822960" y="2788920"/>
            <a:ext cx="7863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Vocabulary Anchor: 5 words with definitions (slide 8)</a:t>
            </a:r>
            <a:endParaRPr b="0" i="0" sz="1300" u="none" cap="none" strike="noStrike">
              <a:solidFill>
                <a:schemeClr val="dk1"/>
              </a:solidFill>
              <a:latin typeface="Calibri"/>
              <a:ea typeface="Calibri"/>
              <a:cs typeface="Calibri"/>
              <a:sym typeface="Calibri"/>
            </a:endParaRPr>
          </a:p>
        </p:txBody>
      </p:sp>
      <p:sp>
        <p:nvSpPr>
          <p:cNvPr id="583" name="Google Shape;583;p21"/>
          <p:cNvSpPr/>
          <p:nvPr/>
        </p:nvSpPr>
        <p:spPr>
          <a:xfrm>
            <a:off x="365760" y="3246120"/>
            <a:ext cx="8412480" cy="384048"/>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1"/>
          <p:cNvSpPr/>
          <p:nvPr/>
        </p:nvSpPr>
        <p:spPr>
          <a:xfrm>
            <a:off x="457200" y="3319272"/>
            <a:ext cx="256032" cy="256032"/>
          </a:xfrm>
          <a:prstGeom prst="rect">
            <a:avLst/>
          </a:prstGeom>
          <a:solidFill>
            <a:srgbClr val="FFFFFF"/>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1"/>
          <p:cNvSpPr/>
          <p:nvPr/>
        </p:nvSpPr>
        <p:spPr>
          <a:xfrm>
            <a:off x="822960" y="3246120"/>
            <a:ext cx="7863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Cue column: 5+ questions written (slide 19)</a:t>
            </a:r>
            <a:endParaRPr b="0" i="0" sz="1300" u="none" cap="none" strike="noStrike">
              <a:solidFill>
                <a:schemeClr val="dk1"/>
              </a:solidFill>
              <a:latin typeface="Calibri"/>
              <a:ea typeface="Calibri"/>
              <a:cs typeface="Calibri"/>
              <a:sym typeface="Calibri"/>
            </a:endParaRPr>
          </a:p>
        </p:txBody>
      </p:sp>
      <p:sp>
        <p:nvSpPr>
          <p:cNvPr id="586" name="Google Shape;586;p21"/>
          <p:cNvSpPr/>
          <p:nvPr/>
        </p:nvSpPr>
        <p:spPr>
          <a:xfrm>
            <a:off x="365760" y="3703320"/>
            <a:ext cx="8412480" cy="384048"/>
          </a:xfrm>
          <a:prstGeom prst="rect">
            <a:avLst/>
          </a:prstGeom>
          <a:solidFill>
            <a:srgbClr val="FFFFFF"/>
          </a:solidFill>
          <a:ln cap="flat" cmpd="sng" w="9525">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1"/>
          <p:cNvSpPr/>
          <p:nvPr/>
        </p:nvSpPr>
        <p:spPr>
          <a:xfrm>
            <a:off x="457200" y="3776472"/>
            <a:ext cx="256032" cy="256032"/>
          </a:xfrm>
          <a:prstGeom prst="rect">
            <a:avLst/>
          </a:prstGeom>
          <a:solidFill>
            <a:srgbClr val="FFFFFF"/>
          </a:solidFill>
          <a:ln cap="flat" cmpd="sng" w="1905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1"/>
          <p:cNvSpPr/>
          <p:nvPr/>
        </p:nvSpPr>
        <p:spPr>
          <a:xfrm>
            <a:off x="822960" y="3703320"/>
            <a:ext cx="7863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Summary written: 2-3 sentences with 1 vocab word</a:t>
            </a:r>
            <a:endParaRPr b="0" i="0" sz="1300" u="none" cap="none" strike="noStrike">
              <a:solidFill>
                <a:schemeClr val="dk1"/>
              </a:solidFill>
              <a:latin typeface="Calibri"/>
              <a:ea typeface="Calibri"/>
              <a:cs typeface="Calibri"/>
              <a:sym typeface="Calibri"/>
            </a:endParaRPr>
          </a:p>
        </p:txBody>
      </p:sp>
      <p:sp>
        <p:nvSpPr>
          <p:cNvPr id="589" name="Google Shape;589;p21"/>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Tick each box. ANY missing piece — fix it RIGHT NOW.</a:t>
            </a:r>
            <a:endParaRPr b="0" i="0" sz="1200" u="none" cap="none" strike="noStrike">
              <a:solidFill>
                <a:schemeClr val="dk1"/>
              </a:solidFill>
              <a:latin typeface="Calibri"/>
              <a:ea typeface="Calibri"/>
              <a:cs typeface="Calibri"/>
              <a:sym typeface="Calibri"/>
            </a:endParaRPr>
          </a:p>
        </p:txBody>
      </p:sp>
      <p:sp>
        <p:nvSpPr>
          <p:cNvPr id="590" name="Google Shape;590;p21"/>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21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22"/>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597" name="Google Shape;597;p22"/>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Exit ticket</a:t>
            </a:r>
            <a:endParaRPr b="0" i="0" sz="2600" u="none" cap="none" strike="noStrike">
              <a:solidFill>
                <a:schemeClr val="dk1"/>
              </a:solidFill>
              <a:latin typeface="Calibri"/>
              <a:ea typeface="Calibri"/>
              <a:cs typeface="Calibri"/>
              <a:sym typeface="Calibri"/>
            </a:endParaRPr>
          </a:p>
        </p:txBody>
      </p:sp>
      <p:sp>
        <p:nvSpPr>
          <p:cNvPr id="598" name="Google Shape;598;p22"/>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2"/>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5 MIN</a:t>
            </a:r>
            <a:endParaRPr b="0" i="0" sz="1400" u="none" cap="none" strike="noStrike">
              <a:solidFill>
                <a:schemeClr val="dk1"/>
              </a:solidFill>
              <a:latin typeface="Calibri"/>
              <a:ea typeface="Calibri"/>
              <a:cs typeface="Calibri"/>
              <a:sym typeface="Calibri"/>
            </a:endParaRPr>
          </a:p>
        </p:txBody>
      </p:sp>
      <p:sp>
        <p:nvSpPr>
          <p:cNvPr id="600" name="Google Shape;600;p22"/>
          <p:cNvSpPr/>
          <p:nvPr/>
        </p:nvSpPr>
        <p:spPr>
          <a:xfrm>
            <a:off x="365760" y="932688"/>
            <a:ext cx="2331720" cy="29260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2"/>
          <p:cNvSpPr/>
          <p:nvPr/>
        </p:nvSpPr>
        <p:spPr>
          <a:xfrm>
            <a:off x="365760" y="932688"/>
            <a:ext cx="2331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1100"/>
              <a:buFont typeface="Arial Black"/>
              <a:buNone/>
            </a:pPr>
            <a:r>
              <a:rPr b="1" i="0" lang="en-US" sz="1100" u="none" cap="none" strike="noStrike">
                <a:solidFill>
                  <a:srgbClr val="F2C14E"/>
                </a:solidFill>
                <a:latin typeface="Arial Black"/>
                <a:ea typeface="Arial Black"/>
                <a:cs typeface="Arial Black"/>
                <a:sym typeface="Arial Black"/>
              </a:rPr>
              <a:t>✎ NOTES COLUMN (right)</a:t>
            </a:r>
            <a:endParaRPr b="0" i="0" sz="1100" u="none" cap="none" strike="noStrike">
              <a:solidFill>
                <a:schemeClr val="dk1"/>
              </a:solidFill>
              <a:latin typeface="Calibri"/>
              <a:ea typeface="Calibri"/>
              <a:cs typeface="Calibri"/>
              <a:sym typeface="Calibri"/>
            </a:endParaRPr>
          </a:p>
        </p:txBody>
      </p:sp>
      <p:sp>
        <p:nvSpPr>
          <p:cNvPr id="602" name="Google Shape;602;p22"/>
          <p:cNvSpPr/>
          <p:nvPr/>
        </p:nvSpPr>
        <p:spPr>
          <a:xfrm>
            <a:off x="365760" y="1417320"/>
            <a:ext cx="8412480" cy="13716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2"/>
          <p:cNvSpPr/>
          <p:nvPr/>
        </p:nvSpPr>
        <p:spPr>
          <a:xfrm>
            <a:off x="502920" y="150876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100"/>
              <a:buFont typeface="Calibri"/>
              <a:buNone/>
            </a:pPr>
            <a:r>
              <a:rPr b="1" i="0" lang="en-US" sz="1100" u="none" cap="none" strike="noStrike">
                <a:solidFill>
                  <a:srgbClr val="F2C14E"/>
                </a:solidFill>
                <a:latin typeface="Calibri"/>
                <a:ea typeface="Calibri"/>
                <a:cs typeface="Calibri"/>
                <a:sym typeface="Calibri"/>
              </a:rPr>
              <a:t>PROMPT</a:t>
            </a:r>
            <a:endParaRPr b="0" i="0" sz="1100" u="none" cap="none" strike="noStrike">
              <a:solidFill>
                <a:schemeClr val="dk1"/>
              </a:solidFill>
              <a:latin typeface="Calibri"/>
              <a:ea typeface="Calibri"/>
              <a:cs typeface="Calibri"/>
              <a:sym typeface="Calibri"/>
            </a:endParaRPr>
          </a:p>
        </p:txBody>
      </p:sp>
      <p:sp>
        <p:nvSpPr>
          <p:cNvPr id="604" name="Google Shape;604;p22"/>
          <p:cNvSpPr/>
          <p:nvPr/>
        </p:nvSpPr>
        <p:spPr>
          <a:xfrm>
            <a:off x="502920" y="1783080"/>
            <a:ext cx="8138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0" i="1" lang="en-US" sz="1600" u="none" cap="none" strike="noStrike">
                <a:solidFill>
                  <a:srgbClr val="FFFFFF"/>
                </a:solidFill>
                <a:latin typeface="Georgia"/>
                <a:ea typeface="Georgia"/>
                <a:cs typeface="Georgia"/>
                <a:sym typeface="Georgia"/>
              </a:rPr>
              <a:t>Choose ONE element of SETTING from TMDG (any passage). In 4–5 sentences, explain HOW Connell uses it to build mood or plot.</a:t>
            </a:r>
            <a:endParaRPr b="0" i="0" sz="1600" u="none" cap="none" strike="noStrike">
              <a:solidFill>
                <a:schemeClr val="dk1"/>
              </a:solidFill>
              <a:latin typeface="Calibri"/>
              <a:ea typeface="Calibri"/>
              <a:cs typeface="Calibri"/>
              <a:sym typeface="Calibri"/>
            </a:endParaRPr>
          </a:p>
        </p:txBody>
      </p:sp>
      <p:sp>
        <p:nvSpPr>
          <p:cNvPr id="605" name="Google Shape;605;p22"/>
          <p:cNvSpPr/>
          <p:nvPr/>
        </p:nvSpPr>
        <p:spPr>
          <a:xfrm>
            <a:off x="365760" y="292608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0C9"/>
              </a:buClr>
              <a:buSzPts val="1100"/>
              <a:buFont typeface="Calibri"/>
              <a:buNone/>
            </a:pPr>
            <a:r>
              <a:rPr b="1" i="0" lang="en-US" sz="1100" u="none" cap="none" strike="noStrike">
                <a:solidFill>
                  <a:srgbClr val="8AA0C9"/>
                </a:solidFill>
                <a:latin typeface="Calibri"/>
                <a:ea typeface="Calibri"/>
                <a:cs typeface="Calibri"/>
                <a:sym typeface="Calibri"/>
              </a:rPr>
              <a:t>YOUR 4–5 SENTENCES MUST INCLUDE:</a:t>
            </a:r>
            <a:endParaRPr b="0" i="0" sz="1100" u="none" cap="none" strike="noStrike">
              <a:solidFill>
                <a:schemeClr val="dk1"/>
              </a:solidFill>
              <a:latin typeface="Calibri"/>
              <a:ea typeface="Calibri"/>
              <a:cs typeface="Calibri"/>
              <a:sym typeface="Calibri"/>
            </a:endParaRPr>
          </a:p>
        </p:txBody>
      </p:sp>
      <p:sp>
        <p:nvSpPr>
          <p:cNvPr id="606" name="Google Shape;606;p22"/>
          <p:cNvSpPr/>
          <p:nvPr/>
        </p:nvSpPr>
        <p:spPr>
          <a:xfrm>
            <a:off x="365760" y="3200400"/>
            <a:ext cx="841248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Name the element  </a:t>
            </a:r>
            <a:r>
              <a:rPr b="0" i="1" lang="en-US" sz="1300" u="none" cap="none" strike="noStrike">
                <a:solidFill>
                  <a:srgbClr val="2C3A78"/>
                </a:solidFill>
                <a:latin typeface="Calibri"/>
                <a:ea typeface="Calibri"/>
                <a:cs typeface="Calibri"/>
                <a:sym typeface="Calibri"/>
              </a:rPr>
              <a:t>(e.g., "The setting of Ship-Trap Island...")</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Quote the evidence  </a:t>
            </a:r>
            <a:r>
              <a:rPr b="0" i="1" lang="en-US" sz="1300" u="none" cap="none" strike="noStrike">
                <a:solidFill>
                  <a:srgbClr val="2C3A78"/>
                </a:solidFill>
                <a:latin typeface="Calibri"/>
                <a:ea typeface="Calibri"/>
                <a:cs typeface="Calibri"/>
                <a:sym typeface="Calibri"/>
              </a:rPr>
              <a:t>(direct quote with quote marks)</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Explain the effect  </a:t>
            </a:r>
            <a:r>
              <a:rPr b="0" i="1" lang="en-US" sz="1300" u="none" cap="none" strike="noStrike">
                <a:solidFill>
                  <a:srgbClr val="2C3A78"/>
                </a:solidFill>
                <a:latin typeface="Calibri"/>
                <a:ea typeface="Calibri"/>
                <a:cs typeface="Calibri"/>
                <a:sym typeface="Calibri"/>
              </a:rPr>
              <a:t>(what it makes the reader feel or expect)</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Use 1 vocab word in context  </a:t>
            </a:r>
            <a:r>
              <a:rPr b="0" i="1" lang="en-US" sz="1300" u="none" cap="none" strike="noStrike">
                <a:solidFill>
                  <a:srgbClr val="2C3A78"/>
                </a:solidFill>
                <a:latin typeface="Calibri"/>
                <a:ea typeface="Calibri"/>
                <a:cs typeface="Calibri"/>
                <a:sym typeface="Calibri"/>
              </a:rPr>
              <a:t>(palpable, indolently, tangible, bizarre, quarry)</a:t>
            </a:r>
            <a:endParaRPr b="0" i="0" sz="1300" u="none" cap="none" strike="noStrike">
              <a:solidFill>
                <a:schemeClr val="dk1"/>
              </a:solidFill>
              <a:latin typeface="Calibri"/>
              <a:ea typeface="Calibri"/>
              <a:cs typeface="Calibri"/>
              <a:sym typeface="Calibri"/>
            </a:endParaRPr>
          </a:p>
        </p:txBody>
      </p:sp>
      <p:sp>
        <p:nvSpPr>
          <p:cNvPr id="607" name="Google Shape;607;p22"/>
          <p:cNvSpPr/>
          <p:nvPr/>
        </p:nvSpPr>
        <p:spPr>
          <a:xfrm>
            <a:off x="365760" y="4846320"/>
            <a:ext cx="7680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6D14"/>
              </a:buClr>
              <a:buSzPts val="1200"/>
              <a:buFont typeface="Calibri"/>
              <a:buNone/>
            </a:pPr>
            <a:r>
              <a:rPr b="1" i="1" lang="en-US" sz="1200" u="none" cap="none" strike="noStrike">
                <a:solidFill>
                  <a:srgbClr val="8C6D14"/>
                </a:solidFill>
                <a:latin typeface="Calibri"/>
                <a:ea typeface="Calibri"/>
                <a:cs typeface="Calibri"/>
                <a:sym typeface="Calibri"/>
              </a:rPr>
              <a:t>✎ NOTES — Write on a SEPARATE PAGE. Hand in before you leave the room.</a:t>
            </a:r>
            <a:endParaRPr b="0" i="0" sz="1200" u="none" cap="none" strike="noStrike">
              <a:solidFill>
                <a:schemeClr val="dk1"/>
              </a:solidFill>
              <a:latin typeface="Calibri"/>
              <a:ea typeface="Calibri"/>
              <a:cs typeface="Calibri"/>
              <a:sym typeface="Calibri"/>
            </a:endParaRPr>
          </a:p>
        </p:txBody>
      </p:sp>
      <p:sp>
        <p:nvSpPr>
          <p:cNvPr id="608" name="Google Shape;608;p22"/>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22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23"/>
          <p:cNvSpPr/>
          <p:nvPr/>
        </p:nvSpPr>
        <p:spPr>
          <a:xfrm>
            <a:off x="6766560" y="54864"/>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1000"/>
              <a:buFont typeface="Calibri"/>
              <a:buNone/>
            </a:pPr>
            <a:r>
              <a:rPr b="0" i="0" lang="en-US" sz="1000" u="none" cap="none" strike="noStrike">
                <a:solidFill>
                  <a:srgbClr val="8AA0C9"/>
                </a:solidFill>
                <a:latin typeface="Calibri"/>
                <a:ea typeface="Calibri"/>
                <a:cs typeface="Calibri"/>
                <a:sym typeface="Calibri"/>
              </a:rPr>
              <a:t>ELA.9.R.1.1</a:t>
            </a:r>
            <a:endParaRPr b="0" i="0" sz="1000" u="none" cap="none" strike="noStrike">
              <a:solidFill>
                <a:schemeClr val="dk1"/>
              </a:solidFill>
              <a:latin typeface="Calibri"/>
              <a:ea typeface="Calibri"/>
              <a:cs typeface="Calibri"/>
              <a:sym typeface="Calibri"/>
            </a:endParaRPr>
          </a:p>
        </p:txBody>
      </p:sp>
      <p:sp>
        <p:nvSpPr>
          <p:cNvPr id="615" name="Google Shape;615;p23"/>
          <p:cNvSpPr/>
          <p:nvPr/>
        </p:nvSpPr>
        <p:spPr>
          <a:xfrm>
            <a:off x="365760" y="274320"/>
            <a:ext cx="7040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Arial Black"/>
              <a:buNone/>
            </a:pPr>
            <a:r>
              <a:rPr b="1" i="0" lang="en-US" sz="2600" u="none" cap="none" strike="noStrike">
                <a:solidFill>
                  <a:srgbClr val="1E2761"/>
                </a:solidFill>
                <a:latin typeface="Arial Black"/>
                <a:ea typeface="Arial Black"/>
                <a:cs typeface="Arial Black"/>
                <a:sym typeface="Arial Black"/>
              </a:rPr>
              <a:t>Today, you can now…</a:t>
            </a:r>
            <a:endParaRPr b="0" i="0" sz="2600" u="none" cap="none" strike="noStrike">
              <a:solidFill>
                <a:schemeClr val="dk1"/>
              </a:solidFill>
              <a:latin typeface="Calibri"/>
              <a:ea typeface="Calibri"/>
              <a:cs typeface="Calibri"/>
              <a:sym typeface="Calibri"/>
            </a:endParaRPr>
          </a:p>
        </p:txBody>
      </p:sp>
      <p:sp>
        <p:nvSpPr>
          <p:cNvPr id="616" name="Google Shape;616;p23"/>
          <p:cNvSpPr/>
          <p:nvPr/>
        </p:nvSpPr>
        <p:spPr>
          <a:xfrm>
            <a:off x="7543800" y="274320"/>
            <a:ext cx="1234440" cy="384048"/>
          </a:xfrm>
          <a:prstGeom prst="roundRect">
            <a:avLst>
              <a:gd fmla="val 50000" name="adj"/>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3"/>
          <p:cNvSpPr/>
          <p:nvPr/>
        </p:nvSpPr>
        <p:spPr>
          <a:xfrm>
            <a:off x="7543800" y="274320"/>
            <a:ext cx="12344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2 MIN</a:t>
            </a:r>
            <a:endParaRPr b="0" i="0" sz="1400" u="none" cap="none" strike="noStrike">
              <a:solidFill>
                <a:schemeClr val="dk1"/>
              </a:solidFill>
              <a:latin typeface="Calibri"/>
              <a:ea typeface="Calibri"/>
              <a:cs typeface="Calibri"/>
              <a:sym typeface="Calibri"/>
            </a:endParaRPr>
          </a:p>
        </p:txBody>
      </p:sp>
      <p:sp>
        <p:nvSpPr>
          <p:cNvPr id="618" name="Google Shape;618;p23"/>
          <p:cNvSpPr/>
          <p:nvPr/>
        </p:nvSpPr>
        <p:spPr>
          <a:xfrm>
            <a:off x="457200" y="1536192"/>
            <a:ext cx="274320" cy="27432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3"/>
          <p:cNvSpPr/>
          <p:nvPr/>
        </p:nvSpPr>
        <p:spPr>
          <a:xfrm>
            <a:off x="457200" y="153619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a:t>
            </a:r>
            <a:endParaRPr b="0" i="0" sz="1400" u="none" cap="none" strike="noStrike">
              <a:solidFill>
                <a:schemeClr val="dk1"/>
              </a:solidFill>
              <a:latin typeface="Calibri"/>
              <a:ea typeface="Calibri"/>
              <a:cs typeface="Calibri"/>
              <a:sym typeface="Calibri"/>
            </a:endParaRPr>
          </a:p>
        </p:txBody>
      </p:sp>
      <p:sp>
        <p:nvSpPr>
          <p:cNvPr id="620" name="Google Shape;620;p23"/>
          <p:cNvSpPr/>
          <p:nvPr/>
        </p:nvSpPr>
        <p:spPr>
          <a:xfrm>
            <a:off x="868680" y="141732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0" lang="en-US" sz="1400" u="none" cap="none" strike="noStrike">
                <a:solidFill>
                  <a:srgbClr val="1E2761"/>
                </a:solidFill>
                <a:latin typeface="Calibri"/>
                <a:ea typeface="Calibri"/>
                <a:cs typeface="Calibri"/>
                <a:sym typeface="Calibri"/>
              </a:rPr>
              <a:t>Set up a Cornell page (3 zones, standard code, summary band)</a:t>
            </a:r>
            <a:endParaRPr b="0" i="0" sz="1400" u="none" cap="none" strike="noStrike">
              <a:solidFill>
                <a:schemeClr val="dk1"/>
              </a:solidFill>
              <a:latin typeface="Calibri"/>
              <a:ea typeface="Calibri"/>
              <a:cs typeface="Calibri"/>
              <a:sym typeface="Calibri"/>
            </a:endParaRPr>
          </a:p>
        </p:txBody>
      </p:sp>
      <p:sp>
        <p:nvSpPr>
          <p:cNvPr id="621" name="Google Shape;621;p23"/>
          <p:cNvSpPr/>
          <p:nvPr/>
        </p:nvSpPr>
        <p:spPr>
          <a:xfrm>
            <a:off x="457200" y="2039112"/>
            <a:ext cx="274320" cy="27432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3"/>
          <p:cNvSpPr/>
          <p:nvPr/>
        </p:nvSpPr>
        <p:spPr>
          <a:xfrm>
            <a:off x="457200" y="203911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a:t>
            </a:r>
            <a:endParaRPr b="0" i="0" sz="1400" u="none" cap="none" strike="noStrike">
              <a:solidFill>
                <a:schemeClr val="dk1"/>
              </a:solidFill>
              <a:latin typeface="Calibri"/>
              <a:ea typeface="Calibri"/>
              <a:cs typeface="Calibri"/>
              <a:sym typeface="Calibri"/>
            </a:endParaRPr>
          </a:p>
        </p:txBody>
      </p:sp>
      <p:sp>
        <p:nvSpPr>
          <p:cNvPr id="623" name="Google Shape;623;p23"/>
          <p:cNvSpPr/>
          <p:nvPr/>
        </p:nvSpPr>
        <p:spPr>
          <a:xfrm>
            <a:off x="868680" y="19202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0" lang="en-US" sz="1400" u="none" cap="none" strike="noStrike">
                <a:solidFill>
                  <a:srgbClr val="1E2761"/>
                </a:solidFill>
                <a:latin typeface="Calibri"/>
                <a:ea typeface="Calibri"/>
                <a:cs typeface="Calibri"/>
                <a:sym typeface="Calibri"/>
              </a:rPr>
              <a:t>Identify SETTING and PLOT in a literary text</a:t>
            </a:r>
            <a:endParaRPr b="0" i="0" sz="1400" u="none" cap="none" strike="noStrike">
              <a:solidFill>
                <a:schemeClr val="dk1"/>
              </a:solidFill>
              <a:latin typeface="Calibri"/>
              <a:ea typeface="Calibri"/>
              <a:cs typeface="Calibri"/>
              <a:sym typeface="Calibri"/>
            </a:endParaRPr>
          </a:p>
        </p:txBody>
      </p:sp>
      <p:sp>
        <p:nvSpPr>
          <p:cNvPr id="624" name="Google Shape;624;p23"/>
          <p:cNvSpPr/>
          <p:nvPr/>
        </p:nvSpPr>
        <p:spPr>
          <a:xfrm>
            <a:off x="457200" y="2542032"/>
            <a:ext cx="274320" cy="27432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3"/>
          <p:cNvSpPr/>
          <p:nvPr/>
        </p:nvSpPr>
        <p:spPr>
          <a:xfrm>
            <a:off x="457200" y="254203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a:t>
            </a:r>
            <a:endParaRPr b="0" i="0" sz="1400" u="none" cap="none" strike="noStrike">
              <a:solidFill>
                <a:schemeClr val="dk1"/>
              </a:solidFill>
              <a:latin typeface="Calibri"/>
              <a:ea typeface="Calibri"/>
              <a:cs typeface="Calibri"/>
              <a:sym typeface="Calibri"/>
            </a:endParaRPr>
          </a:p>
        </p:txBody>
      </p:sp>
      <p:sp>
        <p:nvSpPr>
          <p:cNvPr id="626" name="Google Shape;626;p23"/>
          <p:cNvSpPr/>
          <p:nvPr/>
        </p:nvSpPr>
        <p:spPr>
          <a:xfrm>
            <a:off x="868680" y="242316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0" lang="en-US" sz="1400" u="none" cap="none" strike="noStrike">
                <a:solidFill>
                  <a:srgbClr val="1E2761"/>
                </a:solidFill>
                <a:latin typeface="Calibri"/>
                <a:ea typeface="Calibri"/>
                <a:cs typeface="Calibri"/>
                <a:sym typeface="Calibri"/>
              </a:rPr>
              <a:t>Cite direct evidence and explain its effect on the reader</a:t>
            </a:r>
            <a:endParaRPr b="0" i="0" sz="1400" u="none" cap="none" strike="noStrike">
              <a:solidFill>
                <a:schemeClr val="dk1"/>
              </a:solidFill>
              <a:latin typeface="Calibri"/>
              <a:ea typeface="Calibri"/>
              <a:cs typeface="Calibri"/>
              <a:sym typeface="Calibri"/>
            </a:endParaRPr>
          </a:p>
        </p:txBody>
      </p:sp>
      <p:sp>
        <p:nvSpPr>
          <p:cNvPr id="627" name="Google Shape;627;p23"/>
          <p:cNvSpPr/>
          <p:nvPr/>
        </p:nvSpPr>
        <p:spPr>
          <a:xfrm>
            <a:off x="457200" y="3044952"/>
            <a:ext cx="274320" cy="27432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3"/>
          <p:cNvSpPr/>
          <p:nvPr/>
        </p:nvSpPr>
        <p:spPr>
          <a:xfrm>
            <a:off x="457200" y="304495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a:t>
            </a:r>
            <a:endParaRPr b="0" i="0" sz="1400" u="none" cap="none" strike="noStrike">
              <a:solidFill>
                <a:schemeClr val="dk1"/>
              </a:solidFill>
              <a:latin typeface="Calibri"/>
              <a:ea typeface="Calibri"/>
              <a:cs typeface="Calibri"/>
              <a:sym typeface="Calibri"/>
            </a:endParaRPr>
          </a:p>
        </p:txBody>
      </p:sp>
      <p:sp>
        <p:nvSpPr>
          <p:cNvPr id="629" name="Google Shape;629;p23"/>
          <p:cNvSpPr/>
          <p:nvPr/>
        </p:nvSpPr>
        <p:spPr>
          <a:xfrm>
            <a:off x="868680" y="292608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0" lang="en-US" sz="1400" u="none" cap="none" strike="noStrike">
                <a:solidFill>
                  <a:srgbClr val="1E2761"/>
                </a:solidFill>
                <a:latin typeface="Calibri"/>
                <a:ea typeface="Calibri"/>
                <a:cs typeface="Calibri"/>
                <a:sym typeface="Calibri"/>
              </a:rPr>
              <a:t>Use 5 new TMDG vocab words: palpable, indolently, tangible, bizarre, quarry</a:t>
            </a:r>
            <a:endParaRPr b="0" i="0" sz="1400" u="none" cap="none" strike="noStrike">
              <a:solidFill>
                <a:schemeClr val="dk1"/>
              </a:solidFill>
              <a:latin typeface="Calibri"/>
              <a:ea typeface="Calibri"/>
              <a:cs typeface="Calibri"/>
              <a:sym typeface="Calibri"/>
            </a:endParaRPr>
          </a:p>
        </p:txBody>
      </p:sp>
      <p:sp>
        <p:nvSpPr>
          <p:cNvPr id="630" name="Google Shape;630;p23"/>
          <p:cNvSpPr/>
          <p:nvPr/>
        </p:nvSpPr>
        <p:spPr>
          <a:xfrm>
            <a:off x="457200" y="3547872"/>
            <a:ext cx="274320" cy="274320"/>
          </a:xfrm>
          <a:prstGeom prst="ellipse">
            <a:avLst/>
          </a:prstGeom>
          <a:solidFill>
            <a:srgbClr val="F2C14E"/>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3"/>
          <p:cNvSpPr/>
          <p:nvPr/>
        </p:nvSpPr>
        <p:spPr>
          <a:xfrm>
            <a:off x="457200" y="354787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Arial Black"/>
              <a:buNone/>
            </a:pPr>
            <a:r>
              <a:rPr b="1" i="0" lang="en-US" sz="1400" u="none" cap="none" strike="noStrike">
                <a:solidFill>
                  <a:srgbClr val="1E2761"/>
                </a:solidFill>
                <a:latin typeface="Arial Black"/>
                <a:ea typeface="Arial Black"/>
                <a:cs typeface="Arial Black"/>
                <a:sym typeface="Arial Black"/>
              </a:rPr>
              <a:t>✓</a:t>
            </a:r>
            <a:endParaRPr b="0" i="0" sz="1400" u="none" cap="none" strike="noStrike">
              <a:solidFill>
                <a:schemeClr val="dk1"/>
              </a:solidFill>
              <a:latin typeface="Calibri"/>
              <a:ea typeface="Calibri"/>
              <a:cs typeface="Calibri"/>
              <a:sym typeface="Calibri"/>
            </a:endParaRPr>
          </a:p>
        </p:txBody>
      </p:sp>
      <p:sp>
        <p:nvSpPr>
          <p:cNvPr id="632" name="Google Shape;632;p23"/>
          <p:cNvSpPr/>
          <p:nvPr/>
        </p:nvSpPr>
        <p:spPr>
          <a:xfrm>
            <a:off x="868680" y="342900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0" lang="en-US" sz="1400" u="none" cap="none" strike="noStrike">
                <a:solidFill>
                  <a:srgbClr val="1E2761"/>
                </a:solidFill>
                <a:latin typeface="Calibri"/>
                <a:ea typeface="Calibri"/>
                <a:cs typeface="Calibri"/>
                <a:sym typeface="Calibri"/>
              </a:rPr>
              <a:t>Write cue questions that match your notes</a:t>
            </a:r>
            <a:endParaRPr b="0" i="0" sz="1400" u="none" cap="none" strike="noStrike">
              <a:solidFill>
                <a:schemeClr val="dk1"/>
              </a:solidFill>
              <a:latin typeface="Calibri"/>
              <a:ea typeface="Calibri"/>
              <a:cs typeface="Calibri"/>
              <a:sym typeface="Calibri"/>
            </a:endParaRPr>
          </a:p>
        </p:txBody>
      </p:sp>
      <p:sp>
        <p:nvSpPr>
          <p:cNvPr id="633" name="Google Shape;633;p23"/>
          <p:cNvSpPr/>
          <p:nvPr/>
        </p:nvSpPr>
        <p:spPr>
          <a:xfrm>
            <a:off x="365760" y="4160520"/>
            <a:ext cx="8412480" cy="59436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3"/>
          <p:cNvSpPr/>
          <p:nvPr/>
        </p:nvSpPr>
        <p:spPr>
          <a:xfrm>
            <a:off x="502920" y="4160520"/>
            <a:ext cx="81381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400"/>
              <a:buFont typeface="Calibri"/>
              <a:buNone/>
            </a:pPr>
            <a:r>
              <a:rPr b="1" i="0" lang="en-US" sz="1400" u="none" cap="none" strike="noStrike">
                <a:solidFill>
                  <a:srgbClr val="F2C14E"/>
                </a:solidFill>
                <a:latin typeface="Calibri"/>
                <a:ea typeface="Calibri"/>
                <a:cs typeface="Calibri"/>
                <a:sym typeface="Calibri"/>
              </a:rPr>
              <a:t>TOMORROW (Lesson 2 of 5):  </a:t>
            </a:r>
            <a:r>
              <a:rPr b="0" i="0" lang="en-US" sz="1400" u="none" cap="none" strike="noStrike">
                <a:solidFill>
                  <a:srgbClr val="FFFFFF"/>
                </a:solidFill>
                <a:latin typeface="Calibri"/>
                <a:ea typeface="Calibri"/>
                <a:cs typeface="Calibri"/>
                <a:sym typeface="Calibri"/>
              </a:rPr>
              <a:t>Characterization &amp; Conflict in TMDG.</a:t>
            </a:r>
            <a:endParaRPr b="0" i="0" sz="1400" u="none" cap="none" strike="noStrike">
              <a:solidFill>
                <a:schemeClr val="dk1"/>
              </a:solidFill>
              <a:latin typeface="Calibri"/>
              <a:ea typeface="Calibri"/>
              <a:cs typeface="Calibri"/>
              <a:sym typeface="Calibri"/>
            </a:endParaRPr>
          </a:p>
        </p:txBody>
      </p:sp>
      <p:sp>
        <p:nvSpPr>
          <p:cNvPr id="635" name="Google Shape;635;p23"/>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A0C9"/>
              </a:buClr>
              <a:buSzPts val="900"/>
              <a:buFont typeface="Calibri"/>
              <a:buNone/>
            </a:pPr>
            <a:r>
              <a:rPr b="0" i="0" lang="en-US" sz="900" u="none" cap="none" strike="noStrike">
                <a:solidFill>
                  <a:srgbClr val="8AA0C9"/>
                </a:solidFill>
                <a:latin typeface="Calibri"/>
                <a:ea typeface="Calibri"/>
                <a:cs typeface="Calibri"/>
                <a:sym typeface="Calibri"/>
              </a:rPr>
              <a:t>23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640" name="Shape 640"/>
        <p:cNvGrpSpPr/>
        <p:nvPr/>
      </p:nvGrpSpPr>
      <p:grpSpPr>
        <a:xfrm>
          <a:off x="0" y="0"/>
          <a:ext cx="0" cy="0"/>
          <a:chOff x="0" y="0"/>
          <a:chExt cx="0" cy="0"/>
        </a:xfrm>
      </p:grpSpPr>
      <p:sp>
        <p:nvSpPr>
          <p:cNvPr id="641" name="Google Shape;641;p24"/>
          <p:cNvSpPr/>
          <p:nvPr/>
        </p:nvSpPr>
        <p:spPr>
          <a:xfrm>
            <a:off x="457200" y="1280160"/>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0"/>
              <a:buFont typeface="Arial Black"/>
              <a:buNone/>
            </a:pPr>
            <a:r>
              <a:rPr b="1" i="0" lang="en-US" sz="6000" u="none" cap="none" strike="noStrike">
                <a:solidFill>
                  <a:srgbClr val="FFFFFF"/>
                </a:solidFill>
                <a:latin typeface="Arial Black"/>
                <a:ea typeface="Arial Black"/>
                <a:cs typeface="Arial Black"/>
                <a:sym typeface="Arial Black"/>
              </a:rPr>
              <a:t>Journals down.</a:t>
            </a:r>
            <a:endParaRPr b="0" i="0" sz="6000" u="none" cap="none" strike="noStrike">
              <a:solidFill>
                <a:schemeClr val="dk1"/>
              </a:solidFill>
              <a:latin typeface="Calibri"/>
              <a:ea typeface="Calibri"/>
              <a:cs typeface="Calibri"/>
              <a:sym typeface="Calibri"/>
            </a:endParaRPr>
          </a:p>
        </p:txBody>
      </p:sp>
      <p:sp>
        <p:nvSpPr>
          <p:cNvPr id="642" name="Google Shape;642;p24"/>
          <p:cNvSpPr/>
          <p:nvPr/>
        </p:nvSpPr>
        <p:spPr>
          <a:xfrm>
            <a:off x="457200" y="2194560"/>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C14E"/>
              </a:buClr>
              <a:buSzPts val="6000"/>
              <a:buFont typeface="Arial Black"/>
              <a:buNone/>
            </a:pPr>
            <a:r>
              <a:rPr b="1" i="0" lang="en-US" sz="6000" u="none" cap="none" strike="noStrike">
                <a:solidFill>
                  <a:srgbClr val="F2C14E"/>
                </a:solidFill>
                <a:latin typeface="Arial Black"/>
                <a:ea typeface="Arial Black"/>
                <a:cs typeface="Arial Black"/>
                <a:sym typeface="Arial Black"/>
              </a:rPr>
              <a:t>Pens down.</a:t>
            </a:r>
            <a:endParaRPr b="0" i="0" sz="6000" u="none" cap="none" strike="noStrike">
              <a:solidFill>
                <a:schemeClr val="dk1"/>
              </a:solidFill>
              <a:latin typeface="Calibri"/>
              <a:ea typeface="Calibri"/>
              <a:cs typeface="Calibri"/>
              <a:sym typeface="Calibri"/>
            </a:endParaRPr>
          </a:p>
        </p:txBody>
      </p:sp>
      <p:cxnSp>
        <p:nvCxnSpPr>
          <p:cNvPr id="643" name="Google Shape;643;p24"/>
          <p:cNvCxnSpPr/>
          <p:nvPr/>
        </p:nvCxnSpPr>
        <p:spPr>
          <a:xfrm>
            <a:off x="2286000" y="3520440"/>
            <a:ext cx="4572000" cy="0"/>
          </a:xfrm>
          <a:prstGeom prst="straightConnector1">
            <a:avLst/>
          </a:prstGeom>
          <a:noFill/>
          <a:ln cap="flat" cmpd="sng" w="12700">
            <a:solidFill>
              <a:srgbClr val="F2C14E"/>
            </a:solidFill>
            <a:prstDash val="solid"/>
            <a:round/>
            <a:headEnd len="sm" w="sm" type="none"/>
            <a:tailEnd len="sm" w="sm" type="none"/>
          </a:ln>
        </p:spPr>
      </p:cxnSp>
      <p:sp>
        <p:nvSpPr>
          <p:cNvPr id="644" name="Google Shape;644;p24"/>
          <p:cNvSpPr/>
          <p:nvPr/>
        </p:nvSpPr>
        <p:spPr>
          <a:xfrm>
            <a:off x="457200" y="365760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800"/>
              <a:buFont typeface="Georgia"/>
              <a:buNone/>
            </a:pPr>
            <a:r>
              <a:rPr b="0" i="1" lang="en-US" sz="1800" u="none" cap="none" strike="noStrike">
                <a:solidFill>
                  <a:srgbClr val="CADCFC"/>
                </a:solidFill>
                <a:latin typeface="Georgia"/>
                <a:ea typeface="Georgia"/>
                <a:cs typeface="Georgia"/>
                <a:sym typeface="Georgia"/>
              </a:rPr>
              <a:t>Journal check on Friday.</a:t>
            </a:r>
            <a:endParaRPr b="0" i="0" sz="1800" u="none" cap="none" strike="noStrike">
              <a:solidFill>
                <a:schemeClr val="dk1"/>
              </a:solidFill>
              <a:latin typeface="Calibri"/>
              <a:ea typeface="Calibri"/>
              <a:cs typeface="Calibri"/>
              <a:sym typeface="Calibri"/>
            </a:endParaRPr>
          </a:p>
        </p:txBody>
      </p:sp>
      <p:sp>
        <p:nvSpPr>
          <p:cNvPr id="645" name="Google Shape;645;p24"/>
          <p:cNvSpPr/>
          <p:nvPr/>
        </p:nvSpPr>
        <p:spPr>
          <a:xfrm>
            <a:off x="457200" y="411480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Tomorrow: Lesson 2 — Characterization &amp; Conflict in TMDG.</a:t>
            </a:r>
            <a:endParaRPr b="0" i="0" sz="1400" u="none" cap="none" strike="noStrike">
              <a:solidFill>
                <a:schemeClr val="dk1"/>
              </a:solidFill>
              <a:latin typeface="Calibri"/>
              <a:ea typeface="Calibri"/>
              <a:cs typeface="Calibri"/>
              <a:sym typeface="Calibri"/>
            </a:endParaRPr>
          </a:p>
        </p:txBody>
      </p:sp>
      <p:sp>
        <p:nvSpPr>
          <p:cNvPr id="646" name="Google Shape;646;p24"/>
          <p:cNvSpPr/>
          <p:nvPr/>
        </p:nvSpPr>
        <p:spPr>
          <a:xfrm>
            <a:off x="8229600" y="4846320"/>
            <a:ext cx="777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24 / 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2026-04-29T17:41:18Z</dcterms:created>
  <dc:creator>Carlos</dc:creator>
</cp:coreProperties>
</file>